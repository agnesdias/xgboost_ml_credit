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2" r:id="rId2"/>
    <p:sldId id="287" r:id="rId3"/>
    <p:sldId id="353" r:id="rId4"/>
    <p:sldId id="354" r:id="rId5"/>
    <p:sldId id="355" r:id="rId6"/>
    <p:sldId id="356" r:id="rId7"/>
    <p:sldId id="352" r:id="rId8"/>
    <p:sldId id="308" r:id="rId9"/>
    <p:sldId id="358" r:id="rId10"/>
    <p:sldId id="357" r:id="rId11"/>
    <p:sldId id="348" r:id="rId12"/>
    <p:sldId id="347" r:id="rId13"/>
    <p:sldId id="351" r:id="rId14"/>
    <p:sldId id="325" r:id="rId15"/>
    <p:sldId id="349" r:id="rId16"/>
    <p:sldId id="350" r:id="rId17"/>
    <p:sldId id="346" r:id="rId18"/>
    <p:sldId id="321" r:id="rId19"/>
    <p:sldId id="323" r:id="rId20"/>
    <p:sldId id="345" r:id="rId21"/>
    <p:sldId id="341" r:id="rId22"/>
    <p:sldId id="322" r:id="rId23"/>
    <p:sldId id="302" r:id="rId24"/>
    <p:sldId id="324" r:id="rId25"/>
    <p:sldId id="342" r:id="rId26"/>
    <p:sldId id="343" r:id="rId27"/>
    <p:sldId id="304" r:id="rId28"/>
    <p:sldId id="340" r:id="rId29"/>
    <p:sldId id="329" r:id="rId30"/>
    <p:sldId id="320" r:id="rId31"/>
    <p:sldId id="344" r:id="rId3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7" autoAdjust="0"/>
    <p:restoredTop sz="94660"/>
  </p:normalViewPr>
  <p:slideViewPr>
    <p:cSldViewPr snapToGrid="0">
      <p:cViewPr varScale="1">
        <p:scale>
          <a:sx n="81" d="100"/>
          <a:sy n="81" d="100"/>
        </p:scale>
        <p:origin x="5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298723-4EF5-4AEB-A440-07AA5C1EF9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D4FCA82-6005-43AF-AF27-1FA82A2D62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C5B7D1-329C-43C8-9E6D-7672ACCE9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FEE0D-2532-4963-BC78-CF4034667535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5D7C622-39D1-4111-B8B2-ADC2FE71A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54924A4-60E8-4D9F-865B-25FDB919A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FF023-249E-4646-8F0B-EE7BE06061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1100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FAF08C-8A3B-4AC8-83E6-259B1DC8B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91748F-889C-4E02-8132-991E989CCA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550182-2927-4935-B7EF-542A9DB0A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FEE0D-2532-4963-BC78-CF4034667535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E466153-0BBA-4E7C-A504-CE2CFE2DD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44FA4A5-3F2E-47A7-83AF-B212198F8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FF023-249E-4646-8F0B-EE7BE06061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5540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FC3472-00D7-4935-B845-797BDFCAD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BCD3B40-34BA-4B7C-BFC4-00D71E122E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F65516C-497A-40DD-8DB5-523DC8AEE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FEE0D-2532-4963-BC78-CF4034667535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F51A69-0573-4FD4-802D-0B22235B7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19D1F79-C723-4BFE-ACAA-6C63E2799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FF023-249E-4646-8F0B-EE7BE06061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25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1CCC8F-4114-4F0D-A52B-C1B1B4782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69A2764-8E2F-4241-9549-A26CCE16ED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A7F088E-EEE7-42E5-AB0C-D59F94C671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47FB0FD-5DBC-4708-AD59-D573D25D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FEE0D-2532-4963-BC78-CF4034667535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D41D1A2-4150-4856-87AA-D05C435BE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DEA5BF9-73B4-465C-B341-6C1A0A0B9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FF023-249E-4646-8F0B-EE7BE06061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9804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40C7F3-848A-4E11-AC0E-732C47820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AD23C27-F190-4266-A93E-BFF4045B1F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7D57FCA-4DB2-4E7C-9A3E-672B52C1F0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9E4E4F1-F8B0-4790-9ABF-C6E4A56D22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6C512B0-53DC-491F-BF2C-F867E28759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15416CD-E91E-4659-9064-A92744DE7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FEE0D-2532-4963-BC78-CF4034667535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47EAFE6-7032-400A-A2A9-FF4B9D2EE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8A4BE33-6164-419A-B992-99334212D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FF023-249E-4646-8F0B-EE7BE06061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426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E96114-4472-432B-B97D-56907973B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FA71E7F-47AE-46FC-94CD-1E287C7C3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FEE0D-2532-4963-BC78-CF4034667535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AB50D2F-4F84-45F6-AB72-CB523D262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0DE436F-5E6C-459B-92ED-CB891C2DF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FF023-249E-4646-8F0B-EE7BE06061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4925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A89EFBB-1821-4656-857D-C79AF790C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FEE0D-2532-4963-BC78-CF4034667535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DC71A7B-62FA-4CBA-9C5D-8B44A1306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C621B2D-0BDF-4275-8EB5-AE1E19CC0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FF023-249E-4646-8F0B-EE7BE06061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1991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3371F5-1463-40A6-9FFC-9C9CCE948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E6337E0-D93D-4C81-BE62-3B7A779F21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A6F7AD2-090C-4ECF-9A44-FDE70D1EF6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1F669DD-4C7A-4FEF-AC10-F088BF8B2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FEE0D-2532-4963-BC78-CF4034667535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F4E8CEF-0922-45C0-A287-B94E1C6D6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FC74C35-74CE-4B69-ACFE-425A99828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FF023-249E-4646-8F0B-EE7BE06061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3663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03F663-9130-443F-A301-DFE8931B4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F2CE199-A267-4E6E-A346-8EB2A36354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1D3C715-E447-4F42-9058-ECC291867F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41CA559-B5EE-4D31-95C4-AE1E41227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FEE0D-2532-4963-BC78-CF4034667535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81EE192-F14E-41B2-899D-83C3091FF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5B5D8F9-5494-42B7-AEE2-9F3F187A0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FF023-249E-4646-8F0B-EE7BE06061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193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8E0D30-CFD7-486F-875F-6B074D878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6CDB1B5-E1C2-402A-98B3-7DBCAD9138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E330147-9949-43B6-8734-E7DB8852C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FEE0D-2532-4963-BC78-CF4034667535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1D0FB3-5E70-4A96-AD95-1B1AC1B02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91A706B-4A4E-494D-9A30-35EB2250A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FF023-249E-4646-8F0B-EE7BE06061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0720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3FB2E67-69C2-43A2-9C3A-6D47FC7C86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F493D57-AF88-4988-B35C-0BDEBE656D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8186A77-251F-4B49-8CE3-700018A91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FEE0D-2532-4963-BC78-CF4034667535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7320C8C-0B05-4ACA-A9B3-264701DCD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E39037E-DF9D-4FA2-B2F8-3B942DA32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FF023-249E-4646-8F0B-EE7BE06061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2831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930CF65-36CB-414D-9D0A-1B311A1E8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80C1762-37C8-4144-BBEE-046FE6BD8F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E30DA-7906-43F2-98F6-A266286B5E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3FEE0D-2532-4963-BC78-CF4034667535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A3ABD7B-E310-4E05-A94F-B734C47100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5964FB-40DC-47E3-B73D-20D4CCC6A6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9FF023-249E-4646-8F0B-EE7BE06061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6225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C92FF5F3-69BE-4874-A7C9-3907BD6950BC}"/>
              </a:ext>
            </a:extLst>
          </p:cNvPr>
          <p:cNvSpPr/>
          <p:nvPr/>
        </p:nvSpPr>
        <p:spPr>
          <a:xfrm>
            <a:off x="7672" y="0"/>
            <a:ext cx="6096786" cy="6858000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3600" b="1" i="0" dirty="0">
              <a:solidFill>
                <a:srgbClr val="FFFFFF"/>
              </a:solidFill>
              <a:effectLst/>
              <a:latin typeface="ui-sans-serif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DC12382E-CCD3-48AD-A16D-0B6DB3BAD291}"/>
              </a:ext>
            </a:extLst>
          </p:cNvPr>
          <p:cNvSpPr txBox="1"/>
          <p:nvPr/>
        </p:nvSpPr>
        <p:spPr>
          <a:xfrm>
            <a:off x="291638" y="1607277"/>
            <a:ext cx="47593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Behavior</a:t>
            </a:r>
            <a:r>
              <a:rPr lang="pt-BR" sz="36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Risk Model</a:t>
            </a:r>
          </a:p>
        </p:txBody>
      </p: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04115E41-2796-43BF-AE3D-6DBB58F4E4C7}"/>
              </a:ext>
            </a:extLst>
          </p:cNvPr>
          <p:cNvGrpSpPr/>
          <p:nvPr/>
        </p:nvGrpSpPr>
        <p:grpSpPr>
          <a:xfrm>
            <a:off x="291638" y="2639725"/>
            <a:ext cx="4592451" cy="975530"/>
            <a:chOff x="284349" y="3792039"/>
            <a:chExt cx="4592451" cy="975530"/>
          </a:xfrm>
        </p:grpSpPr>
        <p:sp>
          <p:nvSpPr>
            <p:cNvPr id="2" name="CaixaDeTexto 1">
              <a:extLst>
                <a:ext uri="{FF2B5EF4-FFF2-40B4-BE49-F238E27FC236}">
                  <a16:creationId xmlns:a16="http://schemas.microsoft.com/office/drawing/2014/main" id="{89307289-4A8A-47F9-824C-C1FCFB380550}"/>
                </a:ext>
              </a:extLst>
            </p:cNvPr>
            <p:cNvSpPr txBox="1"/>
            <p:nvPr/>
          </p:nvSpPr>
          <p:spPr>
            <a:xfrm>
              <a:off x="284349" y="3792039"/>
              <a:ext cx="295676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 err="1">
                  <a:solidFill>
                    <a:schemeClr val="bg1"/>
                  </a:solidFill>
                  <a:latin typeface="Franklin Gothic Medium Cond" panose="020B060603040202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Machine</a:t>
              </a:r>
              <a:r>
                <a:rPr lang="pt-BR" sz="2800" dirty="0">
                  <a:solidFill>
                    <a:schemeClr val="bg1"/>
                  </a:solidFill>
                  <a:latin typeface="Franklin Gothic Medium Cond" panose="020B060603040202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 Learning  </a:t>
              </a:r>
            </a:p>
          </p:txBody>
        </p:sp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FDB02E0D-F593-42F9-9FB3-8E04E6ACB501}"/>
                </a:ext>
              </a:extLst>
            </p:cNvPr>
            <p:cNvSpPr txBox="1"/>
            <p:nvPr/>
          </p:nvSpPr>
          <p:spPr>
            <a:xfrm>
              <a:off x="284349" y="4244349"/>
              <a:ext cx="459245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2800" dirty="0" err="1">
                  <a:solidFill>
                    <a:schemeClr val="bg1"/>
                  </a:solidFill>
                  <a:latin typeface="Franklin Gothic Medium Cond" panose="020B060603040202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Feature</a:t>
              </a:r>
              <a:r>
                <a:rPr lang="pt-BR" sz="2800" dirty="0">
                  <a:solidFill>
                    <a:schemeClr val="bg1"/>
                  </a:solidFill>
                  <a:latin typeface="Franklin Gothic Medium Cond" panose="020B060603040202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 </a:t>
              </a:r>
              <a:r>
                <a:rPr lang="pt-BR" sz="2800" dirty="0" err="1">
                  <a:solidFill>
                    <a:schemeClr val="bg1"/>
                  </a:solidFill>
                  <a:latin typeface="Franklin Gothic Medium Cond" panose="020B060603040202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Engineering</a:t>
              </a:r>
              <a:endPara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52479155-D357-468B-A92A-A19D3A4F7D61}"/>
              </a:ext>
            </a:extLst>
          </p:cNvPr>
          <p:cNvGrpSpPr/>
          <p:nvPr/>
        </p:nvGrpSpPr>
        <p:grpSpPr>
          <a:xfrm>
            <a:off x="1551729" y="5595394"/>
            <a:ext cx="3048000" cy="1155697"/>
            <a:chOff x="2792362" y="5049307"/>
            <a:chExt cx="3048000" cy="1155697"/>
          </a:xfrm>
        </p:grpSpPr>
        <p:pic>
          <p:nvPicPr>
            <p:cNvPr id="8" name="Imagem 7">
              <a:extLst>
                <a:ext uri="{FF2B5EF4-FFF2-40B4-BE49-F238E27FC236}">
                  <a16:creationId xmlns:a16="http://schemas.microsoft.com/office/drawing/2014/main" id="{6101A53B-008C-426B-AFD0-31FEAF23ECA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379" t="34265" r="11291" b="37922"/>
            <a:stretch/>
          </p:blipFill>
          <p:spPr>
            <a:xfrm>
              <a:off x="3188020" y="5604360"/>
              <a:ext cx="2569766" cy="600644"/>
            </a:xfrm>
            <a:prstGeom prst="rect">
              <a:avLst/>
            </a:prstGeom>
          </p:spPr>
        </p:pic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CB6D4C19-5B9D-4062-B19A-39442DCC2EB5}"/>
                </a:ext>
              </a:extLst>
            </p:cNvPr>
            <p:cNvSpPr txBox="1"/>
            <p:nvPr/>
          </p:nvSpPr>
          <p:spPr>
            <a:xfrm>
              <a:off x="3407578" y="5049307"/>
              <a:ext cx="213064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1400" dirty="0">
                  <a:solidFill>
                    <a:schemeClr val="bg1"/>
                  </a:solidFill>
                  <a:latin typeface="Franklin Gothic Medium Cond" panose="020B060603040202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Default of Credit Card Clients</a:t>
              </a:r>
            </a:p>
          </p:txBody>
        </p:sp>
        <p:cxnSp>
          <p:nvCxnSpPr>
            <p:cNvPr id="25" name="Conector reto 24">
              <a:extLst>
                <a:ext uri="{FF2B5EF4-FFF2-40B4-BE49-F238E27FC236}">
                  <a16:creationId xmlns:a16="http://schemas.microsoft.com/office/drawing/2014/main" id="{62412B6F-CE5D-475F-B917-087122E7D9CF}"/>
                </a:ext>
              </a:extLst>
            </p:cNvPr>
            <p:cNvCxnSpPr>
              <a:cxnSpLocks/>
            </p:cNvCxnSpPr>
            <p:nvPr/>
          </p:nvCxnSpPr>
          <p:spPr>
            <a:xfrm>
              <a:off x="2792362" y="5392353"/>
              <a:ext cx="3048000" cy="0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1DCC74A2-EFFB-492D-A6B4-F06E0DB8652C}"/>
              </a:ext>
            </a:extLst>
          </p:cNvPr>
          <p:cNvCxnSpPr>
            <a:cxnSpLocks/>
          </p:cNvCxnSpPr>
          <p:nvPr/>
        </p:nvCxnSpPr>
        <p:spPr>
          <a:xfrm>
            <a:off x="321910" y="2442411"/>
            <a:ext cx="4446735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5324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C92FF5F3-69BE-4874-A7C9-3907BD6950BC}"/>
              </a:ext>
            </a:extLst>
          </p:cNvPr>
          <p:cNvSpPr/>
          <p:nvPr/>
        </p:nvSpPr>
        <p:spPr>
          <a:xfrm>
            <a:off x="-786" y="-19729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101A53B-008C-426B-AFD0-31FEAF23EC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9307289-4A8A-47F9-824C-C1FCFB380550}"/>
              </a:ext>
            </a:extLst>
          </p:cNvPr>
          <p:cNvSpPr txBox="1"/>
          <p:nvPr/>
        </p:nvSpPr>
        <p:spPr>
          <a:xfrm>
            <a:off x="301253" y="223999"/>
            <a:ext cx="8406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Feature</a:t>
            </a:r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pt-BR" sz="28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Engineering</a:t>
            </a:r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|Variáveis de Identificação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3900736-6B87-46BC-87CE-9256728FDF00}"/>
              </a:ext>
            </a:extLst>
          </p:cNvPr>
          <p:cNvSpPr txBox="1"/>
          <p:nvPr/>
        </p:nvSpPr>
        <p:spPr>
          <a:xfrm>
            <a:off x="301252" y="1423849"/>
            <a:ext cx="46006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8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Identificador (chave)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FE298B0-64DE-4EE3-9045-CF9A786D815B}"/>
              </a:ext>
            </a:extLst>
          </p:cNvPr>
          <p:cNvSpPr txBox="1"/>
          <p:nvPr/>
        </p:nvSpPr>
        <p:spPr>
          <a:xfrm>
            <a:off x="301253" y="1995276"/>
            <a:ext cx="1138813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latin typeface="Arial Narrow" panose="020B0606020202030204" pitchFamily="34" charset="0"/>
              </a:rPr>
              <a:t>ID</a:t>
            </a:r>
          </a:p>
          <a:p>
            <a:endParaRPr lang="pt-BR" sz="1800" dirty="0">
              <a:effectLst/>
              <a:latin typeface="Arial Narrow" panose="020B0606020202030204" pitchFamily="34" charset="0"/>
            </a:endParaRPr>
          </a:p>
          <a:p>
            <a:r>
              <a:rPr lang="pt-BR" sz="1800" b="1" dirty="0">
                <a:effectLst/>
                <a:latin typeface="Arial Narrow" panose="020B0606020202030204" pitchFamily="34" charset="0"/>
              </a:rPr>
              <a:t>Definição:</a:t>
            </a:r>
            <a:r>
              <a:rPr lang="pt-BR" b="1" dirty="0">
                <a:latin typeface="Arial Narrow" panose="020B0606020202030204" pitchFamily="34" charset="0"/>
              </a:rPr>
              <a:t> </a:t>
            </a:r>
            <a:r>
              <a:rPr lang="pt-BR" dirty="0">
                <a:latin typeface="Arial Narrow" panose="020B0606020202030204" pitchFamily="34" charset="0"/>
              </a:rPr>
              <a:t>Identificador único atribuído a cada cliente da base de dados.</a:t>
            </a:r>
            <a:endParaRPr lang="pt-BR" sz="1800" dirty="0">
              <a:effectLst/>
              <a:latin typeface="Arial Narrow" panose="020B0606020202030204" pitchFamily="34" charset="0"/>
            </a:endParaRPr>
          </a:p>
          <a:p>
            <a:endParaRPr lang="pt-BR" sz="1800" dirty="0">
              <a:effectLst/>
              <a:latin typeface="Arial Narrow" panose="020B0606020202030204" pitchFamily="34" charset="0"/>
            </a:endParaRPr>
          </a:p>
          <a:p>
            <a:r>
              <a:rPr lang="pt-BR" sz="1800" b="1" dirty="0">
                <a:effectLst/>
                <a:latin typeface="Arial Narrow" panose="020B0606020202030204" pitchFamily="34" charset="0"/>
              </a:rPr>
              <a:t>Objetivo: </a:t>
            </a:r>
            <a:r>
              <a:rPr lang="pt-BR" sz="1800" dirty="0">
                <a:effectLst/>
                <a:latin typeface="Arial Narrow" panose="020B0606020202030204" pitchFamily="34" charset="0"/>
              </a:rPr>
              <a:t>Permitir a identificação e rastreabilidade dos registros durante as etapas de análise e processamento dos dados.</a:t>
            </a:r>
          </a:p>
          <a:p>
            <a:endParaRPr lang="pt-BR" sz="1800" dirty="0">
              <a:effectLst/>
              <a:latin typeface="Arial Narrow" panose="020B0606020202030204" pitchFamily="34" charset="0"/>
            </a:endParaRPr>
          </a:p>
          <a:p>
            <a:r>
              <a:rPr lang="pt-BR" sz="1800" b="1" dirty="0">
                <a:effectLst/>
                <a:latin typeface="Arial Narrow" panose="020B0606020202030204" pitchFamily="34" charset="0"/>
              </a:rPr>
              <a:t>Interpretação:</a:t>
            </a:r>
            <a:br>
              <a:rPr lang="pt-BR" sz="1800" dirty="0">
                <a:effectLst/>
                <a:latin typeface="Arial Narrow" panose="020B0606020202030204" pitchFamily="34" charset="0"/>
              </a:rPr>
            </a:br>
            <a:r>
              <a:rPr lang="pt-BR" sz="1800" dirty="0">
                <a:effectLst/>
                <a:latin typeface="Arial Narrow" panose="020B0606020202030204" pitchFamily="34" charset="0"/>
              </a:rPr>
              <a:t>Não possui significado comportamental ou financeiro. </a:t>
            </a:r>
          </a:p>
          <a:p>
            <a:r>
              <a:rPr lang="pt-BR" sz="1800" dirty="0">
                <a:effectLst/>
                <a:latin typeface="Arial Narrow" panose="020B0606020202030204" pitchFamily="34" charset="0"/>
              </a:rPr>
              <a:t>É utilizado apenas como chave de identificação e normalmente não deve ser utilizado como variável preditora no modelo.</a:t>
            </a:r>
          </a:p>
          <a:p>
            <a:endParaRPr lang="pt-BR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9202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C92FF5F3-69BE-4874-A7C9-3907BD6950BC}"/>
              </a:ext>
            </a:extLst>
          </p:cNvPr>
          <p:cNvSpPr/>
          <p:nvPr/>
        </p:nvSpPr>
        <p:spPr>
          <a:xfrm>
            <a:off x="-786" y="-19729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101A53B-008C-426B-AFD0-31FEAF23EC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9307289-4A8A-47F9-824C-C1FCFB380550}"/>
              </a:ext>
            </a:extLst>
          </p:cNvPr>
          <p:cNvSpPr txBox="1"/>
          <p:nvPr/>
        </p:nvSpPr>
        <p:spPr>
          <a:xfrm>
            <a:off x="301253" y="223999"/>
            <a:ext cx="8406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Feature</a:t>
            </a:r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pt-BR" sz="28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Engineering</a:t>
            </a:r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|Variáveis Financeiras Originais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3900736-6B87-46BC-87CE-9256728FDF00}"/>
              </a:ext>
            </a:extLst>
          </p:cNvPr>
          <p:cNvSpPr txBox="1"/>
          <p:nvPr/>
        </p:nvSpPr>
        <p:spPr>
          <a:xfrm>
            <a:off x="301252" y="1423849"/>
            <a:ext cx="62126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8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Numérica Contínua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FE298B0-64DE-4EE3-9045-CF9A786D815B}"/>
              </a:ext>
            </a:extLst>
          </p:cNvPr>
          <p:cNvSpPr txBox="1"/>
          <p:nvPr/>
        </p:nvSpPr>
        <p:spPr>
          <a:xfrm>
            <a:off x="401149" y="2253393"/>
            <a:ext cx="1138813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latin typeface="Arial Narrow" panose="020B0606020202030204" pitchFamily="34" charset="0"/>
              </a:rPr>
              <a:t>LIMIT_BAL</a:t>
            </a:r>
          </a:p>
          <a:p>
            <a:endParaRPr lang="pt-BR" b="1" dirty="0">
              <a:highlight>
                <a:srgbClr val="FF0000"/>
              </a:highlight>
              <a:latin typeface="Arial Narrow" panose="020B0606020202030204" pitchFamily="34" charset="0"/>
            </a:endParaRPr>
          </a:p>
          <a:p>
            <a:r>
              <a:rPr lang="pt-BR" b="1" dirty="0">
                <a:latin typeface="Arial Narrow" panose="020B0606020202030204" pitchFamily="34" charset="0"/>
              </a:rPr>
              <a:t>Definição: </a:t>
            </a:r>
            <a:r>
              <a:rPr lang="pt-BR" dirty="0">
                <a:latin typeface="Arial Narrow" panose="020B0606020202030204" pitchFamily="34" charset="0"/>
              </a:rPr>
              <a:t>Limite total de crédito concedido ao cliente.</a:t>
            </a:r>
          </a:p>
          <a:p>
            <a:endParaRPr lang="pt-BR" dirty="0">
              <a:latin typeface="Arial Narrow" panose="020B0606020202030204" pitchFamily="34" charset="0"/>
            </a:endParaRPr>
          </a:p>
          <a:p>
            <a:r>
              <a:rPr lang="pt-BR" b="1" dirty="0">
                <a:latin typeface="Arial Narrow" panose="020B0606020202030204" pitchFamily="34" charset="0"/>
              </a:rPr>
              <a:t>Objetivo: </a:t>
            </a:r>
            <a:r>
              <a:rPr lang="pt-BR" dirty="0">
                <a:latin typeface="Arial Narrow" panose="020B0606020202030204" pitchFamily="34" charset="0"/>
              </a:rPr>
              <a:t>Representar a capacidade máxima de crédito disponibilizada pela instituição financeira ao cliente.</a:t>
            </a:r>
          </a:p>
          <a:p>
            <a:endParaRPr lang="pt-BR" dirty="0">
              <a:latin typeface="Arial Narrow" panose="020B0606020202030204" pitchFamily="34" charset="0"/>
            </a:endParaRPr>
          </a:p>
          <a:p>
            <a:r>
              <a:rPr lang="pt-BR" b="1" dirty="0">
                <a:latin typeface="Arial Narrow" panose="020B0606020202030204" pitchFamily="34" charset="0"/>
              </a:rPr>
              <a:t>Interpretação:</a:t>
            </a:r>
          </a:p>
          <a:p>
            <a:endParaRPr lang="pt-BR" b="1" dirty="0">
              <a:latin typeface="Arial Narrow" panose="020B0606020202030204" pitchFamily="34" charset="0"/>
            </a:endParaRPr>
          </a:p>
          <a:p>
            <a:r>
              <a:rPr lang="pt-BR" b="1" dirty="0">
                <a:latin typeface="Arial Narrow" panose="020B0606020202030204" pitchFamily="34" charset="0"/>
              </a:rPr>
              <a:t>Valores mais baixos → </a:t>
            </a:r>
            <a:r>
              <a:rPr lang="pt-BR" dirty="0">
                <a:latin typeface="Arial Narrow" panose="020B0606020202030204" pitchFamily="34" charset="0"/>
              </a:rPr>
              <a:t>menor capacidade de crédito concedida</a:t>
            </a:r>
            <a:r>
              <a:rPr lang="pt-BR" dirty="0"/>
              <a:t>. </a:t>
            </a:r>
          </a:p>
          <a:p>
            <a:r>
              <a:rPr lang="pt-BR" b="1" dirty="0">
                <a:latin typeface="Arial Narrow" panose="020B0606020202030204" pitchFamily="34" charset="0"/>
              </a:rPr>
              <a:t>Valores mais altos →</a:t>
            </a:r>
            <a:r>
              <a:rPr lang="pt-BR" dirty="0">
                <a:latin typeface="Arial Narrow" panose="020B0606020202030204" pitchFamily="34" charset="0"/>
              </a:rPr>
              <a:t> maior capacidade de crédito concedida. </a:t>
            </a:r>
          </a:p>
          <a:p>
            <a:endParaRPr lang="pt-BR" dirty="0">
              <a:latin typeface="Arial Narrow" panose="020B0606020202030204" pitchFamily="34" charset="0"/>
            </a:endParaRPr>
          </a:p>
          <a:p>
            <a:r>
              <a:rPr lang="pt-BR" dirty="0">
                <a:latin typeface="Arial Narrow" panose="020B0606020202030204" pitchFamily="34" charset="0"/>
              </a:rPr>
              <a:t>O limite de crédito é utilizado como referência para diversas métricas de utilização e endividamento.</a:t>
            </a:r>
          </a:p>
          <a:p>
            <a:endParaRPr lang="pt-BR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98672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C92FF5F3-69BE-4874-A7C9-3907BD6950BC}"/>
              </a:ext>
            </a:extLst>
          </p:cNvPr>
          <p:cNvSpPr/>
          <p:nvPr/>
        </p:nvSpPr>
        <p:spPr>
          <a:xfrm>
            <a:off x="-786" y="-19729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101A53B-008C-426B-AFD0-31FEAF23EC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9307289-4A8A-47F9-824C-C1FCFB380550}"/>
              </a:ext>
            </a:extLst>
          </p:cNvPr>
          <p:cNvSpPr txBox="1"/>
          <p:nvPr/>
        </p:nvSpPr>
        <p:spPr>
          <a:xfrm>
            <a:off x="301253" y="223999"/>
            <a:ext cx="8406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Feature</a:t>
            </a:r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pt-BR" sz="28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Engineering</a:t>
            </a:r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|Variáveis Demográficas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3900736-6B87-46BC-87CE-9256728FDF00}"/>
              </a:ext>
            </a:extLst>
          </p:cNvPr>
          <p:cNvSpPr txBox="1"/>
          <p:nvPr/>
        </p:nvSpPr>
        <p:spPr>
          <a:xfrm>
            <a:off x="301253" y="1423849"/>
            <a:ext cx="50060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8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Categórica binária (nominal)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FE298B0-64DE-4EE3-9045-CF9A786D815B}"/>
              </a:ext>
            </a:extLst>
          </p:cNvPr>
          <p:cNvSpPr txBox="1"/>
          <p:nvPr/>
        </p:nvSpPr>
        <p:spPr>
          <a:xfrm>
            <a:off x="401149" y="2253393"/>
            <a:ext cx="1138813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latin typeface="Arial Narrow" panose="020B0606020202030204" pitchFamily="34" charset="0"/>
              </a:rPr>
              <a:t>SEX</a:t>
            </a:r>
          </a:p>
          <a:p>
            <a:endParaRPr lang="pt-BR" b="1" dirty="0">
              <a:highlight>
                <a:srgbClr val="FF0000"/>
              </a:highlight>
              <a:latin typeface="Arial Narrow" panose="020B0606020202030204" pitchFamily="34" charset="0"/>
            </a:endParaRPr>
          </a:p>
          <a:p>
            <a:r>
              <a:rPr lang="pt-BR" b="1" dirty="0">
                <a:latin typeface="Arial Narrow" panose="020B0606020202030204" pitchFamily="34" charset="0"/>
              </a:rPr>
              <a:t>Definição: </a:t>
            </a:r>
            <a:r>
              <a:rPr lang="pt-BR" dirty="0">
                <a:latin typeface="Arial Narrow" panose="020B0606020202030204" pitchFamily="34" charset="0"/>
              </a:rPr>
              <a:t>Sexo do cliente informado no cadastro.</a:t>
            </a:r>
          </a:p>
          <a:p>
            <a:endParaRPr lang="pt-BR" dirty="0"/>
          </a:p>
          <a:p>
            <a:r>
              <a:rPr lang="pt-BR" b="1" dirty="0">
                <a:latin typeface="Arial Narrow" panose="020B0606020202030204" pitchFamily="34" charset="0"/>
              </a:rPr>
              <a:t>Codificação da base:</a:t>
            </a:r>
          </a:p>
          <a:p>
            <a:r>
              <a:rPr lang="pt-BR" dirty="0">
                <a:latin typeface="Arial Narrow" panose="020B0606020202030204" pitchFamily="34" charset="0"/>
              </a:rPr>
              <a:t>1 = Masculino </a:t>
            </a:r>
          </a:p>
          <a:p>
            <a:r>
              <a:rPr lang="pt-BR" dirty="0">
                <a:latin typeface="Arial Narrow" panose="020B0606020202030204" pitchFamily="34" charset="0"/>
              </a:rPr>
              <a:t>2 = Feminino </a:t>
            </a:r>
          </a:p>
          <a:p>
            <a:endParaRPr lang="pt-BR" dirty="0"/>
          </a:p>
          <a:p>
            <a:r>
              <a:rPr lang="pt-BR" b="1" dirty="0">
                <a:latin typeface="Arial Narrow" panose="020B0606020202030204" pitchFamily="34" charset="0"/>
              </a:rPr>
              <a:t>Objetivo: </a:t>
            </a:r>
            <a:r>
              <a:rPr lang="pt-BR" dirty="0">
                <a:latin typeface="Arial Narrow" panose="020B0606020202030204" pitchFamily="34" charset="0"/>
              </a:rPr>
              <a:t>Caracterizar o perfil demográfico dos clientes.</a:t>
            </a:r>
          </a:p>
          <a:p>
            <a:endParaRPr lang="pt-BR" dirty="0"/>
          </a:p>
          <a:p>
            <a:r>
              <a:rPr lang="pt-BR" b="1" dirty="0">
                <a:latin typeface="Arial Narrow" panose="020B0606020202030204" pitchFamily="34" charset="0"/>
              </a:rPr>
              <a:t>Interpretação: </a:t>
            </a:r>
            <a:r>
              <a:rPr lang="pt-BR" dirty="0">
                <a:latin typeface="Arial Narrow" panose="020B0606020202030204" pitchFamily="34" charset="0"/>
              </a:rPr>
              <a:t>Variável categórica utilizada para segmentação e análise de padrões comportamentais.</a:t>
            </a:r>
          </a:p>
          <a:p>
            <a:endParaRPr lang="pt-BR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0832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C92FF5F3-69BE-4874-A7C9-3907BD6950BC}"/>
              </a:ext>
            </a:extLst>
          </p:cNvPr>
          <p:cNvSpPr/>
          <p:nvPr/>
        </p:nvSpPr>
        <p:spPr>
          <a:xfrm>
            <a:off x="-786" y="-19729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101A53B-008C-426B-AFD0-31FEAF23EC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9307289-4A8A-47F9-824C-C1FCFB380550}"/>
              </a:ext>
            </a:extLst>
          </p:cNvPr>
          <p:cNvSpPr txBox="1"/>
          <p:nvPr/>
        </p:nvSpPr>
        <p:spPr>
          <a:xfrm>
            <a:off x="301253" y="223999"/>
            <a:ext cx="8406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Feature</a:t>
            </a:r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pt-BR" sz="28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Engineering</a:t>
            </a:r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|Variáveis Demográficas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3900736-6B87-46BC-87CE-9256728FDF00}"/>
              </a:ext>
            </a:extLst>
          </p:cNvPr>
          <p:cNvSpPr txBox="1"/>
          <p:nvPr/>
        </p:nvSpPr>
        <p:spPr>
          <a:xfrm>
            <a:off x="188131" y="1157252"/>
            <a:ext cx="52134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8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Categórica ordinal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FE298B0-64DE-4EE3-9045-CF9A786D815B}"/>
              </a:ext>
            </a:extLst>
          </p:cNvPr>
          <p:cNvSpPr txBox="1"/>
          <p:nvPr/>
        </p:nvSpPr>
        <p:spPr>
          <a:xfrm>
            <a:off x="188132" y="1683768"/>
            <a:ext cx="1138813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latin typeface="Arial Narrow" panose="020B0606020202030204" pitchFamily="34" charset="0"/>
              </a:rPr>
              <a:t>EDUCATION</a:t>
            </a:r>
          </a:p>
          <a:p>
            <a:endParaRPr lang="pt-BR" b="1" dirty="0">
              <a:highlight>
                <a:srgbClr val="FF0000"/>
              </a:highlight>
              <a:latin typeface="Arial Narrow" panose="020B0606020202030204" pitchFamily="34" charset="0"/>
            </a:endParaRPr>
          </a:p>
          <a:p>
            <a:r>
              <a:rPr lang="pt-BR" b="1" dirty="0">
                <a:latin typeface="Arial Narrow" panose="020B0606020202030204" pitchFamily="34" charset="0"/>
              </a:rPr>
              <a:t>Definição: </a:t>
            </a:r>
            <a:r>
              <a:rPr lang="pt-BR" dirty="0">
                <a:latin typeface="Arial Narrow" panose="020B0606020202030204" pitchFamily="34" charset="0"/>
              </a:rPr>
              <a:t>Nível de escolaridade do cliente.</a:t>
            </a:r>
          </a:p>
          <a:p>
            <a:endParaRPr lang="pt-BR" dirty="0"/>
          </a:p>
          <a:p>
            <a:r>
              <a:rPr lang="pt-BR" b="1" dirty="0">
                <a:latin typeface="Arial Narrow" panose="020B0606020202030204" pitchFamily="34" charset="0"/>
              </a:rPr>
              <a:t>Codificação da base:</a:t>
            </a:r>
          </a:p>
          <a:p>
            <a:endParaRPr lang="pt-BR" b="1" dirty="0">
              <a:latin typeface="Arial Narrow" panose="020B0606020202030204" pitchFamily="34" charset="0"/>
            </a:endParaRPr>
          </a:p>
          <a:p>
            <a:r>
              <a:rPr lang="pt-BR" dirty="0">
                <a:latin typeface="Arial Narrow" panose="020B0606020202030204" pitchFamily="34" charset="0"/>
              </a:rPr>
              <a:t>1 = Pós-graduação </a:t>
            </a:r>
          </a:p>
          <a:p>
            <a:r>
              <a:rPr lang="pt-BR" dirty="0">
                <a:latin typeface="Arial Narrow" panose="020B0606020202030204" pitchFamily="34" charset="0"/>
              </a:rPr>
              <a:t>2 = Universidade </a:t>
            </a:r>
          </a:p>
          <a:p>
            <a:r>
              <a:rPr lang="pt-BR" dirty="0">
                <a:latin typeface="Arial Narrow" panose="020B0606020202030204" pitchFamily="34" charset="0"/>
              </a:rPr>
              <a:t>3 = Ensino médio </a:t>
            </a:r>
          </a:p>
          <a:p>
            <a:r>
              <a:rPr lang="pt-BR" dirty="0">
                <a:latin typeface="Arial Narrow" panose="020B0606020202030204" pitchFamily="34" charset="0"/>
              </a:rPr>
              <a:t>4 = Outros </a:t>
            </a:r>
          </a:p>
          <a:p>
            <a:r>
              <a:rPr lang="pt-BR" dirty="0">
                <a:latin typeface="Arial Narrow" panose="020B0606020202030204" pitchFamily="34" charset="0"/>
              </a:rPr>
              <a:t>0, 5 e 6 = Categorias não especificadas na documentação original </a:t>
            </a:r>
          </a:p>
          <a:p>
            <a:pPr>
              <a:buFont typeface="Arial" panose="020B0604020202020204" pitchFamily="34" charset="0"/>
              <a:buChar char="•"/>
            </a:pPr>
            <a:endParaRPr lang="pt-BR" dirty="0"/>
          </a:p>
          <a:p>
            <a:r>
              <a:rPr lang="pt-BR" b="1" dirty="0">
                <a:latin typeface="Arial Narrow" panose="020B0606020202030204" pitchFamily="34" charset="0"/>
              </a:rPr>
              <a:t>Objetivo: </a:t>
            </a:r>
            <a:r>
              <a:rPr lang="pt-BR" dirty="0">
                <a:latin typeface="Arial Narrow" panose="020B0606020202030204" pitchFamily="34" charset="0"/>
              </a:rPr>
              <a:t>Representar características socioeconômicas do cliente.</a:t>
            </a:r>
          </a:p>
          <a:p>
            <a:endParaRPr lang="pt-BR" dirty="0"/>
          </a:p>
          <a:p>
            <a:pPr algn="just"/>
            <a:r>
              <a:rPr lang="pt-BR" b="1" dirty="0">
                <a:latin typeface="Arial Narrow" panose="020B0606020202030204" pitchFamily="34" charset="0"/>
              </a:rPr>
              <a:t>Interpretação: </a:t>
            </a:r>
            <a:r>
              <a:rPr lang="pt-BR" dirty="0">
                <a:latin typeface="Arial Narrow" panose="020B0606020202030204" pitchFamily="34" charset="0"/>
              </a:rPr>
              <a:t>Variável categórica que pode estar associada a diferenças de renda, estabilidade financeira e comportamento de crédito.</a:t>
            </a:r>
          </a:p>
          <a:p>
            <a:endParaRPr lang="pt-BR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3254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C92FF5F3-69BE-4874-A7C9-3907BD6950BC}"/>
              </a:ext>
            </a:extLst>
          </p:cNvPr>
          <p:cNvSpPr/>
          <p:nvPr/>
        </p:nvSpPr>
        <p:spPr>
          <a:xfrm>
            <a:off x="-786" y="-19729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101A53B-008C-426B-AFD0-31FEAF23EC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9307289-4A8A-47F9-824C-C1FCFB380550}"/>
              </a:ext>
            </a:extLst>
          </p:cNvPr>
          <p:cNvSpPr txBox="1"/>
          <p:nvPr/>
        </p:nvSpPr>
        <p:spPr>
          <a:xfrm>
            <a:off x="301253" y="223999"/>
            <a:ext cx="8406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Feature</a:t>
            </a:r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pt-BR" sz="28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Engineering</a:t>
            </a:r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|Variáveis Demográficas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3900736-6B87-46BC-87CE-9256728FDF00}"/>
              </a:ext>
            </a:extLst>
          </p:cNvPr>
          <p:cNvSpPr txBox="1"/>
          <p:nvPr/>
        </p:nvSpPr>
        <p:spPr>
          <a:xfrm>
            <a:off x="188131" y="1157252"/>
            <a:ext cx="47515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8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Categórica Nominal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FE298B0-64DE-4EE3-9045-CF9A786D815B}"/>
              </a:ext>
            </a:extLst>
          </p:cNvPr>
          <p:cNvSpPr txBox="1"/>
          <p:nvPr/>
        </p:nvSpPr>
        <p:spPr>
          <a:xfrm>
            <a:off x="188132" y="2007429"/>
            <a:ext cx="1138813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latin typeface="Arial Narrow" panose="020B0606020202030204" pitchFamily="34" charset="0"/>
              </a:rPr>
              <a:t>MARRIAGE</a:t>
            </a:r>
          </a:p>
          <a:p>
            <a:endParaRPr lang="pt-BR" b="1" dirty="0"/>
          </a:p>
          <a:p>
            <a:r>
              <a:rPr lang="pt-BR" b="1" dirty="0">
                <a:latin typeface="Arial Narrow" panose="020B0606020202030204" pitchFamily="34" charset="0"/>
              </a:rPr>
              <a:t>Definição: </a:t>
            </a:r>
            <a:r>
              <a:rPr lang="pt-BR" dirty="0">
                <a:latin typeface="Arial Narrow" panose="020B0606020202030204" pitchFamily="34" charset="0"/>
              </a:rPr>
              <a:t>Estado civil do cliente.</a:t>
            </a:r>
          </a:p>
          <a:p>
            <a:endParaRPr lang="pt-BR" b="1" dirty="0">
              <a:latin typeface="Arial Narrow" panose="020B0606020202030204" pitchFamily="34" charset="0"/>
            </a:endParaRPr>
          </a:p>
          <a:p>
            <a:r>
              <a:rPr lang="pt-BR" b="1" dirty="0">
                <a:latin typeface="Arial Narrow" panose="020B0606020202030204" pitchFamily="34" charset="0"/>
              </a:rPr>
              <a:t>Codificação da base:</a:t>
            </a:r>
          </a:p>
          <a:p>
            <a:r>
              <a:rPr lang="pt-BR" dirty="0">
                <a:latin typeface="Arial Narrow" panose="020B0606020202030204" pitchFamily="34" charset="0"/>
              </a:rPr>
              <a:t>1 = Casado </a:t>
            </a:r>
          </a:p>
          <a:p>
            <a:r>
              <a:rPr lang="pt-BR" dirty="0">
                <a:latin typeface="Arial Narrow" panose="020B0606020202030204" pitchFamily="34" charset="0"/>
              </a:rPr>
              <a:t>2 = Solteiro </a:t>
            </a:r>
          </a:p>
          <a:p>
            <a:r>
              <a:rPr lang="pt-BR" dirty="0">
                <a:latin typeface="Arial Narrow" panose="020B0606020202030204" pitchFamily="34" charset="0"/>
              </a:rPr>
              <a:t>3 = Outros </a:t>
            </a:r>
          </a:p>
          <a:p>
            <a:pPr>
              <a:buFont typeface="Arial" panose="020B0604020202020204" pitchFamily="34" charset="0"/>
              <a:buChar char="•"/>
            </a:pPr>
            <a:endParaRPr lang="pt-BR" dirty="0"/>
          </a:p>
          <a:p>
            <a:r>
              <a:rPr lang="pt-BR" b="1" dirty="0">
                <a:latin typeface="Arial Narrow" panose="020B0606020202030204" pitchFamily="34" charset="0"/>
              </a:rPr>
              <a:t>Objetivo: </a:t>
            </a:r>
            <a:r>
              <a:rPr lang="pt-BR" dirty="0">
                <a:latin typeface="Arial Narrow" panose="020B0606020202030204" pitchFamily="34" charset="0"/>
              </a:rPr>
              <a:t>Caracterizar o perfil demográfico do cliente.</a:t>
            </a:r>
          </a:p>
          <a:p>
            <a:endParaRPr lang="pt-BR" dirty="0"/>
          </a:p>
          <a:p>
            <a:r>
              <a:rPr lang="pt-BR" b="1" dirty="0">
                <a:latin typeface="Arial Narrow" panose="020B0606020202030204" pitchFamily="34" charset="0"/>
              </a:rPr>
              <a:t>Interpretação: </a:t>
            </a:r>
            <a:r>
              <a:rPr lang="pt-BR" dirty="0">
                <a:latin typeface="Arial Narrow" panose="020B0606020202030204" pitchFamily="34" charset="0"/>
              </a:rPr>
              <a:t>Variável categórica utilizada para análise de perfis e segmentação.</a:t>
            </a:r>
          </a:p>
          <a:p>
            <a:endParaRPr lang="pt-BR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4227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C92FF5F3-69BE-4874-A7C9-3907BD6950BC}"/>
              </a:ext>
            </a:extLst>
          </p:cNvPr>
          <p:cNvSpPr/>
          <p:nvPr/>
        </p:nvSpPr>
        <p:spPr>
          <a:xfrm>
            <a:off x="-786" y="-19729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101A53B-008C-426B-AFD0-31FEAF23EC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9307289-4A8A-47F9-824C-C1FCFB380550}"/>
              </a:ext>
            </a:extLst>
          </p:cNvPr>
          <p:cNvSpPr txBox="1"/>
          <p:nvPr/>
        </p:nvSpPr>
        <p:spPr>
          <a:xfrm>
            <a:off x="301253" y="223999"/>
            <a:ext cx="8406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Feature</a:t>
            </a:r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pt-BR" sz="28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Engineering</a:t>
            </a:r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|Variáveis Demográficas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3900736-6B87-46BC-87CE-9256728FDF00}"/>
              </a:ext>
            </a:extLst>
          </p:cNvPr>
          <p:cNvSpPr txBox="1"/>
          <p:nvPr/>
        </p:nvSpPr>
        <p:spPr>
          <a:xfrm>
            <a:off x="301252" y="1423849"/>
            <a:ext cx="4157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8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Numérica Contínua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FE298B0-64DE-4EE3-9045-CF9A786D815B}"/>
              </a:ext>
            </a:extLst>
          </p:cNvPr>
          <p:cNvSpPr txBox="1"/>
          <p:nvPr/>
        </p:nvSpPr>
        <p:spPr>
          <a:xfrm>
            <a:off x="301253" y="1995276"/>
            <a:ext cx="1138813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latin typeface="Arial Narrow" panose="020B0606020202030204" pitchFamily="34" charset="0"/>
              </a:rPr>
              <a:t>AGE </a:t>
            </a:r>
          </a:p>
          <a:p>
            <a:pPr marL="342900" indent="-342900">
              <a:buFont typeface="+mj-lt"/>
              <a:buAutoNum type="arabicPeriod"/>
            </a:pPr>
            <a:endParaRPr lang="pt-BR" sz="1800" dirty="0">
              <a:effectLst/>
              <a:latin typeface="Arial Narrow" panose="020B0606020202030204" pitchFamily="34" charset="0"/>
            </a:endParaRPr>
          </a:p>
          <a:p>
            <a:r>
              <a:rPr lang="pt-BR" sz="1800" b="1" dirty="0">
                <a:effectLst/>
                <a:latin typeface="Arial Narrow" panose="020B0606020202030204" pitchFamily="34" charset="0"/>
              </a:rPr>
              <a:t>Definição:</a:t>
            </a:r>
            <a:r>
              <a:rPr lang="pt-BR" b="1" dirty="0">
                <a:latin typeface="Arial Narrow" panose="020B0606020202030204" pitchFamily="34" charset="0"/>
              </a:rPr>
              <a:t> </a:t>
            </a:r>
            <a:r>
              <a:rPr lang="pt-BR" sz="1800" dirty="0">
                <a:effectLst/>
                <a:latin typeface="Arial Narrow" panose="020B0606020202030204" pitchFamily="34" charset="0"/>
              </a:rPr>
              <a:t>idade do cliente.</a:t>
            </a:r>
          </a:p>
          <a:p>
            <a:endParaRPr lang="pt-BR" sz="1800" dirty="0">
              <a:effectLst/>
              <a:latin typeface="Arial Narrow" panose="020B0606020202030204" pitchFamily="34" charset="0"/>
            </a:endParaRPr>
          </a:p>
          <a:p>
            <a:r>
              <a:rPr lang="pt-BR" sz="1800" b="1" dirty="0">
                <a:effectLst/>
                <a:latin typeface="Arial Narrow" panose="020B0606020202030204" pitchFamily="34" charset="0"/>
              </a:rPr>
              <a:t>Objetivo: </a:t>
            </a:r>
            <a:r>
              <a:rPr lang="pt-BR" sz="1800" dirty="0">
                <a:effectLst/>
                <a:latin typeface="Arial Narrow" panose="020B0606020202030204" pitchFamily="34" charset="0"/>
              </a:rPr>
              <a:t>Permitir que o modelo identifique padrões em que o risco não cresce ou diminui de forma linear com a idade.</a:t>
            </a:r>
          </a:p>
          <a:p>
            <a:endParaRPr lang="pt-BR" sz="1800" dirty="0">
              <a:effectLst/>
              <a:latin typeface="Arial Narrow" panose="020B0606020202030204" pitchFamily="34" charset="0"/>
            </a:endParaRPr>
          </a:p>
          <a:p>
            <a:r>
              <a:rPr lang="pt-BR" sz="1800" b="1" dirty="0">
                <a:effectLst/>
                <a:latin typeface="Arial Narrow" panose="020B0606020202030204" pitchFamily="34" charset="0"/>
              </a:rPr>
              <a:t>Exemplo: </a:t>
            </a:r>
            <a:r>
              <a:rPr lang="pt-BR" sz="1800" dirty="0">
                <a:effectLst/>
                <a:latin typeface="Arial Narrow" panose="020B0606020202030204" pitchFamily="34" charset="0"/>
              </a:rPr>
              <a:t>clientes muito jovens e muito idosos podem ter maior risco, enquanto faixas intermediárias podem ser mais estáveis.</a:t>
            </a:r>
          </a:p>
          <a:p>
            <a:r>
              <a:rPr lang="pt-BR" sz="1800" dirty="0">
                <a:effectLst/>
                <a:latin typeface="Arial Narrow" panose="020B0606020202030204" pitchFamily="34" charset="0"/>
              </a:rPr>
              <a:t>Interpretação: AGE captura a relação linear (quanto maior a idade, maior ou menor o risco).</a:t>
            </a:r>
            <a:endParaRPr lang="pt-BR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1124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C92FF5F3-69BE-4874-A7C9-3907BD6950BC}"/>
              </a:ext>
            </a:extLst>
          </p:cNvPr>
          <p:cNvSpPr/>
          <p:nvPr/>
        </p:nvSpPr>
        <p:spPr>
          <a:xfrm>
            <a:off x="-786" y="-19729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101A53B-008C-426B-AFD0-31FEAF23EC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9307289-4A8A-47F9-824C-C1FCFB380550}"/>
              </a:ext>
            </a:extLst>
          </p:cNvPr>
          <p:cNvSpPr txBox="1"/>
          <p:nvPr/>
        </p:nvSpPr>
        <p:spPr>
          <a:xfrm>
            <a:off x="301253" y="223999"/>
            <a:ext cx="8406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Feature</a:t>
            </a:r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pt-BR" sz="28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Engineering</a:t>
            </a:r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| Variáveis Financeiras Originais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0B0B113-407C-47AD-98A6-BB2BD0C944AF}"/>
              </a:ext>
            </a:extLst>
          </p:cNvPr>
          <p:cNvSpPr txBox="1"/>
          <p:nvPr/>
        </p:nvSpPr>
        <p:spPr>
          <a:xfrm>
            <a:off x="174732" y="1157252"/>
            <a:ext cx="432981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8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Numérica Contínua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4BA8872-E311-4ADC-B623-50C99AD47306}"/>
              </a:ext>
            </a:extLst>
          </p:cNvPr>
          <p:cNvSpPr txBox="1"/>
          <p:nvPr/>
        </p:nvSpPr>
        <p:spPr>
          <a:xfrm>
            <a:off x="301253" y="1924200"/>
            <a:ext cx="11388130" cy="4416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latin typeface="Arial Narrow" panose="020B0606020202030204" pitchFamily="34" charset="0"/>
              </a:rPr>
              <a:t>BILL_AMT1 a BILL_AMT6 </a:t>
            </a:r>
          </a:p>
          <a:p>
            <a:r>
              <a:rPr lang="pt-BR" sz="1100" b="1" dirty="0">
                <a:highlight>
                  <a:srgbClr val="FF0000"/>
                </a:highlight>
                <a:latin typeface="Arial Narrow" panose="020B0606020202030204" pitchFamily="34" charset="0"/>
              </a:rPr>
              <a:t>    </a:t>
            </a:r>
            <a:endParaRPr lang="pt-BR" sz="1100" dirty="0">
              <a:latin typeface="Arial Narrow" panose="020B0606020202030204" pitchFamily="34" charset="0"/>
            </a:endParaRPr>
          </a:p>
          <a:p>
            <a:r>
              <a:rPr lang="pt-BR" sz="1800" b="1" dirty="0">
                <a:effectLst/>
                <a:latin typeface="Arial Narrow" panose="020B0606020202030204" pitchFamily="34" charset="0"/>
              </a:rPr>
              <a:t>Definição:</a:t>
            </a:r>
            <a:r>
              <a:rPr lang="pt-BR" b="1" dirty="0">
                <a:latin typeface="Arial Narrow" panose="020B0606020202030204" pitchFamily="34" charset="0"/>
              </a:rPr>
              <a:t> </a:t>
            </a:r>
            <a:r>
              <a:rPr lang="pt-BR" dirty="0">
                <a:latin typeface="Arial Narrow" panose="020B0606020202030204" pitchFamily="34" charset="0"/>
              </a:rPr>
              <a:t>Valor registrado na fatura (</a:t>
            </a:r>
            <a:r>
              <a:rPr lang="pt-BR" dirty="0" err="1">
                <a:latin typeface="Arial Narrow" panose="020B0606020202030204" pitchFamily="34" charset="0"/>
              </a:rPr>
              <a:t>bill</a:t>
            </a:r>
            <a:r>
              <a:rPr lang="pt-BR" dirty="0">
                <a:latin typeface="Arial Narrow" panose="020B0606020202030204" pitchFamily="34" charset="0"/>
              </a:rPr>
              <a:t> </a:t>
            </a:r>
            <a:r>
              <a:rPr lang="pt-BR" dirty="0" err="1">
                <a:latin typeface="Arial Narrow" panose="020B0606020202030204" pitchFamily="34" charset="0"/>
              </a:rPr>
              <a:t>statement</a:t>
            </a:r>
            <a:r>
              <a:rPr lang="pt-BR" dirty="0">
                <a:latin typeface="Arial Narrow" panose="020B0606020202030204" pitchFamily="34" charset="0"/>
              </a:rPr>
              <a:t>) do cartão de crédito em cada mês do histórico analisado.</a:t>
            </a:r>
          </a:p>
          <a:p>
            <a:endParaRPr lang="pt-BR" sz="1800" b="1" dirty="0">
              <a:effectLst/>
              <a:latin typeface="Arial Narrow" panose="020B0606020202030204" pitchFamily="34" charset="0"/>
            </a:endParaRPr>
          </a:p>
          <a:p>
            <a:r>
              <a:rPr lang="pt-BR" sz="1800" b="1" dirty="0">
                <a:effectLst/>
                <a:latin typeface="Arial Narrow" panose="020B0606020202030204" pitchFamily="34" charset="0"/>
              </a:rPr>
              <a:t>Objetivo: </a:t>
            </a:r>
            <a:r>
              <a:rPr lang="pt-BR" sz="1800" dirty="0">
                <a:effectLst/>
                <a:latin typeface="Arial Narrow" panose="020B0606020202030204" pitchFamily="34" charset="0"/>
              </a:rPr>
              <a:t>Representar o saldo devedor apresentado ao cliente em cada período, servindo como medida do nível de utilização do crédito ao longo do tempo.</a:t>
            </a:r>
            <a:endParaRPr lang="pt-BR" dirty="0">
              <a:latin typeface="Arial Narrow" panose="020B0606020202030204" pitchFamily="34" charset="0"/>
            </a:endParaRPr>
          </a:p>
          <a:p>
            <a:endParaRPr lang="pt-BR" sz="1800" dirty="0">
              <a:effectLst/>
              <a:latin typeface="Arial Narrow" panose="020B0606020202030204" pitchFamily="34" charset="0"/>
            </a:endParaRPr>
          </a:p>
          <a:p>
            <a:r>
              <a:rPr lang="pt-BR" sz="1800" b="1" dirty="0">
                <a:effectLst/>
                <a:latin typeface="Arial Narrow" panose="020B0606020202030204" pitchFamily="34" charset="0"/>
              </a:rPr>
              <a:t>Interpretação:</a:t>
            </a:r>
          </a:p>
          <a:p>
            <a:endParaRPr lang="pt-BR" sz="1800" b="1" dirty="0">
              <a:effectLst/>
              <a:latin typeface="Arial Narrow" panose="020B0606020202030204" pitchFamily="34" charset="0"/>
            </a:endParaRPr>
          </a:p>
          <a:p>
            <a:r>
              <a:rPr lang="pt-BR" b="1" dirty="0">
                <a:latin typeface="Arial Narrow" panose="020B0606020202030204" pitchFamily="34" charset="0"/>
              </a:rPr>
              <a:t>Valores próximos de zero → </a:t>
            </a:r>
            <a:r>
              <a:rPr lang="pt-BR" dirty="0">
                <a:latin typeface="Arial Narrow" panose="020B0606020202030204" pitchFamily="34" charset="0"/>
              </a:rPr>
              <a:t>baixo saldo devedor ou baixa utilização do crédito. </a:t>
            </a:r>
          </a:p>
          <a:p>
            <a:r>
              <a:rPr lang="pt-BR" b="1" dirty="0">
                <a:latin typeface="Arial Narrow" panose="020B0606020202030204" pitchFamily="34" charset="0"/>
              </a:rPr>
              <a:t>Valores intermediários → </a:t>
            </a:r>
            <a:r>
              <a:rPr lang="pt-BR" dirty="0">
                <a:latin typeface="Arial Narrow" panose="020B0606020202030204" pitchFamily="34" charset="0"/>
              </a:rPr>
              <a:t>utilização moderada do limite de crédito. </a:t>
            </a:r>
          </a:p>
          <a:p>
            <a:r>
              <a:rPr lang="pt-BR" b="1" dirty="0">
                <a:latin typeface="Arial Narrow" panose="020B0606020202030204" pitchFamily="34" charset="0"/>
              </a:rPr>
              <a:t>Valores elevados → </a:t>
            </a:r>
            <a:r>
              <a:rPr lang="pt-BR" dirty="0">
                <a:latin typeface="Arial Narrow" panose="020B0606020202030204" pitchFamily="34" charset="0"/>
              </a:rPr>
              <a:t>maior comprometimento financeiro e maior utilização do crédito. </a:t>
            </a:r>
          </a:p>
          <a:p>
            <a:endParaRPr lang="pt-BR" dirty="0">
              <a:latin typeface="Arial Narrow" panose="020B0606020202030204" pitchFamily="34" charset="0"/>
            </a:endParaRPr>
          </a:p>
          <a:p>
            <a:r>
              <a:rPr lang="pt-BR" dirty="0">
                <a:latin typeface="Arial Narrow" panose="020B0606020202030204" pitchFamily="34" charset="0"/>
              </a:rPr>
              <a:t>Essas variáveis são utilizadas como base para o cálculo de indicadores de utilização do limite, endividamento e proporção de pagamento.</a:t>
            </a:r>
          </a:p>
          <a:p>
            <a:endParaRPr lang="pt-BR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67449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C92FF5F3-69BE-4874-A7C9-3907BD6950BC}"/>
              </a:ext>
            </a:extLst>
          </p:cNvPr>
          <p:cNvSpPr/>
          <p:nvPr/>
        </p:nvSpPr>
        <p:spPr>
          <a:xfrm>
            <a:off x="-786" y="-19729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101A53B-008C-426B-AFD0-31FEAF23EC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9307289-4A8A-47F9-824C-C1FCFB380550}"/>
              </a:ext>
            </a:extLst>
          </p:cNvPr>
          <p:cNvSpPr txBox="1"/>
          <p:nvPr/>
        </p:nvSpPr>
        <p:spPr>
          <a:xfrm>
            <a:off x="301253" y="223999"/>
            <a:ext cx="8406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Feature</a:t>
            </a:r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pt-BR" sz="28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Engineering</a:t>
            </a:r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| Variáveis Financeiras Originais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4BA8872-E311-4ADC-B623-50C99AD47306}"/>
              </a:ext>
            </a:extLst>
          </p:cNvPr>
          <p:cNvSpPr txBox="1"/>
          <p:nvPr/>
        </p:nvSpPr>
        <p:spPr>
          <a:xfrm>
            <a:off x="301253" y="1924200"/>
            <a:ext cx="11388130" cy="4416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 Narrow" panose="020B0606020202030204" pitchFamily="34" charset="0"/>
              </a:rPr>
              <a:t>PAY_AMT1 a PAY_AMT6</a:t>
            </a:r>
          </a:p>
          <a:p>
            <a:r>
              <a:rPr lang="pt-BR" sz="1100" b="1" dirty="0">
                <a:highlight>
                  <a:srgbClr val="FF0000"/>
                </a:highlight>
                <a:latin typeface="Arial Narrow" panose="020B0606020202030204" pitchFamily="34" charset="0"/>
              </a:rPr>
              <a:t>    </a:t>
            </a:r>
            <a:endParaRPr lang="pt-BR" sz="1100" dirty="0">
              <a:latin typeface="Arial Narrow" panose="020B0606020202030204" pitchFamily="34" charset="0"/>
            </a:endParaRPr>
          </a:p>
          <a:p>
            <a:r>
              <a:rPr lang="pt-BR" sz="1800" b="1" dirty="0">
                <a:effectLst/>
                <a:latin typeface="Arial Narrow" panose="020B0606020202030204" pitchFamily="34" charset="0"/>
              </a:rPr>
              <a:t>Definição:</a:t>
            </a:r>
            <a:r>
              <a:rPr lang="pt-BR" b="1" dirty="0">
                <a:latin typeface="Arial Narrow" panose="020B0606020202030204" pitchFamily="34" charset="0"/>
              </a:rPr>
              <a:t> </a:t>
            </a:r>
            <a:r>
              <a:rPr lang="pt-BR" dirty="0">
                <a:latin typeface="Arial Narrow" panose="020B0606020202030204" pitchFamily="34" charset="0"/>
              </a:rPr>
              <a:t>Valor efetivamente pago pelo cliente em cada mês do histórico analisado.</a:t>
            </a:r>
          </a:p>
          <a:p>
            <a:endParaRPr lang="pt-BR" sz="1800" b="1" dirty="0">
              <a:effectLst/>
              <a:latin typeface="Arial Narrow" panose="020B0606020202030204" pitchFamily="34" charset="0"/>
            </a:endParaRPr>
          </a:p>
          <a:p>
            <a:r>
              <a:rPr lang="pt-BR" sz="1800" b="1" dirty="0">
                <a:effectLst/>
                <a:latin typeface="Arial Narrow" panose="020B0606020202030204" pitchFamily="34" charset="0"/>
              </a:rPr>
              <a:t>Objetivo: </a:t>
            </a:r>
            <a:r>
              <a:rPr lang="pt-BR" sz="1800" dirty="0">
                <a:effectLst/>
                <a:latin typeface="Arial Narrow" panose="020B0606020202030204" pitchFamily="34" charset="0"/>
              </a:rPr>
              <a:t>Representar o comportamento de pagamento ao longo do tempo, permitindo avaliar o esforço financeiro do cliente na redução de suas obrigações de crédito.</a:t>
            </a:r>
            <a:endParaRPr lang="pt-BR" dirty="0">
              <a:latin typeface="Arial Narrow" panose="020B0606020202030204" pitchFamily="34" charset="0"/>
            </a:endParaRPr>
          </a:p>
          <a:p>
            <a:endParaRPr lang="pt-BR" sz="1800" dirty="0">
              <a:effectLst/>
              <a:latin typeface="Arial Narrow" panose="020B0606020202030204" pitchFamily="34" charset="0"/>
            </a:endParaRPr>
          </a:p>
          <a:p>
            <a:r>
              <a:rPr lang="pt-BR" sz="1800" b="1" dirty="0">
                <a:effectLst/>
                <a:latin typeface="Arial Narrow" panose="020B0606020202030204" pitchFamily="34" charset="0"/>
              </a:rPr>
              <a:t>Interpretação:</a:t>
            </a:r>
          </a:p>
          <a:p>
            <a:endParaRPr lang="pt-BR" dirty="0">
              <a:latin typeface="Arial Narrow" panose="020B0606020202030204" pitchFamily="34" charset="0"/>
            </a:endParaRPr>
          </a:p>
          <a:p>
            <a:r>
              <a:rPr lang="pt-BR" b="1" dirty="0">
                <a:latin typeface="Arial Narrow" panose="020B0606020202030204" pitchFamily="34" charset="0"/>
              </a:rPr>
              <a:t>Valores próximos de zero → </a:t>
            </a:r>
            <a:r>
              <a:rPr lang="pt-BR" dirty="0">
                <a:latin typeface="Arial Narrow" panose="020B0606020202030204" pitchFamily="34" charset="0"/>
              </a:rPr>
              <a:t>ausência ou baixo volume de pagamento. </a:t>
            </a:r>
          </a:p>
          <a:p>
            <a:r>
              <a:rPr lang="pt-BR" b="1" dirty="0">
                <a:latin typeface="Arial Narrow" panose="020B0606020202030204" pitchFamily="34" charset="0"/>
              </a:rPr>
              <a:t>Valores intermediários → </a:t>
            </a:r>
            <a:r>
              <a:rPr lang="pt-BR" dirty="0">
                <a:latin typeface="Arial Narrow" panose="020B0606020202030204" pitchFamily="34" charset="0"/>
              </a:rPr>
              <a:t>pagamento parcial das obrigações financeiras. </a:t>
            </a:r>
          </a:p>
          <a:p>
            <a:r>
              <a:rPr lang="pt-BR" b="1" dirty="0">
                <a:latin typeface="Arial Narrow" panose="020B0606020202030204" pitchFamily="34" charset="0"/>
              </a:rPr>
              <a:t>Valores elevados → </a:t>
            </a:r>
            <a:r>
              <a:rPr lang="pt-BR" dirty="0">
                <a:latin typeface="Arial Narrow" panose="020B0606020202030204" pitchFamily="34" charset="0"/>
              </a:rPr>
              <a:t>maior esforço de pagamento ou amortização significativa da dívida. </a:t>
            </a:r>
          </a:p>
          <a:p>
            <a:endParaRPr lang="pt-BR" dirty="0">
              <a:latin typeface="Arial Narrow" panose="020B0606020202030204" pitchFamily="34" charset="0"/>
            </a:endParaRPr>
          </a:p>
          <a:p>
            <a:r>
              <a:rPr lang="pt-BR" dirty="0">
                <a:latin typeface="Arial Narrow" panose="020B0606020202030204" pitchFamily="34" charset="0"/>
              </a:rPr>
              <a:t>Essas variáveis são utilizadas como base para o cálculo de proporções de pagamento, regularidade financeira e indicadores relacionados ao risco de inadimplência.</a:t>
            </a:r>
          </a:p>
          <a:p>
            <a:endParaRPr lang="pt-BR" dirty="0">
              <a:latin typeface="Arial Narrow" panose="020B060602020203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8B13CF4-8FD6-4FA3-B85D-1B6250DCB6F3}"/>
              </a:ext>
            </a:extLst>
          </p:cNvPr>
          <p:cNvSpPr txBox="1"/>
          <p:nvPr/>
        </p:nvSpPr>
        <p:spPr>
          <a:xfrm>
            <a:off x="174732" y="1157252"/>
            <a:ext cx="432981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8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Categórica Ordinal</a:t>
            </a:r>
          </a:p>
        </p:txBody>
      </p:sp>
    </p:spTree>
    <p:extLst>
      <p:ext uri="{BB962C8B-B14F-4D97-AF65-F5344CB8AC3E}">
        <p14:creationId xmlns:p14="http://schemas.microsoft.com/office/powerpoint/2010/main" val="14112350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C92FF5F3-69BE-4874-A7C9-3907BD6950BC}"/>
              </a:ext>
            </a:extLst>
          </p:cNvPr>
          <p:cNvSpPr/>
          <p:nvPr/>
        </p:nvSpPr>
        <p:spPr>
          <a:xfrm>
            <a:off x="-786" y="-19729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101A53B-008C-426B-AFD0-31FEAF23EC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9307289-4A8A-47F9-824C-C1FCFB380550}"/>
              </a:ext>
            </a:extLst>
          </p:cNvPr>
          <p:cNvSpPr txBox="1"/>
          <p:nvPr/>
        </p:nvSpPr>
        <p:spPr>
          <a:xfrm>
            <a:off x="301253" y="223999"/>
            <a:ext cx="840658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Feature</a:t>
            </a:r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pt-BR" sz="28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Engineering</a:t>
            </a:r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|Transformações Quadráticas</a:t>
            </a:r>
          </a:p>
          <a:p>
            <a:endParaRPr lang="pt-BR" sz="2800" dirty="0">
              <a:solidFill>
                <a:schemeClr val="bg1"/>
              </a:solidFill>
              <a:latin typeface="Franklin Gothic Medium Cond" panose="020B060603040202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0B0B113-407C-47AD-98A6-BB2BD0C944AF}"/>
              </a:ext>
            </a:extLst>
          </p:cNvPr>
          <p:cNvSpPr txBox="1"/>
          <p:nvPr/>
        </p:nvSpPr>
        <p:spPr>
          <a:xfrm>
            <a:off x="174732" y="1178106"/>
            <a:ext cx="432981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8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Numérica Contínua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4BA8872-E311-4ADC-B623-50C99AD47306}"/>
              </a:ext>
            </a:extLst>
          </p:cNvPr>
          <p:cNvSpPr txBox="1"/>
          <p:nvPr/>
        </p:nvSpPr>
        <p:spPr>
          <a:xfrm>
            <a:off x="301253" y="1924200"/>
            <a:ext cx="11388130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latin typeface="Arial Narrow" panose="020B0606020202030204" pitchFamily="34" charset="0"/>
              </a:rPr>
              <a:t>AGE_SQ </a:t>
            </a:r>
          </a:p>
          <a:p>
            <a:pPr marL="342900" indent="-342900">
              <a:buFont typeface="+mj-lt"/>
              <a:buAutoNum type="arabicPeriod"/>
            </a:pPr>
            <a:endParaRPr lang="pt-BR" sz="1800" b="1" dirty="0">
              <a:latin typeface="Arial Narrow" panose="020B0606020202030204" pitchFamily="34" charset="0"/>
            </a:endParaRPr>
          </a:p>
          <a:p>
            <a:r>
              <a:rPr lang="pt-BR" sz="1800" b="1" dirty="0">
                <a:effectLst/>
                <a:latin typeface="Arial Narrow" panose="020B0606020202030204" pitchFamily="34" charset="0"/>
              </a:rPr>
              <a:t>Definição:</a:t>
            </a:r>
            <a:r>
              <a:rPr lang="pt-BR" b="1" dirty="0">
                <a:latin typeface="Arial Narrow" panose="020B0606020202030204" pitchFamily="34" charset="0"/>
              </a:rPr>
              <a:t> </a:t>
            </a:r>
            <a:r>
              <a:rPr lang="pt-BR" sz="1800" dirty="0">
                <a:effectLst/>
                <a:latin typeface="Arial Narrow" panose="020B0606020202030204" pitchFamily="34" charset="0"/>
              </a:rPr>
              <a:t>idade do cliente.</a:t>
            </a:r>
          </a:p>
          <a:p>
            <a:r>
              <a:rPr lang="pt-BR" sz="1200" dirty="0">
                <a:latin typeface="Arial Narrow" panose="020B0606020202030204" pitchFamily="34" charset="0"/>
              </a:rPr>
              <a:t> </a:t>
            </a:r>
            <a:endParaRPr lang="pt-BR" sz="1100" dirty="0">
              <a:effectLst/>
              <a:latin typeface="Arial Narrow" panose="020B0606020202030204" pitchFamily="34" charset="0"/>
            </a:endParaRPr>
          </a:p>
          <a:p>
            <a:r>
              <a:rPr lang="pt-BR" sz="1800" b="1" dirty="0">
                <a:effectLst/>
                <a:latin typeface="Arial Narrow" panose="020B0606020202030204" pitchFamily="34" charset="0"/>
              </a:rPr>
              <a:t>Objetivo: </a:t>
            </a:r>
            <a:r>
              <a:rPr lang="pt-BR" sz="1800" dirty="0">
                <a:effectLst/>
                <a:latin typeface="Arial Narrow" panose="020B0606020202030204" pitchFamily="34" charset="0"/>
              </a:rPr>
              <a:t>Permitir que o modelo identifique padrões em que o risco não cresce ou </a:t>
            </a:r>
            <a:r>
              <a:rPr lang="pt-BR" dirty="0">
                <a:latin typeface="Arial Narrow" panose="020B0606020202030204" pitchFamily="34" charset="0"/>
              </a:rPr>
              <a:t>diminui de forma não linear com a idade a partir da transformação quadrática para capturar efeitos não lineares. A fim de identificar padrões em que o risco não cresce de forma constante, mas sim de maneira acelerada ou desacelerada conforme a idade aumenta.</a:t>
            </a:r>
          </a:p>
          <a:p>
            <a:endParaRPr lang="pt-BR" sz="1800" dirty="0">
              <a:effectLst/>
              <a:latin typeface="Arial Narrow" panose="020B0606020202030204" pitchFamily="34" charset="0"/>
            </a:endParaRPr>
          </a:p>
          <a:p>
            <a:r>
              <a:rPr lang="pt-BR" sz="1800" b="1" dirty="0">
                <a:effectLst/>
                <a:latin typeface="Arial Narrow" panose="020B0606020202030204" pitchFamily="34" charset="0"/>
              </a:rPr>
              <a:t>Exemplo: </a:t>
            </a:r>
            <a:r>
              <a:rPr lang="pt-BR" sz="1800" dirty="0">
                <a:effectLst/>
                <a:latin typeface="Arial Narrow" panose="020B0606020202030204" pitchFamily="34" charset="0"/>
              </a:rPr>
              <a:t>clientes muito jovens e muito idosos podem ter maior risco, enquanto faixas intermediárias podem ser mais estáveis.</a:t>
            </a:r>
          </a:p>
          <a:p>
            <a:endParaRPr lang="pt-BR" sz="1800" dirty="0">
              <a:effectLst/>
              <a:latin typeface="Arial Narrow" panose="020B0606020202030204" pitchFamily="34" charset="0"/>
            </a:endParaRPr>
          </a:p>
          <a:p>
            <a:r>
              <a:rPr lang="pt-BR" sz="1800" dirty="0">
                <a:effectLst/>
                <a:latin typeface="Arial Narrow" panose="020B0606020202030204" pitchFamily="34" charset="0"/>
              </a:rPr>
              <a:t>→  </a:t>
            </a:r>
            <a:r>
              <a:rPr lang="pt-BR" sz="1800" b="1" dirty="0">
                <a:effectLst/>
                <a:latin typeface="Arial Narrow" panose="020B0606020202030204" pitchFamily="34" charset="0"/>
              </a:rPr>
              <a:t>Idades mais baixas </a:t>
            </a:r>
            <a:r>
              <a:rPr lang="pt-BR" sz="1800" dirty="0">
                <a:effectLst/>
                <a:latin typeface="Arial Narrow" panose="020B0606020202030204" pitchFamily="34" charset="0"/>
              </a:rPr>
              <a:t>podem ter risco relativamente alto (pouca experiência financeira).</a:t>
            </a:r>
          </a:p>
          <a:p>
            <a:r>
              <a:rPr lang="pt-BR" sz="1800" dirty="0">
                <a:effectLst/>
                <a:latin typeface="Arial Narrow" panose="020B0606020202030204" pitchFamily="34" charset="0"/>
              </a:rPr>
              <a:t>→  </a:t>
            </a:r>
            <a:r>
              <a:rPr lang="pt-BR" sz="1800" b="1" dirty="0">
                <a:effectLst/>
                <a:latin typeface="Arial Narrow" panose="020B0606020202030204" pitchFamily="34" charset="0"/>
              </a:rPr>
              <a:t>Idades intermediárias </a:t>
            </a:r>
            <a:r>
              <a:rPr lang="pt-BR" sz="1800" dirty="0">
                <a:effectLst/>
                <a:latin typeface="Arial Narrow" panose="020B0606020202030204" pitchFamily="34" charset="0"/>
              </a:rPr>
              <a:t>podem mostrar estabilidade (menor risco).</a:t>
            </a:r>
          </a:p>
          <a:p>
            <a:r>
              <a:rPr lang="pt-BR" sz="1800" dirty="0">
                <a:effectLst/>
                <a:latin typeface="Arial Narrow" panose="020B0606020202030204" pitchFamily="34" charset="0"/>
              </a:rPr>
              <a:t>→  </a:t>
            </a:r>
            <a:r>
              <a:rPr lang="pt-BR" sz="1800" b="1" dirty="0">
                <a:effectLst/>
                <a:latin typeface="Arial Narrow" panose="020B0606020202030204" pitchFamily="34" charset="0"/>
              </a:rPr>
              <a:t>Idades mais altas </a:t>
            </a:r>
            <a:r>
              <a:rPr lang="pt-BR" sz="1800" dirty="0">
                <a:effectLst/>
                <a:latin typeface="Arial Narrow" panose="020B0606020202030204" pitchFamily="34" charset="0"/>
              </a:rPr>
              <a:t>podem voltar a apresentar risco crescente (redução de renda, aposentadoria, etc.).</a:t>
            </a:r>
          </a:p>
          <a:p>
            <a:endParaRPr lang="pt-BR" sz="1800" dirty="0">
              <a:effectLst/>
              <a:latin typeface="Arial Narrow" panose="020B0606020202030204" pitchFamily="34" charset="0"/>
            </a:endParaRPr>
          </a:p>
          <a:p>
            <a:r>
              <a:rPr lang="pt-BR" sz="1800" b="1" dirty="0">
                <a:effectLst/>
                <a:latin typeface="Arial Narrow" panose="020B0606020202030204" pitchFamily="34" charset="0"/>
              </a:rPr>
              <a:t>Interpretação</a:t>
            </a:r>
            <a:r>
              <a:rPr lang="pt-BR" sz="1800" dirty="0">
                <a:effectLst/>
                <a:latin typeface="Arial Narrow" panose="020B0606020202030204" pitchFamily="34" charset="0"/>
              </a:rPr>
              <a:t>: AGE² adiciona curvatura, permitindo que o modelo diferencie extremos da idade. Isso ajuda a representar cenários em que o risco é baixo em idades médias, mas aumenta nos extremos.</a:t>
            </a:r>
            <a:endParaRPr lang="pt-BR" dirty="0"/>
          </a:p>
          <a:p>
            <a:endParaRPr lang="pt-BR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06541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C92FF5F3-69BE-4874-A7C9-3907BD6950BC}"/>
              </a:ext>
            </a:extLst>
          </p:cNvPr>
          <p:cNvSpPr/>
          <p:nvPr/>
        </p:nvSpPr>
        <p:spPr>
          <a:xfrm>
            <a:off x="-786" y="-19729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101A53B-008C-426B-AFD0-31FEAF23EC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9307289-4A8A-47F9-824C-C1FCFB380550}"/>
              </a:ext>
            </a:extLst>
          </p:cNvPr>
          <p:cNvSpPr txBox="1"/>
          <p:nvPr/>
        </p:nvSpPr>
        <p:spPr>
          <a:xfrm>
            <a:off x="301253" y="223999"/>
            <a:ext cx="88238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Feature</a:t>
            </a:r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pt-BR" sz="28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Engineering</a:t>
            </a:r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 | Razão Financeira (</a:t>
            </a:r>
            <a:r>
              <a:rPr lang="pt-BR" sz="28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feature</a:t>
            </a:r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derivada)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14BA8872-E311-4ADC-B623-50C99AD47306}"/>
                  </a:ext>
                </a:extLst>
              </p:cNvPr>
              <p:cNvSpPr txBox="1"/>
              <p:nvPr/>
            </p:nvSpPr>
            <p:spPr>
              <a:xfrm>
                <a:off x="120688" y="1436744"/>
                <a:ext cx="11917543" cy="51153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900" b="1" dirty="0">
                    <a:latin typeface="Arial Narrow" panose="020B0606020202030204" pitchFamily="34" charset="0"/>
                  </a:rPr>
                  <a:t>UTILIZACAO_1 a UTILIZACAO_ 6</a:t>
                </a:r>
                <a:br>
                  <a:rPr lang="pt-BR" sz="1900" b="1" dirty="0">
                    <a:highlight>
                      <a:srgbClr val="00FF00"/>
                    </a:highlight>
                    <a:latin typeface="Arial Narrow" panose="020B0606020202030204" pitchFamily="34" charset="0"/>
                  </a:rPr>
                </a:br>
                <a:r>
                  <a:rPr lang="pt-BR" sz="1900" b="1" dirty="0">
                    <a:latin typeface="Arial Narrow" panose="020B0606020202030204" pitchFamily="34" charset="0"/>
                  </a:rPr>
                  <a:t>Definição:  </a:t>
                </a:r>
                <a:r>
                  <a:rPr lang="pt-BR" sz="1900" dirty="0">
                    <a:latin typeface="Arial Narrow" panose="020B0606020202030204" pitchFamily="34" charset="0"/>
                  </a:rPr>
                  <a:t>Taxa de utilização do limite de crédito em cada mês do histórico do cliente. Cada variável é calculada como: </a:t>
                </a:r>
                <a:r>
                  <a:rPr lang="pt-BR" sz="1000" dirty="0">
                    <a:latin typeface="Arial Narrow" panose="020B0606020202030204" pitchFamily="34" charset="0"/>
                  </a:rPr>
                  <a:t>	​	</a:t>
                </a:r>
                <a:r>
                  <a:rPr lang="pt-BR" sz="600" dirty="0">
                    <a:latin typeface="Arial Narrow" panose="020B0606020202030204" pitchFamily="34" charset="0"/>
                  </a:rPr>
                  <a:t>     </a:t>
                </a:r>
              </a:p>
              <a:p>
                <a:pPr algn="ctr"/>
                <a:r>
                  <a:rPr lang="pt-BR" dirty="0">
                    <a:latin typeface="Cambria Math" panose="02040503050406030204" pitchFamily="18" charset="0"/>
                  </a:rPr>
                  <a:t> ​</a:t>
                </a:r>
                <a:r>
                  <a:rPr lang="pt-BR" i="1" dirty="0">
                    <a:latin typeface="Cambria Math" panose="02040503050406030204" pitchFamily="18" charset="0"/>
                  </a:rPr>
                  <a:t>UTILIZACAOi=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𝐵𝐼𝐿𝐿</m:t>
                        </m:r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𝐴𝑀𝑇</m:t>
                        </m:r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m:rPr>
                            <m:nor/>
                          </m:rPr>
                          <a:rPr lang="pt-BR" i="1">
                            <a:latin typeface="Cambria Math" panose="02040503050406030204" pitchFamily="18" charset="0"/>
                          </a:rPr>
                          <m:t>LIMIT</m:t>
                        </m:r>
                        <m:r>
                          <m:rPr>
                            <m:nor/>
                          </m:rPr>
                          <a:rPr lang="pt-BR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m:rPr>
                            <m:nor/>
                          </m:rPr>
                          <a:rPr lang="pt-BR" i="1">
                            <a:latin typeface="Cambria Math" panose="02040503050406030204" pitchFamily="18" charset="0"/>
                          </a:rPr>
                          <m:t>BALL</m:t>
                        </m:r>
                        <m:r>
                          <m:rPr>
                            <m:nor/>
                          </m:rPr>
                          <a:rPr lang="pt-BR" i="1">
                            <a:latin typeface="Cambria Math" panose="02040503050406030204" pitchFamily="18" charset="0"/>
                          </a:rPr>
                          <m:t>​​  </m:t>
                        </m:r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	​	​</m:t>
                        </m:r>
                      </m:den>
                    </m:f>
                  </m:oMath>
                </a14:m>
                <a:r>
                  <a:rPr lang="pt-BR" i="1" dirty="0">
                    <a:latin typeface="Cambria Math" panose="02040503050406030204" pitchFamily="18" charset="0"/>
                  </a:rPr>
                  <a:t> </a:t>
                </a:r>
              </a:p>
              <a:p>
                <a:r>
                  <a:rPr lang="pt-BR" sz="1100" dirty="0">
                    <a:latin typeface="Cambria Math" panose="02040503050406030204" pitchFamily="18" charset="0"/>
                  </a:rPr>
                  <a:t>   </a:t>
                </a:r>
              </a:p>
              <a:p>
                <a:r>
                  <a:rPr lang="pt-BR" sz="1900" b="1" dirty="0">
                    <a:latin typeface="Arial Narrow" panose="020B0606020202030204" pitchFamily="34" charset="0"/>
                  </a:rPr>
                  <a:t>Onde: </a:t>
                </a:r>
                <a:r>
                  <a:rPr lang="pt-BR" sz="1900" dirty="0">
                    <a:latin typeface="Arial Narrow" panose="020B0606020202030204" pitchFamily="34" charset="0"/>
                  </a:rPr>
                  <a:t>𝐵𝐼𝐿𝐿_𝐴𝑀𝑇_𝑖 é o valor da fatura no mês e</a:t>
                </a:r>
                <a:r>
                  <a:rPr lang="pt-BR" sz="1900" i="1" dirty="0">
                    <a:latin typeface="Arial Narrow" panose="020B0606020202030204" pitchFamily="34" charset="0"/>
                  </a:rPr>
                  <a:t> LIMIT_BALL​​ </a:t>
                </a:r>
                <a:r>
                  <a:rPr lang="pt-BR" sz="1900" dirty="0">
                    <a:latin typeface="Arial Narrow" panose="020B0606020202030204" pitchFamily="34" charset="0"/>
                  </a:rPr>
                  <a:t>é o limite de crédito concedido ao cliente</a:t>
                </a:r>
              </a:p>
              <a:p>
                <a:endParaRPr lang="pt-BR" sz="1050" dirty="0">
                  <a:latin typeface="Arial Narrow" panose="020B0606020202030204" pitchFamily="34" charset="0"/>
                </a:endParaRPr>
              </a:p>
              <a:p>
                <a:r>
                  <a:rPr lang="pt-BR" sz="1900" b="1" dirty="0">
                    <a:latin typeface="Arial Narrow" panose="020B0606020202030204" pitchFamily="34" charset="0"/>
                  </a:rPr>
                  <a:t>Objetivo:</a:t>
                </a:r>
              </a:p>
              <a:p>
                <a:pPr algn="just"/>
                <a:r>
                  <a:rPr lang="pt-BR" sz="1900" dirty="0">
                    <a:latin typeface="Arial Narrow" panose="020B0606020202030204" pitchFamily="34" charset="0"/>
                  </a:rPr>
                  <a:t>Mensurar o nível de utilização do limite de crédito mês a mês, permitindo acompanhar a exposição financeira do cliente ao longo do tempo. Essas variáveis servem como base para a construção de métricas agregadas, como média, volatilidade, tendência e concentração do uso de crédito.</a:t>
                </a:r>
              </a:p>
              <a:p>
                <a:pPr algn="just"/>
                <a:r>
                  <a:rPr lang="pt-BR" sz="2000" dirty="0">
                    <a:latin typeface="Arial Narrow" panose="020B0606020202030204" pitchFamily="34" charset="0"/>
                  </a:rPr>
                  <a:t> </a:t>
                </a:r>
              </a:p>
              <a:p>
                <a:r>
                  <a:rPr lang="pt-BR" sz="1900" b="1" dirty="0">
                    <a:latin typeface="Arial Narrow" panose="020B0606020202030204" pitchFamily="34" charset="0"/>
                  </a:rPr>
                  <a:t>Interpretação:</a:t>
                </a:r>
              </a:p>
              <a:p>
                <a:r>
                  <a:rPr lang="pt-BR" sz="1900" b="1" dirty="0">
                    <a:latin typeface="Arial Narrow" panose="020B0606020202030204" pitchFamily="34" charset="0"/>
                  </a:rPr>
                  <a:t>Valores próximos de 0 →</a:t>
                </a:r>
                <a:r>
                  <a:rPr lang="pt-BR" sz="1900" dirty="0">
                    <a:latin typeface="Arial Narrow" panose="020B0606020202030204" pitchFamily="34" charset="0"/>
                  </a:rPr>
                  <a:t> cliente utiliza pouco ou não utiliza o limite de crédito no período.</a:t>
                </a:r>
              </a:p>
              <a:p>
                <a:r>
                  <a:rPr lang="pt-BR" sz="1900" b="1" dirty="0">
                    <a:latin typeface="Arial Narrow" panose="020B0606020202030204" pitchFamily="34" charset="0"/>
                  </a:rPr>
                  <a:t>Valores intermediários (ex.: 0,3 a 0,6) → </a:t>
                </a:r>
                <a:r>
                  <a:rPr lang="pt-BR" sz="1900" dirty="0">
                    <a:latin typeface="Arial Narrow" panose="020B0606020202030204" pitchFamily="34" charset="0"/>
                  </a:rPr>
                  <a:t>cliente utiliza uma parcela relevante do limite disponível.</a:t>
                </a:r>
              </a:p>
              <a:p>
                <a:r>
                  <a:rPr lang="pt-BR" sz="1900" b="1" dirty="0">
                    <a:latin typeface="Arial Narrow" panose="020B0606020202030204" pitchFamily="34" charset="0"/>
                  </a:rPr>
                  <a:t>Valores próximos de 1 → </a:t>
                </a:r>
                <a:r>
                  <a:rPr lang="pt-BR" sz="1900" dirty="0">
                    <a:latin typeface="Arial Narrow" panose="020B0606020202030204" pitchFamily="34" charset="0"/>
                  </a:rPr>
                  <a:t>cliente opera próximo ao limite de crédito.</a:t>
                </a:r>
              </a:p>
              <a:p>
                <a:r>
                  <a:rPr lang="pt-BR" sz="1900" b="1" dirty="0">
                    <a:latin typeface="Arial Narrow" panose="020B0606020202030204" pitchFamily="34" charset="0"/>
                  </a:rPr>
                  <a:t>Valores superiores a 1 → </a:t>
                </a:r>
                <a:r>
                  <a:rPr lang="pt-BR" sz="1900" dirty="0">
                    <a:latin typeface="Arial Narrow" panose="020B0606020202030204" pitchFamily="34" charset="0"/>
                  </a:rPr>
                  <a:t>saldo da fatura excede o limite originalmente concedido, podendo refletir juros, encargos, excesso de limite ou acúmulo de saldo devedor.</a:t>
                </a:r>
              </a:p>
            </p:txBody>
          </p:sp>
        </mc:Choice>
        <mc:Fallback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14BA8872-E311-4ADC-B623-50C99AD473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688" y="1436744"/>
                <a:ext cx="11917543" cy="5115375"/>
              </a:xfrm>
              <a:prstGeom prst="rect">
                <a:avLst/>
              </a:prstGeom>
              <a:blipFill>
                <a:blip r:embed="rId3"/>
                <a:stretch>
                  <a:fillRect l="-512" t="-596" r="-460" b="-107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DCDE8C31-8537-410E-A4F0-2962FB819065}"/>
              </a:ext>
            </a:extLst>
          </p:cNvPr>
          <p:cNvSpPr txBox="1"/>
          <p:nvPr/>
        </p:nvSpPr>
        <p:spPr>
          <a:xfrm>
            <a:off x="136442" y="913524"/>
            <a:ext cx="60991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Numérica Contínua</a:t>
            </a:r>
          </a:p>
        </p:txBody>
      </p:sp>
    </p:spTree>
    <p:extLst>
      <p:ext uri="{BB962C8B-B14F-4D97-AF65-F5344CB8AC3E}">
        <p14:creationId xmlns:p14="http://schemas.microsoft.com/office/powerpoint/2010/main" val="29043392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C92FF5F3-69BE-4874-A7C9-3907BD6950BC}"/>
              </a:ext>
            </a:extLst>
          </p:cNvPr>
          <p:cNvSpPr/>
          <p:nvPr/>
        </p:nvSpPr>
        <p:spPr>
          <a:xfrm>
            <a:off x="-786" y="-19729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101A53B-008C-426B-AFD0-31FEAF23EC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9307289-4A8A-47F9-824C-C1FCFB380550}"/>
              </a:ext>
            </a:extLst>
          </p:cNvPr>
          <p:cNvSpPr txBox="1"/>
          <p:nvPr/>
        </p:nvSpPr>
        <p:spPr>
          <a:xfrm>
            <a:off x="301253" y="223999"/>
            <a:ext cx="882389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Feature</a:t>
            </a:r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pt-BR" sz="28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Engineering</a:t>
            </a:r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 | Razão Financeira (</a:t>
            </a:r>
            <a:r>
              <a:rPr lang="pt-BR" sz="28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feature</a:t>
            </a:r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derivada)</a:t>
            </a:r>
          </a:p>
          <a:p>
            <a:endParaRPr lang="pt-BR" sz="2800" dirty="0">
              <a:solidFill>
                <a:schemeClr val="bg1"/>
              </a:solidFill>
              <a:latin typeface="Franklin Gothic Medium Cond" panose="020B060603040202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14BA8872-E311-4ADC-B623-50C99AD47306}"/>
                  </a:ext>
                </a:extLst>
              </p:cNvPr>
              <p:cNvSpPr txBox="1"/>
              <p:nvPr/>
            </p:nvSpPr>
            <p:spPr>
              <a:xfrm>
                <a:off x="120688" y="1412333"/>
                <a:ext cx="11917543" cy="53892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b="1" dirty="0">
                    <a:latin typeface="Arial Narrow" panose="020B0606020202030204" pitchFamily="34" charset="0"/>
                  </a:rPr>
                  <a:t>PROP_PAGAMENTO_1 a PROP_PAGAMENTO_6</a:t>
                </a:r>
              </a:p>
              <a:p>
                <a:r>
                  <a:rPr lang="pt-BR" sz="1000" b="1" dirty="0">
                    <a:highlight>
                      <a:srgbClr val="00FF00"/>
                    </a:highlight>
                    <a:latin typeface="Arial Narrow" panose="020B0606020202030204" pitchFamily="34" charset="0"/>
                  </a:rPr>
                  <a:t>   </a:t>
                </a:r>
                <a:br>
                  <a:rPr lang="pt-BR" sz="2000" b="1" dirty="0">
                    <a:highlight>
                      <a:srgbClr val="00FF00"/>
                    </a:highlight>
                    <a:latin typeface="Arial Narrow" panose="020B0606020202030204" pitchFamily="34" charset="0"/>
                  </a:rPr>
                </a:br>
                <a:r>
                  <a:rPr lang="pt-BR" b="1" dirty="0">
                    <a:latin typeface="Arial Narrow" panose="020B0606020202030204" pitchFamily="34" charset="0"/>
                  </a:rPr>
                  <a:t>Definição:  </a:t>
                </a:r>
                <a:r>
                  <a:rPr lang="pt-BR" dirty="0">
                    <a:latin typeface="Arial Narrow" panose="020B0606020202030204" pitchFamily="34" charset="0"/>
                  </a:rPr>
                  <a:t>Proporção do valor pago em relação ao limite de crédito em cada mês do histórico do cliente.</a:t>
                </a:r>
              </a:p>
              <a:p>
                <a:r>
                  <a:rPr lang="pt-BR" dirty="0">
                    <a:latin typeface="Arial Narrow" panose="020B0606020202030204" pitchFamily="34" charset="0"/>
                  </a:rPr>
                  <a:t>Cada variável é calculada como:</a:t>
                </a:r>
              </a:p>
              <a:p>
                <a:r>
                  <a:rPr lang="pt-BR" sz="800" dirty="0">
                    <a:latin typeface="Arial Narrow" panose="020B0606020202030204" pitchFamily="34" charset="0"/>
                  </a:rPr>
                  <a:t>    </a:t>
                </a:r>
              </a:p>
              <a:p>
                <a:pPr algn="ctr"/>
                <a:r>
                  <a:rPr lang="pt-BR" sz="1400" i="1" dirty="0">
                    <a:latin typeface="Cambria Math" panose="02040503050406030204" pitchFamily="18" charset="0"/>
                  </a:rPr>
                  <a:t>PROP_PAGAMENTOi​ =</a:t>
                </a:r>
                <a14:m>
                  <m:oMath xmlns:m="http://schemas.openxmlformats.org/officeDocument/2006/math">
                    <m:r>
                      <a:rPr lang="pt-BR" sz="1400" i="1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pt-BR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1400" i="1">
                            <a:latin typeface="Cambria Math" panose="02040503050406030204" pitchFamily="18" charset="0"/>
                          </a:rPr>
                          <m:t>𝑃𝐴𝑌</m:t>
                        </m:r>
                        <m:r>
                          <a:rPr lang="pt-BR" sz="1400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pt-BR" sz="1400" i="1">
                            <a:latin typeface="Cambria Math" panose="02040503050406030204" pitchFamily="18" charset="0"/>
                          </a:rPr>
                          <m:t>𝐴𝑀𝑇𝑖</m:t>
                        </m:r>
                        <m:r>
                          <a:rPr lang="pt-BR" sz="1400" i="1">
                            <a:latin typeface="Cambria Math" panose="02040503050406030204" pitchFamily="18" charset="0"/>
                          </a:rPr>
                          <m:t>​</m:t>
                        </m:r>
                      </m:num>
                      <m:den>
                        <m:r>
                          <m:rPr>
                            <m:nor/>
                          </m:rPr>
                          <a:rPr lang="pt-BR" sz="1400" i="1">
                            <a:latin typeface="Cambria Math" panose="02040503050406030204" pitchFamily="18" charset="0"/>
                          </a:rPr>
                          <m:t>LIMIT</m:t>
                        </m:r>
                        <m:r>
                          <m:rPr>
                            <m:nor/>
                          </m:rPr>
                          <a:rPr lang="pt-BR" sz="1400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m:rPr>
                            <m:nor/>
                          </m:rPr>
                          <a:rPr lang="pt-BR" sz="1400" i="1">
                            <a:latin typeface="Cambria Math" panose="02040503050406030204" pitchFamily="18" charset="0"/>
                          </a:rPr>
                          <m:t>BALL</m:t>
                        </m:r>
                        <m:r>
                          <m:rPr>
                            <m:nor/>
                          </m:rPr>
                          <a:rPr lang="pt-BR" sz="1400" i="1">
                            <a:latin typeface="Cambria Math" panose="02040503050406030204" pitchFamily="18" charset="0"/>
                          </a:rPr>
                          <m:t>​​  </m:t>
                        </m:r>
                        <m:r>
                          <a:rPr lang="pt-BR" sz="1400" i="1">
                            <a:latin typeface="Cambria Math" panose="02040503050406030204" pitchFamily="18" charset="0"/>
                          </a:rPr>
                          <m:t>	​	​</m:t>
                        </m:r>
                      </m:den>
                    </m:f>
                  </m:oMath>
                </a14:m>
                <a:endParaRPr lang="pt-BR" sz="1200" i="1" dirty="0">
                  <a:latin typeface="Cambria Math" panose="02040503050406030204" pitchFamily="18" charset="0"/>
                </a:endParaRPr>
              </a:p>
              <a:p>
                <a:r>
                  <a:rPr lang="pt-BR" sz="900" dirty="0">
                    <a:latin typeface="Arial Narrow" panose="020B0606020202030204" pitchFamily="34" charset="0"/>
                  </a:rPr>
                  <a:t>    </a:t>
                </a:r>
              </a:p>
              <a:p>
                <a:r>
                  <a:rPr lang="pt-BR" dirty="0">
                    <a:latin typeface="Arial Narrow" panose="020B0606020202030204" pitchFamily="34" charset="0"/>
                  </a:rPr>
                  <a:t>onde: </a:t>
                </a:r>
                <a:endParaRPr lang="pt-BR" sz="1400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1400" i="1" smtClean="0">
                        <a:latin typeface="Cambria Math" panose="02040503050406030204" pitchFamily="18" charset="0"/>
                      </a:rPr>
                      <m:t>𝑃𝐴𝑌</m:t>
                    </m:r>
                    <m:r>
                      <a:rPr lang="pt-BR" sz="140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pt-BR" sz="1400" i="1" smtClean="0">
                        <a:latin typeface="Cambria Math" panose="02040503050406030204" pitchFamily="18" charset="0"/>
                      </a:rPr>
                      <m:t>𝐴𝑀𝑇𝑖</m:t>
                    </m:r>
                    <m:r>
                      <a:rPr lang="pt-BR" sz="1400" i="1" smtClean="0">
                        <a:latin typeface="Cambria Math" panose="02040503050406030204" pitchFamily="18" charset="0"/>
                      </a:rPr>
                      <m:t>​ </m:t>
                    </m:r>
                  </m:oMath>
                </a14:m>
                <a:r>
                  <a:rPr lang="pt-BR" dirty="0">
                    <a:latin typeface="Arial Narrow" panose="020B0606020202030204" pitchFamily="34" charset="0"/>
                  </a:rPr>
                  <a:t>=</a:t>
                </a:r>
                <a:r>
                  <a:rPr lang="pt-BR" sz="2400" dirty="0">
                    <a:latin typeface="Arial Narrow" panose="020B0606020202030204" pitchFamily="34" charset="0"/>
                  </a:rPr>
                  <a:t> </a:t>
                </a:r>
                <a:r>
                  <a:rPr lang="pt-BR" dirty="0">
                    <a:latin typeface="Arial Narrow" panose="020B0606020202030204" pitchFamily="34" charset="0"/>
                  </a:rPr>
                  <a:t>valor efetivamente pago no mês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pt-BR" sz="1200" i="1">
                        <a:latin typeface="Cambria Math" panose="02040503050406030204" pitchFamily="18" charset="0"/>
                      </a:rPr>
                      <m:t>LIMIT</m:t>
                    </m:r>
                    <m:r>
                      <m:rPr>
                        <m:nor/>
                      </m:rPr>
                      <a:rPr lang="pt-BR" sz="1200" i="1">
                        <a:latin typeface="Cambria Math" panose="02040503050406030204" pitchFamily="18" charset="0"/>
                      </a:rPr>
                      <m:t>_</m:t>
                    </m:r>
                    <m:r>
                      <m:rPr>
                        <m:nor/>
                      </m:rPr>
                      <a:rPr lang="pt-BR" sz="1200" i="1">
                        <a:latin typeface="Cambria Math" panose="02040503050406030204" pitchFamily="18" charset="0"/>
                      </a:rPr>
                      <m:t>BALL</m:t>
                    </m:r>
                    <m:r>
                      <a:rPr lang="pt-BR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dirty="0">
                    <a:latin typeface="Arial Narrow" panose="020B0606020202030204" pitchFamily="34" charset="0"/>
                  </a:rPr>
                  <a:t>= limite de crédito concedido ao cliente</a:t>
                </a:r>
                <a:endParaRPr lang="pt-BR" dirty="0">
                  <a:latin typeface="Cambria Math" panose="02040503050406030204" pitchFamily="18" charset="0"/>
                </a:endParaRPr>
              </a:p>
              <a:p>
                <a:r>
                  <a:rPr lang="pt-BR" sz="1050" dirty="0">
                    <a:latin typeface="Cambria Math" panose="02040503050406030204" pitchFamily="18" charset="0"/>
                  </a:rPr>
                  <a:t>  </a:t>
                </a:r>
                <a:endParaRPr lang="pt-BR" sz="1000" dirty="0">
                  <a:latin typeface="Arial Narrow" panose="020B0606020202030204" pitchFamily="34" charset="0"/>
                </a:endParaRPr>
              </a:p>
              <a:p>
                <a:pPr algn="just"/>
                <a:r>
                  <a:rPr lang="pt-BR" b="1" dirty="0">
                    <a:latin typeface="Arial Narrow" panose="020B0606020202030204" pitchFamily="34" charset="0"/>
                  </a:rPr>
                  <a:t>Objetivo:</a:t>
                </a:r>
              </a:p>
              <a:p>
                <a:pPr algn="just"/>
                <a:r>
                  <a:rPr lang="pt-BR" dirty="0">
                    <a:latin typeface="Arial Narrow" panose="020B0606020202030204" pitchFamily="34" charset="0"/>
                  </a:rPr>
                  <a:t>Mensurar o esforço de pagamento do cliente em relação à sua capacidade de crédito disponível. Essa variável permite avaliar quanto do limite concedido é convertido em pagamentos ao longo do tempo, servindo como base para análises de comportamento financeiro e construção de métricas agregadas de pagamento. </a:t>
                </a:r>
              </a:p>
              <a:p>
                <a:pPr algn="just"/>
                <a:r>
                  <a:rPr lang="pt-BR" sz="900" dirty="0">
                    <a:latin typeface="Arial Narrow" panose="020B0606020202030204" pitchFamily="34" charset="0"/>
                  </a:rPr>
                  <a:t>   </a:t>
                </a:r>
              </a:p>
              <a:p>
                <a:r>
                  <a:rPr lang="pt-BR" b="1" dirty="0">
                    <a:latin typeface="Arial Narrow" panose="020B0606020202030204" pitchFamily="34" charset="0"/>
                  </a:rPr>
                  <a:t>Interpretação:</a:t>
                </a:r>
              </a:p>
              <a:p>
                <a:r>
                  <a:rPr lang="pt-BR" b="1" dirty="0">
                    <a:latin typeface="Arial Narrow" panose="020B0606020202030204" pitchFamily="34" charset="0"/>
                  </a:rPr>
                  <a:t>Valores próximos de 0 </a:t>
                </a:r>
                <a:r>
                  <a:rPr lang="pt-BR" dirty="0">
                    <a:latin typeface="Arial Narrow" panose="020B0606020202030204" pitchFamily="34" charset="0"/>
                  </a:rPr>
                  <a:t>→ cliente realiza pagamentos muito baixos em relação ao limite disponível.</a:t>
                </a:r>
              </a:p>
              <a:p>
                <a:r>
                  <a:rPr lang="pt-BR" b="1" dirty="0">
                    <a:latin typeface="Arial Narrow" panose="020B0606020202030204" pitchFamily="34" charset="0"/>
                  </a:rPr>
                  <a:t>Valores intermediários </a:t>
                </a:r>
                <a:r>
                  <a:rPr lang="pt-BR" dirty="0">
                    <a:latin typeface="Arial Narrow" panose="020B0606020202030204" pitchFamily="34" charset="0"/>
                  </a:rPr>
                  <a:t>→ cliente apresenta esforço de pagamento moderado em relação ao limite.</a:t>
                </a:r>
              </a:p>
              <a:p>
                <a:r>
                  <a:rPr lang="pt-BR" b="1" dirty="0">
                    <a:latin typeface="Arial Narrow" panose="020B0606020202030204" pitchFamily="34" charset="0"/>
                  </a:rPr>
                  <a:t>Valores altos </a:t>
                </a:r>
                <a:r>
                  <a:rPr lang="pt-BR" dirty="0">
                    <a:latin typeface="Arial Narrow" panose="020B0606020202030204" pitchFamily="34" charset="0"/>
                  </a:rPr>
                  <a:t>→ cliente realiza pagamentos elevados em relação ao limite, podendo indicar quitação relevante de saldo ou comportamento atípico de pagamento.</a:t>
                </a:r>
              </a:p>
            </p:txBody>
          </p:sp>
        </mc:Choice>
        <mc:Fallback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14BA8872-E311-4ADC-B623-50C99AD473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688" y="1412333"/>
                <a:ext cx="11917543" cy="5389232"/>
              </a:xfrm>
              <a:prstGeom prst="rect">
                <a:avLst/>
              </a:prstGeom>
              <a:blipFill>
                <a:blip r:embed="rId3"/>
                <a:stretch>
                  <a:fillRect l="-460" t="-566" r="-409" b="-90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DCDE8C31-8537-410E-A4F0-2962FB819065}"/>
              </a:ext>
            </a:extLst>
          </p:cNvPr>
          <p:cNvSpPr txBox="1"/>
          <p:nvPr/>
        </p:nvSpPr>
        <p:spPr>
          <a:xfrm>
            <a:off x="136442" y="913524"/>
            <a:ext cx="60991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Numérica Contínua</a:t>
            </a:r>
          </a:p>
        </p:txBody>
      </p:sp>
    </p:spTree>
    <p:extLst>
      <p:ext uri="{BB962C8B-B14F-4D97-AF65-F5344CB8AC3E}">
        <p14:creationId xmlns:p14="http://schemas.microsoft.com/office/powerpoint/2010/main" val="20987890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C92FF5F3-69BE-4874-A7C9-3907BD6950BC}"/>
              </a:ext>
            </a:extLst>
          </p:cNvPr>
          <p:cNvSpPr/>
          <p:nvPr/>
        </p:nvSpPr>
        <p:spPr>
          <a:xfrm>
            <a:off x="-786" y="-19729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101A53B-008C-426B-AFD0-31FEAF23EC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9307289-4A8A-47F9-824C-C1FCFB380550}"/>
              </a:ext>
            </a:extLst>
          </p:cNvPr>
          <p:cNvSpPr txBox="1"/>
          <p:nvPr/>
        </p:nvSpPr>
        <p:spPr>
          <a:xfrm>
            <a:off x="301253" y="223999"/>
            <a:ext cx="88238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Feature</a:t>
            </a:r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pt-BR" sz="28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Engineering</a:t>
            </a:r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 | Derivação Financeira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14BA8872-E311-4ADC-B623-50C99AD47306}"/>
                  </a:ext>
                </a:extLst>
              </p:cNvPr>
              <p:cNvSpPr txBox="1"/>
              <p:nvPr/>
            </p:nvSpPr>
            <p:spPr>
              <a:xfrm>
                <a:off x="120688" y="1412333"/>
                <a:ext cx="11917543" cy="54892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b="1" dirty="0">
                    <a:latin typeface="Arial Narrow" panose="020B0606020202030204" pitchFamily="34" charset="0"/>
                  </a:rPr>
                  <a:t>ENDIVIDAMENTO_1 a ENDIVIDAMENTO_6</a:t>
                </a:r>
              </a:p>
              <a:p>
                <a:endParaRPr lang="pt-BR" sz="1600" b="1" dirty="0">
                  <a:highlight>
                    <a:srgbClr val="FF0000"/>
                  </a:highlight>
                  <a:latin typeface="Arial Narrow" panose="020B0606020202030204" pitchFamily="34" charset="0"/>
                </a:endParaRPr>
              </a:p>
              <a:p>
                <a:r>
                  <a:rPr lang="pt-BR" sz="1700" b="1" dirty="0">
                    <a:latin typeface="Arial Narrow" panose="020B0606020202030204" pitchFamily="34" charset="0"/>
                  </a:rPr>
                  <a:t>Definição:  </a:t>
                </a:r>
                <a:r>
                  <a:rPr lang="pt-BR" sz="1700" dirty="0">
                    <a:latin typeface="Arial Narrow" panose="020B0606020202030204" pitchFamily="34" charset="0"/>
                  </a:rPr>
                  <a:t>Razão entre o valor da fatura do mês e o limite total de crédito disponível para o cliente.</a:t>
                </a:r>
              </a:p>
              <a:p>
                <a:r>
                  <a:rPr lang="pt-BR" sz="1700" dirty="0">
                    <a:latin typeface="Arial Narrow" panose="020B0606020202030204" pitchFamily="34" charset="0"/>
                  </a:rPr>
                  <a:t>Para cada mês:</a:t>
                </a:r>
              </a:p>
              <a:p>
                <a:r>
                  <a:rPr lang="pt-BR" sz="700" dirty="0">
                    <a:latin typeface="Arial Narrow" panose="020B0606020202030204" pitchFamily="34" charset="0"/>
                  </a:rPr>
                  <a:t>    </a:t>
                </a:r>
              </a:p>
              <a:p>
                <a:pPr algn="ctr"/>
                <a:r>
                  <a:rPr lang="pt-BR" sz="1400" i="1" dirty="0">
                    <a:latin typeface="Cambria Math" panose="02040503050406030204" pitchFamily="18" charset="0"/>
                  </a:rPr>
                  <a:t>ENDIVIDAMENTOi​=</a:t>
                </a:r>
                <a14:m>
                  <m:oMath xmlns:m="http://schemas.openxmlformats.org/officeDocument/2006/math">
                    <m:r>
                      <a:rPr lang="pt-BR" sz="1400" i="1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pt-BR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1400" i="1">
                            <a:latin typeface="Cambria Math" panose="02040503050406030204" pitchFamily="18" charset="0"/>
                          </a:rPr>
                          <m:t>𝐵𝐼𝐿𝐿</m:t>
                        </m:r>
                        <m:r>
                          <a:rPr lang="pt-BR" sz="1400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pt-BR" sz="1400" i="1">
                            <a:latin typeface="Cambria Math" panose="02040503050406030204" pitchFamily="18" charset="0"/>
                          </a:rPr>
                          <m:t>𝐴𝑀𝑇𝑖</m:t>
                        </m:r>
                        <m:r>
                          <a:rPr lang="pt-BR" sz="1400" i="1">
                            <a:latin typeface="Cambria Math" panose="02040503050406030204" pitchFamily="18" charset="0"/>
                          </a:rPr>
                          <m:t>​​</m:t>
                        </m:r>
                      </m:num>
                      <m:den>
                        <m:r>
                          <m:rPr>
                            <m:nor/>
                          </m:rPr>
                          <a:rPr lang="pt-BR" sz="1400" b="0" i="1" smtClean="0">
                            <a:latin typeface="Cambria Math" panose="02040503050406030204" pitchFamily="18" charset="0"/>
                          </a:rPr>
                          <m:t>LIMIT</m:t>
                        </m:r>
                        <m:r>
                          <m:rPr>
                            <m:nor/>
                          </m:rPr>
                          <a:rPr lang="pt-BR" sz="1400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m:rPr>
                            <m:nor/>
                          </m:rPr>
                          <a:rPr lang="pt-BR" sz="1400" b="0" i="1" smtClean="0">
                            <a:latin typeface="Cambria Math" panose="02040503050406030204" pitchFamily="18" charset="0"/>
                          </a:rPr>
                          <m:t>BALL</m:t>
                        </m:r>
                        <m:r>
                          <m:rPr>
                            <m:nor/>
                          </m:rPr>
                          <a:rPr lang="pt-BR" sz="1400" i="1">
                            <a:latin typeface="Cambria Math" panose="02040503050406030204" pitchFamily="18" charset="0"/>
                          </a:rPr>
                          <m:t>​​  </m:t>
                        </m:r>
                        <m:r>
                          <a:rPr lang="pt-BR" sz="1400" i="1">
                            <a:latin typeface="Cambria Math" panose="02040503050406030204" pitchFamily="18" charset="0"/>
                          </a:rPr>
                          <m:t>	​	​</m:t>
                        </m:r>
                      </m:den>
                    </m:f>
                  </m:oMath>
                </a14:m>
                <a:endParaRPr lang="pt-BR" sz="1100" i="1" dirty="0">
                  <a:latin typeface="Cambria Math" panose="02040503050406030204" pitchFamily="18" charset="0"/>
                </a:endParaRPr>
              </a:p>
              <a:p>
                <a:r>
                  <a:rPr lang="pt-BR" sz="800" dirty="0">
                    <a:latin typeface="Arial Narrow" panose="020B0606020202030204" pitchFamily="34" charset="0"/>
                  </a:rPr>
                  <a:t>    </a:t>
                </a:r>
              </a:p>
              <a:p>
                <a:r>
                  <a:rPr lang="pt-BR" sz="1700" dirty="0">
                    <a:latin typeface="Arial Narrow" panose="020B0606020202030204" pitchFamily="34" charset="0"/>
                  </a:rPr>
                  <a:t>onde: </a:t>
                </a:r>
                <a:endParaRPr lang="pt-BR" sz="1700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1200" i="1">
                        <a:latin typeface="Cambria Math" panose="02040503050406030204" pitchFamily="18" charset="0"/>
                      </a:rPr>
                      <m:t>𝐵𝐼𝐿𝐿</m:t>
                    </m:r>
                    <m:r>
                      <a:rPr lang="pt-BR" sz="1200" i="1">
                        <a:latin typeface="Cambria Math" panose="02040503050406030204" pitchFamily="18" charset="0"/>
                      </a:rPr>
                      <m:t>_</m:t>
                    </m:r>
                    <m:r>
                      <a:rPr lang="pt-BR" sz="1200" i="1">
                        <a:latin typeface="Cambria Math" panose="02040503050406030204" pitchFamily="18" charset="0"/>
                      </a:rPr>
                      <m:t>𝐴𝑀𝑇𝑖</m:t>
                    </m:r>
                  </m:oMath>
                </a14:m>
                <a:r>
                  <a:rPr lang="pt-BR" sz="1600" dirty="0">
                    <a:latin typeface="Arial Narrow" panose="020B0606020202030204" pitchFamily="34" charset="0"/>
                  </a:rPr>
                  <a:t> </a:t>
                </a:r>
                <a:r>
                  <a:rPr lang="pt-BR" sz="1600" dirty="0"/>
                  <a:t>= valor da fatura no mês </a:t>
                </a:r>
                <a:r>
                  <a:rPr lang="pt-BR" sz="1600" i="1" dirty="0"/>
                  <a:t>i</a:t>
                </a:r>
                <a:r>
                  <a:rPr lang="pt-BR" sz="1600" dirty="0"/>
                  <a:t>;</a:t>
                </a:r>
                <a:endParaRPr lang="pt-BR" sz="1600" dirty="0">
                  <a:latin typeface="Arial Narrow" panose="020B060602020203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pt-BR" sz="1100" i="1">
                        <a:latin typeface="Cambria Math" panose="02040503050406030204" pitchFamily="18" charset="0"/>
                      </a:rPr>
                      <m:t>LIMIT</m:t>
                    </m:r>
                    <m:r>
                      <m:rPr>
                        <m:nor/>
                      </m:rPr>
                      <a:rPr lang="pt-BR" sz="1100" i="1">
                        <a:latin typeface="Cambria Math" panose="02040503050406030204" pitchFamily="18" charset="0"/>
                      </a:rPr>
                      <m:t>_</m:t>
                    </m:r>
                    <m:r>
                      <m:rPr>
                        <m:nor/>
                      </m:rPr>
                      <a:rPr lang="pt-BR" sz="1100" i="1">
                        <a:latin typeface="Cambria Math" panose="02040503050406030204" pitchFamily="18" charset="0"/>
                      </a:rPr>
                      <m:t>BALL</m:t>
                    </m:r>
                    <m:r>
                      <m:rPr>
                        <m:nor/>
                      </m:rPr>
                      <a:rPr lang="pt-BR" sz="11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1600" dirty="0"/>
                  <a:t>= </a:t>
                </a:r>
                <a:r>
                  <a:rPr lang="pt-BR" sz="1600" dirty="0">
                    <a:latin typeface="Arial Narrow" panose="020B0606020202030204" pitchFamily="34" charset="0"/>
                  </a:rPr>
                  <a:t>limite de crédito concedido ao cliente</a:t>
                </a:r>
                <a:endParaRPr lang="pt-BR" sz="1600" dirty="0">
                  <a:latin typeface="Cambria Math" panose="02040503050406030204" pitchFamily="18" charset="0"/>
                </a:endParaRPr>
              </a:p>
              <a:p>
                <a:r>
                  <a:rPr lang="pt-BR" sz="1000" dirty="0">
                    <a:latin typeface="Cambria Math" panose="02040503050406030204" pitchFamily="18" charset="0"/>
                  </a:rPr>
                  <a:t>  </a:t>
                </a:r>
              </a:p>
              <a:p>
                <a:r>
                  <a:rPr lang="pt-BR" sz="1700" dirty="0">
                    <a:latin typeface="Arial Narrow" panose="020B0606020202030204" pitchFamily="34" charset="0"/>
                  </a:rPr>
                  <a:t>Quando o limite de crédito é igual a zero, o valor é tratado para evitar divisão por zero</a:t>
                </a:r>
                <a:r>
                  <a:rPr lang="pt-BR" sz="1600" dirty="0">
                    <a:latin typeface="Arial Narrow" panose="020B0606020202030204" pitchFamily="34" charset="0"/>
                  </a:rPr>
                  <a:t>.</a:t>
                </a:r>
              </a:p>
              <a:p>
                <a:endParaRPr lang="pt-BR" sz="900" dirty="0">
                  <a:latin typeface="Arial Narrow" panose="020B0606020202030204" pitchFamily="34" charset="0"/>
                </a:endParaRPr>
              </a:p>
              <a:p>
                <a:pPr algn="just"/>
                <a:r>
                  <a:rPr lang="pt-BR" sz="1700" b="1" dirty="0">
                    <a:latin typeface="Arial Narrow" panose="020B0606020202030204" pitchFamily="34" charset="0"/>
                  </a:rPr>
                  <a:t>Objetivo:</a:t>
                </a:r>
              </a:p>
              <a:p>
                <a:pPr algn="just"/>
                <a:r>
                  <a:rPr lang="pt-BR" sz="1700" dirty="0">
                    <a:latin typeface="Arial Narrow" panose="020B0606020202030204" pitchFamily="34" charset="0"/>
                  </a:rPr>
                  <a:t>Mensurar o nível de comprometimento do limite de crédito em cada período. A variável representa quanto da capacidade de crédito disponível está sendo utilizada pelo cliente em determinado mês, permitindo identificar perfis com maior ou menor exposição ao endividamento.</a:t>
                </a:r>
              </a:p>
              <a:p>
                <a:pPr algn="just"/>
                <a:r>
                  <a:rPr lang="pt-BR" sz="800" dirty="0">
                    <a:latin typeface="Arial Narrow" panose="020B0606020202030204" pitchFamily="34" charset="0"/>
                  </a:rPr>
                  <a:t>   </a:t>
                </a:r>
              </a:p>
              <a:p>
                <a:r>
                  <a:rPr lang="pt-BR" sz="1700" b="1" dirty="0">
                    <a:latin typeface="Arial Narrow" panose="020B0606020202030204" pitchFamily="34" charset="0"/>
                  </a:rPr>
                  <a:t>Interpretação:</a:t>
                </a:r>
              </a:p>
              <a:p>
                <a:r>
                  <a:rPr lang="pt-BR" sz="1700" b="1" dirty="0">
                    <a:latin typeface="Arial Narrow" panose="020B0606020202030204" pitchFamily="34" charset="0"/>
                  </a:rPr>
                  <a:t>Valores próximos de 0 → </a:t>
                </a:r>
                <a:r>
                  <a:rPr lang="pt-BR" sz="1700" dirty="0">
                    <a:latin typeface="Arial Narrow" panose="020B0606020202030204" pitchFamily="34" charset="0"/>
                  </a:rPr>
                  <a:t>cliente possui baixo comprometimento do limite de crédito, com saldo devedor reduzido em relação ao limite disponível.</a:t>
                </a:r>
              </a:p>
              <a:p>
                <a:r>
                  <a:rPr lang="pt-BR" sz="1700" b="1" dirty="0">
                    <a:latin typeface="Arial Narrow" panose="020B0606020202030204" pitchFamily="34" charset="0"/>
                  </a:rPr>
                  <a:t>Valores intermediários (ex.: 0,3 a 0,7) → </a:t>
                </a:r>
                <a:r>
                  <a:rPr lang="pt-BR" sz="1700" dirty="0">
                    <a:latin typeface="Arial Narrow" panose="020B0606020202030204" pitchFamily="34" charset="0"/>
                  </a:rPr>
                  <a:t>cliente utiliza parcela relevante do limite de crédito, indicando dependência moderada do crédito.</a:t>
                </a:r>
              </a:p>
              <a:p>
                <a:r>
                  <a:rPr lang="pt-BR" sz="1700" b="1" dirty="0">
                    <a:latin typeface="Arial Narrow" panose="020B0606020202030204" pitchFamily="34" charset="0"/>
                  </a:rPr>
                  <a:t>Valores próximos de 1 → </a:t>
                </a:r>
                <a:r>
                  <a:rPr lang="pt-BR" sz="1700" dirty="0">
                    <a:latin typeface="Arial Narrow" panose="020B0606020202030204" pitchFamily="34" charset="0"/>
                  </a:rPr>
                  <a:t>saldo devedor próximo ao limite disponível, sugerindo elevado comprometimento financeiro.</a:t>
                </a:r>
              </a:p>
              <a:p>
                <a:r>
                  <a:rPr lang="pt-BR" sz="1700" b="1" dirty="0">
                    <a:latin typeface="Arial Narrow" panose="020B0606020202030204" pitchFamily="34" charset="0"/>
                  </a:rPr>
                  <a:t>Valores acima de 1 → </a:t>
                </a:r>
                <a:r>
                  <a:rPr lang="pt-BR" sz="1700" dirty="0">
                    <a:latin typeface="Arial Narrow" panose="020B0606020202030204" pitchFamily="34" charset="0"/>
                  </a:rPr>
                  <a:t>saldo devedor superior ao limite concedido, podendo indicar excesso de utilização, encargos acumulados ou situações de maior risco financeiro.</a:t>
                </a:r>
              </a:p>
            </p:txBody>
          </p:sp>
        </mc:Choice>
        <mc:Fallback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14BA8872-E311-4ADC-B623-50C99AD473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688" y="1412333"/>
                <a:ext cx="11917543" cy="5489260"/>
              </a:xfrm>
              <a:prstGeom prst="rect">
                <a:avLst/>
              </a:prstGeom>
              <a:blipFill>
                <a:blip r:embed="rId3"/>
                <a:stretch>
                  <a:fillRect l="-460" t="-556" r="-307" b="-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DCDE8C31-8537-410E-A4F0-2962FB819065}"/>
              </a:ext>
            </a:extLst>
          </p:cNvPr>
          <p:cNvSpPr txBox="1"/>
          <p:nvPr/>
        </p:nvSpPr>
        <p:spPr>
          <a:xfrm>
            <a:off x="136442" y="913524"/>
            <a:ext cx="60991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Numérica Contínua</a:t>
            </a:r>
          </a:p>
        </p:txBody>
      </p:sp>
    </p:spTree>
    <p:extLst>
      <p:ext uri="{BB962C8B-B14F-4D97-AF65-F5344CB8AC3E}">
        <p14:creationId xmlns:p14="http://schemas.microsoft.com/office/powerpoint/2010/main" val="30471854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C92FF5F3-69BE-4874-A7C9-3907BD6950BC}"/>
              </a:ext>
            </a:extLst>
          </p:cNvPr>
          <p:cNvSpPr/>
          <p:nvPr/>
        </p:nvSpPr>
        <p:spPr>
          <a:xfrm>
            <a:off x="-786" y="-19729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101A53B-008C-426B-AFD0-31FEAF23EC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9307289-4A8A-47F9-824C-C1FCFB380550}"/>
              </a:ext>
            </a:extLst>
          </p:cNvPr>
          <p:cNvSpPr txBox="1"/>
          <p:nvPr/>
        </p:nvSpPr>
        <p:spPr>
          <a:xfrm>
            <a:off x="301253" y="223999"/>
            <a:ext cx="88238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Feature</a:t>
            </a:r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pt-BR" sz="28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Engineering</a:t>
            </a:r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 | Tratamento de Outliers (clipping)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14BA8872-E311-4ADC-B623-50C99AD47306}"/>
                  </a:ext>
                </a:extLst>
              </p:cNvPr>
              <p:cNvSpPr txBox="1"/>
              <p:nvPr/>
            </p:nvSpPr>
            <p:spPr>
              <a:xfrm>
                <a:off x="120688" y="1543716"/>
                <a:ext cx="11917543" cy="52937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2000" b="1" dirty="0">
                    <a:latin typeface="Arial Narrow" panose="020B0606020202030204" pitchFamily="34" charset="0"/>
                  </a:rPr>
                  <a:t>PROP_PAGAMENTO_TRAT_B1_B2_B3: </a:t>
                </a:r>
              </a:p>
              <a:p>
                <a:r>
                  <a:rPr lang="pt-BR" sz="2000" b="1" dirty="0">
                    <a:latin typeface="Arial Narrow" panose="020B0606020202030204" pitchFamily="34" charset="0"/>
                  </a:rPr>
                  <a:t>Definição: </a:t>
                </a:r>
                <a:r>
                  <a:rPr lang="pt-BR" dirty="0">
                    <a:latin typeface="Arial Narrow" panose="020B0606020202030204" pitchFamily="34" charset="0"/>
                  </a:rPr>
                  <a:t>Versão tratada da proporção de pagamento em relação à fatura dentro de cada janela temporal (B1, B2 e B3). Cada proporção mensal é calculada como:</a:t>
                </a:r>
              </a:p>
              <a:p>
                <a:pPr algn="ctr"/>
                <a:r>
                  <a:rPr lang="pt-BR" sz="2800" b="1" dirty="0">
                    <a:latin typeface="Arial Narrow" panose="020B0606020202030204" pitchFamily="34" charset="0"/>
                  </a:rPr>
                  <a:t> </a:t>
                </a:r>
                <a:r>
                  <a:rPr lang="pt-BR" dirty="0">
                    <a:latin typeface="Arial Narrow" panose="020B0606020202030204" pitchFamily="34" charset="0"/>
                  </a:rPr>
                  <a:t>​</a:t>
                </a:r>
                <a:r>
                  <a:rPr lang="pt-BR" i="1" dirty="0">
                    <a:latin typeface="Cambria Math" panose="02040503050406030204" pitchFamily="18" charset="0"/>
                  </a:rPr>
                  <a:t>PROP_PAGAMENTOi​=</a:t>
                </a:r>
                <a14:m>
                  <m:oMath xmlns:m="http://schemas.openxmlformats.org/officeDocument/2006/math">
                    <m:r>
                      <a:rPr lang="pt-BR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pt-BR">
                            <a:latin typeface="Cambria Math" panose="02040503050406030204" pitchFamily="18" charset="0"/>
                          </a:rPr>
                          <m:t>PAY</m:t>
                        </m:r>
                        <m:r>
                          <a:rPr lang="pt-BR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pt-BR">
                            <a:latin typeface="Cambria Math" panose="02040503050406030204" pitchFamily="18" charset="0"/>
                          </a:rPr>
                          <m:t>𝐴𝑀𝑇</m:t>
                        </m:r>
                        <m:r>
                          <a:rPr lang="pt-BR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pt-BR"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pt-BR">
                            <a:latin typeface="Cambria Math" panose="02040503050406030204" pitchFamily="18" charset="0"/>
                          </a:rPr>
                          <m:t>𝐵𝐼𝐿𝐿</m:t>
                        </m:r>
                        <m:r>
                          <a:rPr lang="pt-BR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pt-BR">
                            <a:latin typeface="Cambria Math" panose="02040503050406030204" pitchFamily="18" charset="0"/>
                          </a:rPr>
                          <m:t>𝐴𝑀𝑇</m:t>
                        </m:r>
                        <m:r>
                          <a:rPr lang="pt-BR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pt-BR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>
                            <a:latin typeface="Cambria Math" panose="02040503050406030204" pitchFamily="18" charset="0"/>
                          </a:rPr>
                          <m:t>	​	​</m:t>
                        </m:r>
                      </m:den>
                    </m:f>
                  </m:oMath>
                </a14:m>
                <a:r>
                  <a:rPr lang="pt-BR" sz="1050" dirty="0">
                    <a:latin typeface="Arial Narrow" panose="020B0606020202030204" pitchFamily="34" charset="0"/>
                  </a:rPr>
                  <a:t> </a:t>
                </a:r>
              </a:p>
              <a:p>
                <a:r>
                  <a:rPr lang="pt-BR" sz="1200" dirty="0">
                    <a:latin typeface="Arial Narrow" panose="020B0606020202030204" pitchFamily="34" charset="0"/>
                  </a:rPr>
                  <a:t> </a:t>
                </a:r>
              </a:p>
              <a:p>
                <a:r>
                  <a:rPr lang="pt-BR" dirty="0">
                    <a:latin typeface="Arial Narrow" panose="020B0606020202030204" pitchFamily="34" charset="0"/>
                  </a:rPr>
                  <a:t>Normalizando valores para o intervalo</a:t>
                </a:r>
                <a:r>
                  <a:rPr lang="pt-BR" b="1" dirty="0">
                    <a:latin typeface="Arial Narrow" panose="020B0606020202030204" pitchFamily="34" charset="0"/>
                  </a:rPr>
                  <a:t> [0,1] </a:t>
                </a:r>
                <a:r>
                  <a:rPr lang="pt-BR" dirty="0">
                    <a:latin typeface="Arial Narrow" panose="020B0606020202030204" pitchFamily="34" charset="0"/>
                  </a:rPr>
                  <a:t>com </a:t>
                </a:r>
                <a:r>
                  <a:rPr lang="pt-BR" dirty="0" err="1">
                    <a:latin typeface="Arial Narrow" panose="020B0606020202030204" pitchFamily="34" charset="0"/>
                  </a:rPr>
                  <a:t>np.clip</a:t>
                </a:r>
                <a:r>
                  <a:rPr lang="pt-BR" dirty="0">
                    <a:latin typeface="Arial Narrow" panose="020B0606020202030204" pitchFamily="34" charset="0"/>
                  </a:rPr>
                  <a:t>. Criar flags binárias para identificar casos especiais:</a:t>
                </a:r>
              </a:p>
              <a:p>
                <a:r>
                  <a:rPr lang="pt-BR" sz="1050" dirty="0">
                    <a:latin typeface="Arial Narrow" panose="020B0606020202030204" pitchFamily="34" charset="0"/>
                  </a:rPr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b="1" dirty="0">
                    <a:latin typeface="Arial Narrow" panose="020B0606020202030204" pitchFamily="34" charset="0"/>
                  </a:rPr>
                  <a:t>valores negativos são ajustados para 0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b="1" dirty="0">
                    <a:latin typeface="Arial Narrow" panose="020B0606020202030204" pitchFamily="34" charset="0"/>
                  </a:rPr>
                  <a:t>valores acima de 1 são ajustados para 1</a:t>
                </a:r>
                <a:endParaRPr lang="pt-BR" dirty="0">
                  <a:latin typeface="Arial Narrow" panose="020B0606020202030204" pitchFamily="34" charset="0"/>
                </a:endParaRPr>
              </a:p>
              <a:p>
                <a:r>
                  <a:rPr lang="pt-BR" sz="1050" dirty="0">
                    <a:latin typeface="Arial Narrow" panose="020B0606020202030204" pitchFamily="34" charset="0"/>
                  </a:rPr>
                  <a:t> </a:t>
                </a:r>
              </a:p>
              <a:p>
                <a:r>
                  <a:rPr lang="pt-BR" b="1" dirty="0">
                    <a:latin typeface="Arial Narrow" panose="020B0606020202030204" pitchFamily="34" charset="0"/>
                  </a:rPr>
                  <a:t>Objetivo: </a:t>
                </a:r>
                <a:r>
                  <a:rPr lang="pt-BR" dirty="0">
                    <a:latin typeface="Arial Narrow" panose="020B0606020202030204" pitchFamily="34" charset="0"/>
                  </a:rPr>
                  <a:t>Garantir que a variável seja contínua e comparável entre clientes, sem valores fora da escala.</a:t>
                </a:r>
              </a:p>
              <a:p>
                <a:r>
                  <a:rPr lang="pt-BR" sz="1050" dirty="0">
                    <a:latin typeface="Arial Narrow" panose="020B0606020202030204" pitchFamily="34" charset="0"/>
                  </a:rPr>
                  <a:t>   </a:t>
                </a:r>
              </a:p>
              <a:p>
                <a:r>
                  <a:rPr lang="pt-BR" b="1" dirty="0">
                    <a:latin typeface="Arial Narrow" panose="020B0606020202030204" pitchFamily="34" charset="0"/>
                  </a:rPr>
                  <a:t>Estabilização da escala: </a:t>
                </a:r>
                <a:r>
                  <a:rPr lang="pt-BR" dirty="0">
                    <a:latin typeface="Arial Narrow" panose="020B0606020202030204" pitchFamily="34" charset="0"/>
                  </a:rPr>
                  <a:t>impede que pagamentos muito altos ou inconsistentes distorçam a distribuição da variável.</a:t>
                </a:r>
              </a:p>
              <a:p>
                <a:r>
                  <a:rPr lang="pt-BR" b="1" dirty="0">
                    <a:latin typeface="Arial Narrow" panose="020B0606020202030204" pitchFamily="34" charset="0"/>
                  </a:rPr>
                  <a:t>Padronização comportamental:</a:t>
                </a:r>
                <a:r>
                  <a:rPr lang="pt-BR" dirty="0">
                    <a:latin typeface="Arial Narrow" panose="020B0606020202030204" pitchFamily="34" charset="0"/>
                  </a:rPr>
                  <a:t> força a leitura da variável como “grau de cobertura da fatura”, facilitando interpretação e uso em modelos lineares e não-lineares.</a:t>
                </a:r>
              </a:p>
              <a:p>
                <a:r>
                  <a:rPr lang="pt-BR" sz="1000" dirty="0">
                    <a:latin typeface="Arial Narrow" panose="020B0606020202030204" pitchFamily="34" charset="0"/>
                  </a:rPr>
                  <a:t>    </a:t>
                </a:r>
              </a:p>
              <a:p>
                <a:r>
                  <a:rPr lang="pt-BR" b="1" dirty="0">
                    <a:latin typeface="Arial Narrow" panose="020B0606020202030204" pitchFamily="34" charset="0"/>
                  </a:rPr>
                  <a:t>Interpretação</a:t>
                </a:r>
              </a:p>
              <a:p>
                <a:r>
                  <a:rPr lang="pt-BR" b="1" dirty="0">
                    <a:latin typeface="Arial Narrow" panose="020B0606020202030204" pitchFamily="34" charset="0"/>
                  </a:rPr>
                  <a:t>Valores próximos de 0 →</a:t>
                </a:r>
                <a:r>
                  <a:rPr lang="pt-BR" dirty="0">
                    <a:latin typeface="Arial Narrow" panose="020B0606020202030204" pitchFamily="34" charset="0"/>
                  </a:rPr>
                  <a:t> cliente praticamente não cobre a fatura naquele mês, indicando baixo esforço de pagamento </a:t>
                </a:r>
              </a:p>
              <a:p>
                <a:r>
                  <a:rPr lang="pt-BR" b="1" dirty="0">
                    <a:latin typeface="Arial Narrow" panose="020B0606020202030204" pitchFamily="34" charset="0"/>
                  </a:rPr>
                  <a:t>Valores intermediários (ex.: 0.3–0.7) → </a:t>
                </a:r>
                <a:r>
                  <a:rPr lang="pt-BR" dirty="0">
                    <a:latin typeface="Arial Narrow" panose="020B0606020202030204" pitchFamily="34" charset="0"/>
                  </a:rPr>
                  <a:t>cliente cobre parte relevante da fatura, com pagamento parcial recorrente </a:t>
                </a:r>
              </a:p>
              <a:p>
                <a:r>
                  <a:rPr lang="pt-BR" b="1" dirty="0">
                    <a:latin typeface="Arial Narrow" panose="020B0606020202030204" pitchFamily="34" charset="0"/>
                  </a:rPr>
                  <a:t>Valores próximos de 1 → </a:t>
                </a:r>
                <a:r>
                  <a:rPr lang="pt-BR" dirty="0">
                    <a:latin typeface="Arial Narrow" panose="020B0606020202030204" pitchFamily="34" charset="0"/>
                  </a:rPr>
                  <a:t>cliente cobre quase totalmente a fatura, indicando comportamento de pagamento forte e consistente.</a:t>
                </a:r>
                <a:endParaRPr lang="pt-BR" sz="1000" dirty="0">
                  <a:latin typeface="Arial Narrow" panose="020B0606020202030204" pitchFamily="34" charset="0"/>
                </a:endParaRPr>
              </a:p>
            </p:txBody>
          </p:sp>
        </mc:Choice>
        <mc:Fallback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14BA8872-E311-4ADC-B623-50C99AD473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688" y="1543716"/>
                <a:ext cx="11917543" cy="5293757"/>
              </a:xfrm>
              <a:prstGeom prst="rect">
                <a:avLst/>
              </a:prstGeom>
              <a:blipFill>
                <a:blip r:embed="rId3"/>
                <a:stretch>
                  <a:fillRect l="-563" t="-575" r="-153" b="-69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DCDE8C31-8537-410E-A4F0-2962FB819065}"/>
              </a:ext>
            </a:extLst>
          </p:cNvPr>
          <p:cNvSpPr txBox="1"/>
          <p:nvPr/>
        </p:nvSpPr>
        <p:spPr>
          <a:xfrm>
            <a:off x="120688" y="967010"/>
            <a:ext cx="60991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Numérica Contínua (0–1)</a:t>
            </a:r>
          </a:p>
        </p:txBody>
      </p:sp>
    </p:spTree>
    <p:extLst>
      <p:ext uri="{BB962C8B-B14F-4D97-AF65-F5344CB8AC3E}">
        <p14:creationId xmlns:p14="http://schemas.microsoft.com/office/powerpoint/2010/main" val="6349130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C92FF5F3-69BE-4874-A7C9-3907BD6950BC}"/>
              </a:ext>
            </a:extLst>
          </p:cNvPr>
          <p:cNvSpPr/>
          <p:nvPr/>
        </p:nvSpPr>
        <p:spPr>
          <a:xfrm>
            <a:off x="-786" y="-19729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101A53B-008C-426B-AFD0-31FEAF23EC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9307289-4A8A-47F9-824C-C1FCFB380550}"/>
              </a:ext>
            </a:extLst>
          </p:cNvPr>
          <p:cNvSpPr txBox="1"/>
          <p:nvPr/>
        </p:nvSpPr>
        <p:spPr>
          <a:xfrm>
            <a:off x="301253" y="223999"/>
            <a:ext cx="88238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Feature</a:t>
            </a:r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pt-BR" sz="28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Engineering</a:t>
            </a:r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 | Contagem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4BA8872-E311-4ADC-B623-50C99AD47306}"/>
              </a:ext>
            </a:extLst>
          </p:cNvPr>
          <p:cNvSpPr txBox="1"/>
          <p:nvPr/>
        </p:nvSpPr>
        <p:spPr>
          <a:xfrm>
            <a:off x="120688" y="1436744"/>
            <a:ext cx="11917543" cy="4885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latin typeface="Arial Narrow" panose="020B0606020202030204" pitchFamily="34" charset="0"/>
              </a:rPr>
              <a:t>ATRASOS_CONTAGEM_B1 / B2 / B3</a:t>
            </a:r>
          </a:p>
          <a:p>
            <a:br>
              <a:rPr lang="pt-BR" sz="2000" b="1" dirty="0">
                <a:highlight>
                  <a:srgbClr val="00FF00"/>
                </a:highlight>
                <a:latin typeface="Arial Narrow" panose="020B0606020202030204" pitchFamily="34" charset="0"/>
              </a:rPr>
            </a:br>
            <a:r>
              <a:rPr lang="pt-BR" sz="2000" b="1" dirty="0">
                <a:latin typeface="Arial Narrow" panose="020B0606020202030204" pitchFamily="34" charset="0"/>
              </a:rPr>
              <a:t>Definição:</a:t>
            </a:r>
            <a:r>
              <a:rPr lang="pt-BR" sz="2000" dirty="0">
                <a:latin typeface="Arial Narrow" panose="020B0606020202030204" pitchFamily="34" charset="0"/>
              </a:rPr>
              <a:t> Número de meses com atraso de pagamento dentro de cada janela temporal (B1, B2 ou B3).</a:t>
            </a:r>
          </a:p>
          <a:p>
            <a:r>
              <a:rPr lang="pt-BR" sz="2000" dirty="0">
                <a:latin typeface="Arial Narrow" panose="020B0606020202030204" pitchFamily="34" charset="0"/>
              </a:rPr>
              <a:t>A variável é construída a partir dos valores mensais de atraso:</a:t>
            </a:r>
          </a:p>
          <a:p>
            <a:endParaRPr lang="pt-BR" sz="1200" dirty="0">
              <a:latin typeface="Arial Narrow" panose="020B0606020202030204" pitchFamily="34" charset="0"/>
            </a:endParaRPr>
          </a:p>
          <a:p>
            <a:pPr algn="ctr"/>
            <a:r>
              <a:rPr lang="pt-BR" sz="1400" b="1" dirty="0">
                <a:latin typeface="Arial Narrow" panose="020B0606020202030204" pitchFamily="34" charset="0"/>
              </a:rPr>
              <a:t> </a:t>
            </a:r>
            <a:r>
              <a:rPr lang="pt-BR" sz="1050" dirty="0">
                <a:latin typeface="Arial Narrow" panose="020B0606020202030204" pitchFamily="34" charset="0"/>
              </a:rPr>
              <a:t>​</a:t>
            </a:r>
            <a:r>
              <a:rPr lang="pt-BR" sz="2000" i="1" dirty="0" err="1">
                <a:latin typeface="Cambria Math" panose="02040503050406030204" pitchFamily="18" charset="0"/>
              </a:rPr>
              <a:t>PAYi</a:t>
            </a:r>
            <a:endParaRPr lang="pt-BR" sz="2000" dirty="0">
              <a:latin typeface="Cambria Math" panose="02040503050406030204" pitchFamily="18" charset="0"/>
            </a:endParaRPr>
          </a:p>
          <a:p>
            <a:r>
              <a:rPr lang="pt-BR" sz="1100" dirty="0">
                <a:latin typeface="Cambria Math" panose="02040503050406030204" pitchFamily="18" charset="0"/>
              </a:rPr>
              <a:t>   </a:t>
            </a:r>
          </a:p>
          <a:p>
            <a:r>
              <a:rPr lang="pt-BR" sz="2000" dirty="0">
                <a:latin typeface="Arial Narrow" panose="020B0606020202030204" pitchFamily="34" charset="0"/>
              </a:rPr>
              <a:t>sendo contabilizados os meses em que:</a:t>
            </a:r>
          </a:p>
          <a:p>
            <a:pPr algn="ctr"/>
            <a:r>
              <a:rPr lang="pt-BR" sz="2000" i="1" dirty="0" err="1">
                <a:latin typeface="Cambria Math" panose="02040503050406030204" pitchFamily="18" charset="0"/>
              </a:rPr>
              <a:t>PAYi</a:t>
            </a:r>
            <a:r>
              <a:rPr lang="pt-BR" sz="2000" i="1" dirty="0">
                <a:latin typeface="Cambria Math" panose="02040503050406030204" pitchFamily="18" charset="0"/>
              </a:rPr>
              <a:t> &gt; 0</a:t>
            </a:r>
          </a:p>
          <a:p>
            <a:endParaRPr lang="pt-BR" sz="1050" dirty="0">
              <a:latin typeface="Arial Narrow" panose="020B0606020202030204" pitchFamily="34" charset="0"/>
            </a:endParaRPr>
          </a:p>
          <a:p>
            <a:r>
              <a:rPr lang="pt-BR" sz="2000" b="1" dirty="0">
                <a:latin typeface="Arial Narrow" panose="020B0606020202030204" pitchFamily="34" charset="0"/>
              </a:rPr>
              <a:t>Objetivo: </a:t>
            </a:r>
            <a:r>
              <a:rPr lang="pt-BR" sz="2000" dirty="0">
                <a:latin typeface="Arial Narrow" panose="020B0606020202030204" pitchFamily="34" charset="0"/>
              </a:rPr>
              <a:t>Capturar a frequência de ocorrência de atrasos em cada período do histórico do cliente, permitindo identificar padrões recorrentes de inadimplência em diferentes fases do comportamento financeiro.</a:t>
            </a:r>
          </a:p>
          <a:p>
            <a:r>
              <a:rPr lang="pt-BR" sz="2000" dirty="0">
                <a:latin typeface="Arial Narrow" panose="020B0606020202030204" pitchFamily="34" charset="0"/>
              </a:rPr>
              <a:t> </a:t>
            </a:r>
          </a:p>
          <a:p>
            <a:r>
              <a:rPr lang="pt-BR" sz="2000" b="1" dirty="0">
                <a:latin typeface="Arial Narrow" panose="020B0606020202030204" pitchFamily="34" charset="0"/>
              </a:rPr>
              <a:t>Interpretação:</a:t>
            </a:r>
          </a:p>
          <a:p>
            <a:r>
              <a:rPr lang="pt-BR" sz="2000" b="1" dirty="0">
                <a:latin typeface="Arial Narrow" panose="020B0606020202030204" pitchFamily="34" charset="0"/>
              </a:rPr>
              <a:t>0 →</a:t>
            </a:r>
            <a:r>
              <a:rPr lang="pt-BR" sz="2000" dirty="0">
                <a:latin typeface="Arial Narrow" panose="020B0606020202030204" pitchFamily="34" charset="0"/>
              </a:rPr>
              <a:t> nenhum atraso no período analisado</a:t>
            </a:r>
          </a:p>
          <a:p>
            <a:r>
              <a:rPr lang="pt-BR" sz="2000" b="1" dirty="0">
                <a:latin typeface="Arial Narrow" panose="020B0606020202030204" pitchFamily="34" charset="0"/>
              </a:rPr>
              <a:t>1 → </a:t>
            </a:r>
            <a:r>
              <a:rPr lang="pt-BR" sz="2000" dirty="0">
                <a:latin typeface="Arial Narrow" panose="020B0606020202030204" pitchFamily="34" charset="0"/>
              </a:rPr>
              <a:t>atraso em 1 dos meses do bloco</a:t>
            </a:r>
          </a:p>
          <a:p>
            <a:r>
              <a:rPr lang="pt-BR" sz="2000" b="1" dirty="0">
                <a:latin typeface="Arial Narrow" panose="020B0606020202030204" pitchFamily="34" charset="0"/>
              </a:rPr>
              <a:t>2 →</a:t>
            </a:r>
            <a:r>
              <a:rPr lang="pt-BR" sz="2000" dirty="0">
                <a:latin typeface="Arial Narrow" panose="020B0606020202030204" pitchFamily="34" charset="0"/>
              </a:rPr>
              <a:t> atraso em todos os meses do bloco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CDE8C31-8537-410E-A4F0-2962FB819065}"/>
              </a:ext>
            </a:extLst>
          </p:cNvPr>
          <p:cNvSpPr txBox="1"/>
          <p:nvPr/>
        </p:nvSpPr>
        <p:spPr>
          <a:xfrm>
            <a:off x="136442" y="913524"/>
            <a:ext cx="60991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Numérica Discreta</a:t>
            </a:r>
          </a:p>
        </p:txBody>
      </p:sp>
    </p:spTree>
    <p:extLst>
      <p:ext uri="{BB962C8B-B14F-4D97-AF65-F5344CB8AC3E}">
        <p14:creationId xmlns:p14="http://schemas.microsoft.com/office/powerpoint/2010/main" val="21157828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C92FF5F3-69BE-4874-A7C9-3907BD6950BC}"/>
              </a:ext>
            </a:extLst>
          </p:cNvPr>
          <p:cNvSpPr/>
          <p:nvPr/>
        </p:nvSpPr>
        <p:spPr>
          <a:xfrm>
            <a:off x="-786" y="-19729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101A53B-008C-426B-AFD0-31FEAF23EC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9307289-4A8A-47F9-824C-C1FCFB380550}"/>
              </a:ext>
            </a:extLst>
          </p:cNvPr>
          <p:cNvSpPr txBox="1"/>
          <p:nvPr/>
        </p:nvSpPr>
        <p:spPr>
          <a:xfrm>
            <a:off x="301253" y="223999"/>
            <a:ext cx="88238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Feature</a:t>
            </a:r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pt-BR" sz="28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Engineering</a:t>
            </a:r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 | Agregação (Média por Bloco)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4BA8872-E311-4ADC-B623-50C99AD47306}"/>
              </a:ext>
            </a:extLst>
          </p:cNvPr>
          <p:cNvSpPr txBox="1"/>
          <p:nvPr/>
        </p:nvSpPr>
        <p:spPr>
          <a:xfrm>
            <a:off x="120688" y="1436744"/>
            <a:ext cx="11917543" cy="457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latin typeface="Arial Narrow" panose="020B0606020202030204" pitchFamily="34" charset="0"/>
              </a:rPr>
              <a:t>ATRASO_MEDIO_B1 / B2 / B3</a:t>
            </a:r>
          </a:p>
          <a:p>
            <a:br>
              <a:rPr lang="pt-BR" sz="2000" b="1" dirty="0">
                <a:highlight>
                  <a:srgbClr val="00FF00"/>
                </a:highlight>
                <a:latin typeface="Arial Narrow" panose="020B0606020202030204" pitchFamily="34" charset="0"/>
              </a:rPr>
            </a:br>
            <a:r>
              <a:rPr lang="pt-BR" sz="2000" b="1" dirty="0">
                <a:latin typeface="Arial Narrow" panose="020B0606020202030204" pitchFamily="34" charset="0"/>
              </a:rPr>
              <a:t>Definição:</a:t>
            </a:r>
            <a:r>
              <a:rPr lang="pt-BR" sz="2000" dirty="0">
                <a:latin typeface="Arial Narrow" panose="020B0606020202030204" pitchFamily="34" charset="0"/>
              </a:rPr>
              <a:t> Média dos valores de atraso de pagamento dentro de cada janela temporal (B1, B2 ou B3).</a:t>
            </a:r>
          </a:p>
          <a:p>
            <a:r>
              <a:rPr lang="pt-BR" sz="2000" dirty="0">
                <a:latin typeface="Arial Narrow" panose="020B0606020202030204" pitchFamily="34" charset="0"/>
              </a:rPr>
              <a:t>A variável é calculada como a média simples dos valores mensais:</a:t>
            </a:r>
          </a:p>
          <a:p>
            <a:endParaRPr lang="pt-BR" sz="1200" dirty="0">
              <a:latin typeface="Arial Narrow" panose="020B0606020202030204" pitchFamily="34" charset="0"/>
            </a:endParaRPr>
          </a:p>
          <a:p>
            <a:pPr algn="ctr"/>
            <a:r>
              <a:rPr lang="pt-BR" sz="1400" b="1" dirty="0">
                <a:latin typeface="Arial Narrow" panose="020B0606020202030204" pitchFamily="34" charset="0"/>
              </a:rPr>
              <a:t> </a:t>
            </a:r>
            <a:r>
              <a:rPr lang="pt-BR" sz="1050" dirty="0">
                <a:latin typeface="Arial Narrow" panose="020B0606020202030204" pitchFamily="34" charset="0"/>
              </a:rPr>
              <a:t>​</a:t>
            </a:r>
            <a:r>
              <a:rPr lang="pt-BR" sz="2000" i="1" dirty="0">
                <a:latin typeface="Cambria Math" panose="02040503050406030204" pitchFamily="18" charset="0"/>
              </a:rPr>
              <a:t>ATRASO_MEDIO= n ∑ </a:t>
            </a:r>
            <a:r>
              <a:rPr lang="pt-BR" sz="2000" i="1" dirty="0" err="1">
                <a:latin typeface="Cambria Math" panose="02040503050406030204" pitchFamily="18" charset="0"/>
              </a:rPr>
              <a:t>PAYi</a:t>
            </a:r>
            <a:r>
              <a:rPr lang="pt-BR" sz="2000" i="1" dirty="0">
                <a:latin typeface="Cambria Math" panose="02040503050406030204" pitchFamily="18" charset="0"/>
              </a:rPr>
              <a:t>​​</a:t>
            </a:r>
          </a:p>
          <a:p>
            <a:r>
              <a:rPr lang="pt-BR" sz="1100" dirty="0">
                <a:latin typeface="Cambria Math" panose="02040503050406030204" pitchFamily="18" charset="0"/>
              </a:rPr>
              <a:t>   </a:t>
            </a:r>
          </a:p>
          <a:p>
            <a:r>
              <a:rPr lang="pt-BR" sz="2000" dirty="0">
                <a:latin typeface="Arial Narrow" panose="020B0606020202030204" pitchFamily="34" charset="0"/>
              </a:rPr>
              <a:t>onde </a:t>
            </a:r>
            <a:r>
              <a:rPr lang="pt-BR" sz="2000" i="1" dirty="0">
                <a:latin typeface="Cambria Math" panose="02040503050406030204" pitchFamily="18" charset="0"/>
              </a:rPr>
              <a:t>n</a:t>
            </a:r>
            <a:r>
              <a:rPr lang="pt-BR" sz="2000" dirty="0">
                <a:latin typeface="Arial Narrow" panose="020B0606020202030204" pitchFamily="34" charset="0"/>
              </a:rPr>
              <a:t> corresponde ao número de meses no bloco.</a:t>
            </a:r>
          </a:p>
          <a:p>
            <a:endParaRPr lang="pt-BR" sz="1050" dirty="0">
              <a:latin typeface="Arial Narrow" panose="020B0606020202030204" pitchFamily="34" charset="0"/>
            </a:endParaRPr>
          </a:p>
          <a:p>
            <a:r>
              <a:rPr lang="pt-BR" sz="2000" b="1" dirty="0">
                <a:latin typeface="Arial Narrow" panose="020B0606020202030204" pitchFamily="34" charset="0"/>
              </a:rPr>
              <a:t>Objetivo: </a:t>
            </a:r>
            <a:r>
              <a:rPr lang="pt-BR" sz="2000" dirty="0">
                <a:latin typeface="Arial Narrow" panose="020B0606020202030204" pitchFamily="34" charset="0"/>
              </a:rPr>
              <a:t>Capturar o nível médio de atraso em cada período, permitindo avaliar a intensidade do comportamento de inadimplência ao longo do tempo.</a:t>
            </a:r>
          </a:p>
          <a:p>
            <a:r>
              <a:rPr lang="pt-BR" sz="2000" dirty="0">
                <a:latin typeface="Arial Narrow" panose="020B0606020202030204" pitchFamily="34" charset="0"/>
              </a:rPr>
              <a:t> </a:t>
            </a:r>
          </a:p>
          <a:p>
            <a:r>
              <a:rPr lang="pt-BR" sz="2000" b="1" dirty="0">
                <a:latin typeface="Arial Narrow" panose="020B0606020202030204" pitchFamily="34" charset="0"/>
              </a:rPr>
              <a:t>Interpretação:</a:t>
            </a:r>
          </a:p>
          <a:p>
            <a:r>
              <a:rPr lang="pt-BR" sz="2000" b="1" dirty="0">
                <a:latin typeface="Arial Narrow" panose="020B0606020202030204" pitchFamily="34" charset="0"/>
              </a:rPr>
              <a:t>Valores próximos de 0 ou negativos → </a:t>
            </a:r>
            <a:r>
              <a:rPr lang="pt-BR" sz="2000" dirty="0">
                <a:latin typeface="Arial Narrow" panose="020B0606020202030204" pitchFamily="34" charset="0"/>
              </a:rPr>
              <a:t>cliente paga em dia ou antecipa pagamentos</a:t>
            </a:r>
          </a:p>
          <a:p>
            <a:r>
              <a:rPr lang="pt-BR" sz="2000" b="1" dirty="0">
                <a:latin typeface="Arial Narrow" panose="020B0606020202030204" pitchFamily="34" charset="0"/>
              </a:rPr>
              <a:t>Valores positivos baixos → </a:t>
            </a:r>
            <a:r>
              <a:rPr lang="pt-BR" sz="2000" dirty="0">
                <a:latin typeface="Arial Narrow" panose="020B0606020202030204" pitchFamily="34" charset="0"/>
              </a:rPr>
              <a:t>atrasos leves ou ocasionais</a:t>
            </a:r>
          </a:p>
          <a:p>
            <a:r>
              <a:rPr lang="pt-BR" sz="2000" b="1" dirty="0">
                <a:latin typeface="Arial Narrow" panose="020B0606020202030204" pitchFamily="34" charset="0"/>
              </a:rPr>
              <a:t>Valores altos → </a:t>
            </a:r>
            <a:r>
              <a:rPr lang="pt-BR" sz="2000" dirty="0">
                <a:latin typeface="Arial Narrow" panose="020B0606020202030204" pitchFamily="34" charset="0"/>
              </a:rPr>
              <a:t>atrasos frequentes e mais severos no período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CDE8C31-8537-410E-A4F0-2962FB819065}"/>
              </a:ext>
            </a:extLst>
          </p:cNvPr>
          <p:cNvSpPr txBox="1"/>
          <p:nvPr/>
        </p:nvSpPr>
        <p:spPr>
          <a:xfrm>
            <a:off x="136442" y="913524"/>
            <a:ext cx="60991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Numérica Contínua</a:t>
            </a:r>
          </a:p>
        </p:txBody>
      </p:sp>
    </p:spTree>
    <p:extLst>
      <p:ext uri="{BB962C8B-B14F-4D97-AF65-F5344CB8AC3E}">
        <p14:creationId xmlns:p14="http://schemas.microsoft.com/office/powerpoint/2010/main" val="3261248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C92FF5F3-69BE-4874-A7C9-3907BD6950BC}"/>
              </a:ext>
            </a:extLst>
          </p:cNvPr>
          <p:cNvSpPr/>
          <p:nvPr/>
        </p:nvSpPr>
        <p:spPr>
          <a:xfrm>
            <a:off x="-786" y="-19729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101A53B-008C-426B-AFD0-31FEAF23EC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9307289-4A8A-47F9-824C-C1FCFB380550}"/>
              </a:ext>
            </a:extLst>
          </p:cNvPr>
          <p:cNvSpPr txBox="1"/>
          <p:nvPr/>
        </p:nvSpPr>
        <p:spPr>
          <a:xfrm>
            <a:off x="301253" y="223999"/>
            <a:ext cx="882389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5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Feature</a:t>
            </a:r>
            <a:r>
              <a:rPr lang="pt-BR" sz="25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pt-BR" sz="25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Engineering</a:t>
            </a:r>
            <a:r>
              <a:rPr lang="pt-BR" sz="25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 | Volatilidade | Medida de Dispersão (desvio padrão)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4BA8872-E311-4ADC-B623-50C99AD47306}"/>
              </a:ext>
            </a:extLst>
          </p:cNvPr>
          <p:cNvSpPr txBox="1"/>
          <p:nvPr/>
        </p:nvSpPr>
        <p:spPr>
          <a:xfrm>
            <a:off x="136442" y="1564243"/>
            <a:ext cx="11917543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>
                <a:latin typeface="Arial Narrow" panose="020B0606020202030204" pitchFamily="34" charset="0"/>
              </a:rPr>
              <a:t>ATRASO_VOLATIL_B1 / B2 / B3</a:t>
            </a:r>
            <a:br>
              <a:rPr lang="pt-BR" sz="2000" b="1" dirty="0">
                <a:highlight>
                  <a:srgbClr val="00FF00"/>
                </a:highlight>
                <a:latin typeface="Arial Narrow" panose="020B0606020202030204" pitchFamily="34" charset="0"/>
              </a:rPr>
            </a:br>
            <a:r>
              <a:rPr lang="pt-BR" sz="1900" b="1" dirty="0">
                <a:latin typeface="Arial Narrow" panose="020B0606020202030204" pitchFamily="34" charset="0"/>
              </a:rPr>
              <a:t>Definição: </a:t>
            </a:r>
            <a:r>
              <a:rPr lang="pt-BR" sz="1900" dirty="0">
                <a:latin typeface="Arial Narrow" panose="020B0606020202030204" pitchFamily="34" charset="0"/>
              </a:rPr>
              <a:t>Volatilidade do comportamento de atraso de pagamento dentro de cada janela temporal (B1, B2 e B3).</a:t>
            </a:r>
          </a:p>
          <a:p>
            <a:r>
              <a:rPr lang="pt-BR" sz="1900" dirty="0">
                <a:latin typeface="Arial Narrow" panose="020B0606020202030204" pitchFamily="34" charset="0"/>
              </a:rPr>
              <a:t>Cada variável mensal de atraso é representada por:	​</a:t>
            </a:r>
          </a:p>
          <a:p>
            <a:r>
              <a:rPr lang="pt-BR" sz="1200" dirty="0">
                <a:latin typeface="Arial Narrow" panose="020B0606020202030204" pitchFamily="34" charset="0"/>
              </a:rPr>
              <a:t>     </a:t>
            </a:r>
          </a:p>
          <a:p>
            <a:pPr algn="ctr"/>
            <a:r>
              <a:rPr lang="pt-BR" sz="1400" b="1" dirty="0">
                <a:latin typeface="Arial Narrow" panose="020B0606020202030204" pitchFamily="34" charset="0"/>
              </a:rPr>
              <a:t> </a:t>
            </a:r>
            <a:r>
              <a:rPr lang="pt-BR" sz="1050" dirty="0">
                <a:latin typeface="Arial Narrow" panose="020B0606020202030204" pitchFamily="34" charset="0"/>
              </a:rPr>
              <a:t>​</a:t>
            </a:r>
            <a:r>
              <a:rPr lang="pt-BR" sz="2000" i="1" dirty="0" err="1">
                <a:latin typeface="Cambria Math" panose="02040503050406030204" pitchFamily="18" charset="0"/>
              </a:rPr>
              <a:t>PAYi</a:t>
            </a:r>
            <a:endParaRPr lang="pt-BR" sz="2000" i="1" dirty="0">
              <a:latin typeface="Cambria Math" panose="02040503050406030204" pitchFamily="18" charset="0"/>
            </a:endParaRPr>
          </a:p>
          <a:p>
            <a:r>
              <a:rPr lang="pt-BR" sz="1200" i="1" dirty="0">
                <a:latin typeface="Cambria Math" panose="02040503050406030204" pitchFamily="18" charset="0"/>
              </a:rPr>
              <a:t>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dirty="0">
                <a:latin typeface="Arial Narrow" panose="020B0606020202030204" pitchFamily="34" charset="0"/>
              </a:rPr>
              <a:t>Valores positivos indicam atraso no pagamento da fatura (em meses de atraso),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dirty="0">
                <a:latin typeface="Arial Narrow" panose="020B0606020202030204" pitchFamily="34" charset="0"/>
              </a:rPr>
              <a:t>Valores negativos ou zero indicam pagamento em dia ou adiantamento relativo.</a:t>
            </a:r>
          </a:p>
          <a:p>
            <a:r>
              <a:rPr lang="pt-BR" sz="1900" dirty="0">
                <a:latin typeface="Arial Narrow" panose="020B0606020202030204" pitchFamily="34" charset="0"/>
              </a:rPr>
              <a:t>A métrica final corresponde ao desvio padrão dos valores de PAY dentro de cada bloco de 2 meses.</a:t>
            </a:r>
          </a:p>
          <a:p>
            <a:endParaRPr lang="pt-BR" sz="1050" dirty="0">
              <a:latin typeface="Arial Narrow" panose="020B0606020202030204" pitchFamily="34" charset="0"/>
            </a:endParaRPr>
          </a:p>
          <a:p>
            <a:r>
              <a:rPr lang="pt-BR" sz="1900" b="1" dirty="0">
                <a:latin typeface="Arial Narrow" panose="020B0606020202030204" pitchFamily="34" charset="0"/>
              </a:rPr>
              <a:t>Objetivo: </a:t>
            </a:r>
            <a:r>
              <a:rPr lang="pt-BR" sz="1900" dirty="0">
                <a:latin typeface="Arial Narrow" panose="020B0606020202030204" pitchFamily="34" charset="0"/>
              </a:rPr>
              <a:t>Capturar a instabilidade do comportamento de pagamento ao longo do tempo. Enquanto a média indica o nível típico de atraso e a contagem indica frequência de atrasos, a volatilidade evidencia a consistência ou irregularidade desse comportamento entre meses.</a:t>
            </a:r>
          </a:p>
          <a:p>
            <a:r>
              <a:rPr lang="pt-BR" sz="1050" dirty="0">
                <a:latin typeface="Arial Narrow" panose="020B0606020202030204" pitchFamily="34" charset="0"/>
              </a:rPr>
              <a:t>    </a:t>
            </a:r>
          </a:p>
          <a:p>
            <a:r>
              <a:rPr lang="pt-BR" sz="1900" b="1" dirty="0">
                <a:latin typeface="Arial Narrow" panose="020B0606020202030204" pitchFamily="34" charset="0"/>
              </a:rPr>
              <a:t>Interpretação:</a:t>
            </a:r>
          </a:p>
          <a:p>
            <a:r>
              <a:rPr lang="pt-BR" sz="1900" b="1" dirty="0">
                <a:latin typeface="Arial Narrow" panose="020B0606020202030204" pitchFamily="34" charset="0"/>
              </a:rPr>
              <a:t>Valores próximos de 0 </a:t>
            </a:r>
            <a:r>
              <a:rPr lang="pt-BR" sz="1900" dirty="0">
                <a:latin typeface="Arial Narrow" panose="020B0606020202030204" pitchFamily="34" charset="0"/>
              </a:rPr>
              <a:t>→ cliente apresenta comportamento consistente de pagamento (sem grandes variações no nível de atraso).</a:t>
            </a:r>
          </a:p>
          <a:p>
            <a:r>
              <a:rPr lang="pt-BR" sz="1900" b="1" dirty="0">
                <a:latin typeface="Arial Narrow" panose="020B0606020202030204" pitchFamily="34" charset="0"/>
              </a:rPr>
              <a:t>Valores intermediários </a:t>
            </a:r>
            <a:r>
              <a:rPr lang="pt-BR" sz="1900" dirty="0">
                <a:latin typeface="Arial Narrow" panose="020B0606020202030204" pitchFamily="34" charset="0"/>
              </a:rPr>
              <a:t>→ cliente alterna entre meses com maior e menor atraso, mas sem extremos.</a:t>
            </a:r>
          </a:p>
          <a:p>
            <a:r>
              <a:rPr lang="pt-BR" sz="1900" b="1" dirty="0">
                <a:latin typeface="Arial Narrow" panose="020B0606020202030204" pitchFamily="34" charset="0"/>
              </a:rPr>
              <a:t>Valores altos </a:t>
            </a:r>
            <a:r>
              <a:rPr lang="pt-BR" sz="1900" dirty="0">
                <a:latin typeface="Arial Narrow" panose="020B0606020202030204" pitchFamily="34" charset="0"/>
              </a:rPr>
              <a:t>→ cliente apresenta comportamento instável de pagamento, com variações relevantes entre meses, indicando padrão de risco mais irregular.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94C02A8-8C09-46F7-8843-4314532E9CF2}"/>
              </a:ext>
            </a:extLst>
          </p:cNvPr>
          <p:cNvSpPr txBox="1"/>
          <p:nvPr/>
        </p:nvSpPr>
        <p:spPr>
          <a:xfrm>
            <a:off x="92908" y="930180"/>
            <a:ext cx="60991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Numérica Contínua</a:t>
            </a:r>
          </a:p>
        </p:txBody>
      </p:sp>
    </p:spTree>
    <p:extLst>
      <p:ext uri="{BB962C8B-B14F-4D97-AF65-F5344CB8AC3E}">
        <p14:creationId xmlns:p14="http://schemas.microsoft.com/office/powerpoint/2010/main" val="39084469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C92FF5F3-69BE-4874-A7C9-3907BD6950BC}"/>
              </a:ext>
            </a:extLst>
          </p:cNvPr>
          <p:cNvSpPr/>
          <p:nvPr/>
        </p:nvSpPr>
        <p:spPr>
          <a:xfrm>
            <a:off x="-786" y="-19729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101A53B-008C-426B-AFD0-31FEAF23EC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9307289-4A8A-47F9-824C-C1FCFB380550}"/>
              </a:ext>
            </a:extLst>
          </p:cNvPr>
          <p:cNvSpPr txBox="1"/>
          <p:nvPr/>
        </p:nvSpPr>
        <p:spPr>
          <a:xfrm>
            <a:off x="301253" y="223999"/>
            <a:ext cx="88238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Feature</a:t>
            </a:r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pt-BR" sz="28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Engineering</a:t>
            </a:r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 | Agregação por Média (blocos temporais)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14BA8872-E311-4ADC-B623-50C99AD47306}"/>
                  </a:ext>
                </a:extLst>
              </p:cNvPr>
              <p:cNvSpPr txBox="1"/>
              <p:nvPr/>
            </p:nvSpPr>
            <p:spPr>
              <a:xfrm>
                <a:off x="169278" y="1388308"/>
                <a:ext cx="11944165" cy="54696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a-DK" b="1" dirty="0">
                    <a:latin typeface="Arial Narrow" panose="020B0606020202030204" pitchFamily="34" charset="0"/>
                  </a:rPr>
                  <a:t>UTIL_B1 / UTIL_B2 / UTIL_B3</a:t>
                </a:r>
              </a:p>
              <a:p>
                <a:endParaRPr lang="da-DK" b="1" dirty="0">
                  <a:highlight>
                    <a:srgbClr val="00FF00"/>
                  </a:highlight>
                  <a:latin typeface="Arial Narrow" panose="020B0606020202030204" pitchFamily="34" charset="0"/>
                </a:endParaRPr>
              </a:p>
              <a:p>
                <a:r>
                  <a:rPr lang="pt-BR" b="1" dirty="0">
                    <a:latin typeface="Arial Narrow" panose="020B0606020202030204" pitchFamily="34" charset="0"/>
                  </a:rPr>
                  <a:t>Definição:</a:t>
                </a:r>
                <a:r>
                  <a:rPr lang="pt-BR" dirty="0">
                    <a:latin typeface="Arial Narrow" panose="020B0606020202030204" pitchFamily="34" charset="0"/>
                  </a:rPr>
                  <a:t> Média da taxa de utilização do limite de crédito em diferentes janelas temporais.</a:t>
                </a:r>
                <a:br>
                  <a:rPr lang="pt-BR" dirty="0">
                    <a:latin typeface="Arial Narrow" panose="020B0606020202030204" pitchFamily="34" charset="0"/>
                  </a:rPr>
                </a:br>
                <a:r>
                  <a:rPr lang="pt-BR" dirty="0">
                    <a:latin typeface="Arial Narrow" panose="020B0606020202030204" pitchFamily="34" charset="0"/>
                  </a:rPr>
                  <a:t>Cada janela (B1, B2, B3) representa a média da razão entre a fatura e o limite de crédito em períodos distintos do histórico do cliente:</a:t>
                </a:r>
                <a:endParaRPr lang="da-DK" dirty="0">
                  <a:latin typeface="Arial Narrow" panose="020B0606020202030204" pitchFamily="34" charset="0"/>
                </a:endParaRPr>
              </a:p>
              <a:p>
                <a:r>
                  <a:rPr lang="pt-BR" dirty="0">
                    <a:latin typeface="Arial Narrow" panose="020B0606020202030204" pitchFamily="34" charset="0"/>
                  </a:rPr>
                  <a:t>Cada taxa mensal é calculada como:</a:t>
                </a:r>
              </a:p>
              <a:p>
                <a:endParaRPr lang="pt-BR" sz="1100" b="1" dirty="0">
                  <a:latin typeface="Arial Narrow" panose="020B0606020202030204" pitchFamily="34" charset="0"/>
                </a:endParaRPr>
              </a:p>
              <a:p>
                <a:pPr algn="ctr"/>
                <a:r>
                  <a:rPr lang="pt-BR" i="1" dirty="0">
                    <a:latin typeface="Cambria Math" panose="02040503050406030204" pitchFamily="18" charset="0"/>
                  </a:rPr>
                  <a:t>UTIL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pt-BR" sz="1600" i="1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m:rPr>
                            <m:nor/>
                          </m:rPr>
                          <a:rPr lang="pt-BR" sz="1600" b="0" i="1" smtClean="0">
                            <a:latin typeface="Cambria Math" panose="02040503050406030204" pitchFamily="18" charset="0"/>
                          </a:rPr>
                          <m:t>é</m:t>
                        </m:r>
                        <m:r>
                          <m:rPr>
                            <m:nor/>
                          </m:rPr>
                          <a:rPr lang="pt-BR" sz="1600" i="1">
                            <a:latin typeface="Cambria Math" panose="02040503050406030204" pitchFamily="18" charset="0"/>
                          </a:rPr>
                          <m:t>dia</m:t>
                        </m:r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𝐵𝐼𝐿</m:t>
                        </m:r>
                        <m:sSub>
                          <m:sSubPr>
                            <m:ctrlPr>
                              <a:rPr lang="pt-B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6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pt-BR" sz="1600" i="1">
                                <a:latin typeface="Cambria Math" panose="02040503050406030204" pitchFamily="18" charset="0"/>
                              </a:rPr>
                              <m:t>𝐴𝑀</m:t>
                            </m:r>
                            <m:sSub>
                              <m:sSubPr>
                                <m:ctrlPr>
                                  <a:rPr lang="pt-BR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16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pt-BR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𝐿𝐼𝑀𝐼𝑇</m:t>
                        </m:r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𝐵𝐴𝐿</m:t>
                        </m:r>
                      </m:den>
                    </m:f>
                  </m:oMath>
                </a14:m>
                <a:r>
                  <a:rPr lang="pt-BR" dirty="0">
                    <a:latin typeface="Arial Narrow" panose="020B0606020202030204" pitchFamily="34" charset="0"/>
                  </a:rPr>
                  <a:t> </a:t>
                </a:r>
              </a:p>
              <a:p>
                <a:r>
                  <a:rPr lang="pt-BR" dirty="0">
                    <a:latin typeface="Arial Narrow" panose="020B0606020202030204" pitchFamily="34" charset="0"/>
                  </a:rPr>
                  <a:t> </a:t>
                </a:r>
              </a:p>
              <a:p>
                <a:r>
                  <a:rPr lang="pt-BR" dirty="0">
                    <a:latin typeface="Arial Narrow" panose="020B0606020202030204" pitchFamily="34" charset="0"/>
                  </a:rPr>
                  <a:t>A métrica final corresponde à média dessas razões dentro de cada bloco temporal de 2 meses.</a:t>
                </a:r>
              </a:p>
              <a:p>
                <a:endParaRPr lang="pt-BR" dirty="0">
                  <a:latin typeface="Arial Narrow" panose="020B0606020202030204" pitchFamily="34" charset="0"/>
                </a:endParaRPr>
              </a:p>
              <a:p>
                <a:r>
                  <a:rPr lang="pt-BR" b="1" dirty="0">
                    <a:latin typeface="Arial Narrow" panose="020B0606020202030204" pitchFamily="34" charset="0"/>
                  </a:rPr>
                  <a:t>Objetivo: </a:t>
                </a:r>
                <a:r>
                  <a:rPr lang="pt-BR" dirty="0">
                    <a:latin typeface="Arial Narrow" panose="020B0606020202030204" pitchFamily="34" charset="0"/>
                  </a:rPr>
                  <a:t> Capturar o nível de utilização do limite de crédito ao longo do tempo, permitindo avaliar tanto o comportamento médio quanto a evolução do uso do crédito em diferentes períodos. A segmentação em janelas temporais possibilita identificar mudanças no padrão de consumo de crédito.</a:t>
                </a:r>
                <a:endParaRPr lang="pt-BR" b="1" dirty="0">
                  <a:latin typeface="Arial Narrow" panose="020B0606020202030204" pitchFamily="34" charset="0"/>
                </a:endParaRPr>
              </a:p>
              <a:p>
                <a:r>
                  <a:rPr lang="pt-BR" b="1" dirty="0">
                    <a:latin typeface="Arial Narrow" panose="020B0606020202030204" pitchFamily="34" charset="0"/>
                  </a:rPr>
                  <a:t>Interpretação: </a:t>
                </a:r>
              </a:p>
              <a:p>
                <a:r>
                  <a:rPr lang="pt-BR" b="1" dirty="0">
                    <a:latin typeface="Arial Narrow" panose="020B0606020202030204" pitchFamily="34" charset="0"/>
                  </a:rPr>
                  <a:t>Valores próximos de 0 → </a:t>
                </a:r>
                <a:r>
                  <a:rPr lang="pt-BR" dirty="0">
                    <a:latin typeface="Arial Narrow" panose="020B0606020202030204" pitchFamily="34" charset="0"/>
                  </a:rPr>
                  <a:t> cliente raramente utiliza o limite de crédito, comportamento conservador.</a:t>
                </a:r>
              </a:p>
              <a:p>
                <a:r>
                  <a:rPr lang="pt-BR" b="1" dirty="0">
                    <a:latin typeface="Arial Narrow" panose="020B0606020202030204" pitchFamily="34" charset="0"/>
                  </a:rPr>
                  <a:t>Valores intermediários (ex.: 0,3 a 0,6) → </a:t>
                </a:r>
                <a:r>
                  <a:rPr lang="pt-BR" dirty="0">
                    <a:latin typeface="Arial Narrow" panose="020B0606020202030204" pitchFamily="34" charset="0"/>
                  </a:rPr>
                  <a:t> cliente utiliza quase todo o limite de crédito de forma consistente, indicando maior dependência do crédito.</a:t>
                </a:r>
              </a:p>
              <a:p>
                <a:r>
                  <a:rPr lang="pt-BR" b="1" dirty="0">
                    <a:latin typeface="Arial Narrow" panose="020B0606020202030204" pitchFamily="34" charset="0"/>
                  </a:rPr>
                  <a:t>Valores mais altos </a:t>
                </a:r>
                <a:r>
                  <a:rPr lang="pt-BR" dirty="0">
                    <a:latin typeface="Arial Narrow" panose="020B0606020202030204" pitchFamily="34" charset="0"/>
                  </a:rPr>
                  <a:t>(próximos de 1 ou acima) → cliente opera próximo ou no limite do crédito, indicando maior pressão financeira e potencial risco.</a:t>
                </a:r>
              </a:p>
            </p:txBody>
          </p:sp>
        </mc:Choice>
        <mc:Fallback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14BA8872-E311-4ADC-B623-50C99AD473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278" y="1388308"/>
                <a:ext cx="11944165" cy="5469639"/>
              </a:xfrm>
              <a:prstGeom prst="rect">
                <a:avLst/>
              </a:prstGeom>
              <a:blipFill>
                <a:blip r:embed="rId3"/>
                <a:stretch>
                  <a:fillRect l="-459" t="-5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DCDE8C31-8537-410E-A4F0-2962FB819065}"/>
              </a:ext>
            </a:extLst>
          </p:cNvPr>
          <p:cNvSpPr txBox="1"/>
          <p:nvPr/>
        </p:nvSpPr>
        <p:spPr>
          <a:xfrm>
            <a:off x="169278" y="916664"/>
            <a:ext cx="60991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Numérica Contínua</a:t>
            </a:r>
          </a:p>
        </p:txBody>
      </p:sp>
    </p:spTree>
    <p:extLst>
      <p:ext uri="{BB962C8B-B14F-4D97-AF65-F5344CB8AC3E}">
        <p14:creationId xmlns:p14="http://schemas.microsoft.com/office/powerpoint/2010/main" val="27206407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C92FF5F3-69BE-4874-A7C9-3907BD6950BC}"/>
              </a:ext>
            </a:extLst>
          </p:cNvPr>
          <p:cNvSpPr/>
          <p:nvPr/>
        </p:nvSpPr>
        <p:spPr>
          <a:xfrm>
            <a:off x="-786" y="-19729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101A53B-008C-426B-AFD0-31FEAF23EC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9307289-4A8A-47F9-824C-C1FCFB380550}"/>
              </a:ext>
            </a:extLst>
          </p:cNvPr>
          <p:cNvSpPr txBox="1"/>
          <p:nvPr/>
        </p:nvSpPr>
        <p:spPr>
          <a:xfrm>
            <a:off x="301253" y="223999"/>
            <a:ext cx="8406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Feature</a:t>
            </a:r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pt-BR" sz="28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Engineering</a:t>
            </a:r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| Tendência Temporal (inclinação linear)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F9B0A46D-728C-4CB4-B37D-7702841311D1}"/>
                  </a:ext>
                </a:extLst>
              </p:cNvPr>
              <p:cNvSpPr txBox="1"/>
              <p:nvPr/>
            </p:nvSpPr>
            <p:spPr>
              <a:xfrm>
                <a:off x="75735" y="1411435"/>
                <a:ext cx="12040530" cy="5461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b="1" dirty="0">
                    <a:latin typeface="Arial Narrow" panose="020B0606020202030204" pitchFamily="34" charset="0"/>
                  </a:rPr>
                  <a:t>TENDENCIA_UTIL_B1–TENDENCIA_UTIL_B3</a:t>
                </a:r>
              </a:p>
              <a:p>
                <a:r>
                  <a:rPr lang="pt-BR" sz="1800" b="1" dirty="0">
                    <a:latin typeface="Arial Narrow" panose="020B0606020202030204" pitchFamily="34" charset="0"/>
                  </a:rPr>
                  <a:t>Definição</a:t>
                </a:r>
                <a:r>
                  <a:rPr lang="pt-BR" dirty="0">
                    <a:latin typeface="Arial Narrow" panose="020B0606020202030204" pitchFamily="34" charset="0"/>
                  </a:rPr>
                  <a:t>:  Coeficiente de tendência que captura </a:t>
                </a:r>
                <a:r>
                  <a:rPr lang="pt-BR" sz="1800" dirty="0">
                    <a:latin typeface="Arial Narrow" panose="020B0606020202030204" pitchFamily="34" charset="0"/>
                  </a:rPr>
                  <a:t>a tendência da taxa de utilização do limite de crédito em diferentes janelas temporais do histórico do cliente.</a:t>
                </a:r>
                <a:r>
                  <a:rPr lang="pt-BR" sz="1050" dirty="0">
                    <a:latin typeface="Arial Narrow" panose="020B0606020202030204" pitchFamily="34" charset="0"/>
                  </a:rPr>
                  <a:t> </a:t>
                </a:r>
              </a:p>
              <a:p>
                <a:pPr algn="ctr"/>
                <a:r>
                  <a:rPr lang="pt-BR" i="1" dirty="0" err="1">
                    <a:latin typeface="Cambria Math" panose="02040503050406030204" pitchFamily="18" charset="0"/>
                  </a:rPr>
                  <a:t>UTILIZACAOi</a:t>
                </a:r>
                <a:r>
                  <a:rPr lang="pt-BR" i="1" dirty="0">
                    <a:latin typeface="Cambria Math" panose="02040503050406030204" pitchFamily="18" charset="0"/>
                  </a:rPr>
                  <a:t>​ </a:t>
                </a:r>
                <a:r>
                  <a:rPr lang="pt-BR" sz="1600" i="1" dirty="0">
                    <a:latin typeface="Cambria Math" panose="02040503050406030204" pitchFamily="18" charset="0"/>
                  </a:rPr>
                  <a:t>=</a:t>
                </a:r>
                <a:r>
                  <a:rPr lang="pt-BR" b="1" dirty="0">
                    <a:latin typeface="Arial Narrow" panose="020B060602020203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i="1">
                            <a:latin typeface="Cambria Math" panose="02040503050406030204" pitchFamily="18" charset="0"/>
                          </a:rPr>
                          <m:t>𝐵𝐼𝐿𝐿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𝐴𝑀𝑇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𝐿𝐼𝑀𝐼𝑇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𝐵𝐴𝐿</m:t>
                        </m:r>
                      </m:den>
                    </m:f>
                  </m:oMath>
                </a14:m>
                <a:r>
                  <a:rPr lang="pt-BR" dirty="0">
                    <a:latin typeface="Arial Narrow" panose="020B0606020202030204" pitchFamily="34" charset="0"/>
                  </a:rPr>
                  <a:t> </a:t>
                </a:r>
              </a:p>
              <a:p>
                <a:r>
                  <a:rPr lang="pt-BR" sz="900" dirty="0">
                    <a:latin typeface="Arial Narrow" panose="020B0606020202030204" pitchFamily="34" charset="0"/>
                  </a:rPr>
                  <a:t> </a:t>
                </a:r>
              </a:p>
              <a:p>
                <a:r>
                  <a:rPr lang="pt-BR" dirty="0">
                    <a:latin typeface="Arial Narrow" panose="020B0606020202030204" pitchFamily="34" charset="0"/>
                  </a:rPr>
                  <a:t>Para cada bloco temporal  é ajustado um modelo de regressão linear simples onde a variável dependente é a taxa de utilização e o eixo temporal representa os meses dentro do bloco (1 e 2).</a:t>
                </a:r>
              </a:p>
              <a:p>
                <a:r>
                  <a:rPr lang="pt-BR" dirty="0">
                    <a:latin typeface="Arial Narrow" panose="020B0606020202030204" pitchFamily="34" charset="0"/>
                  </a:rPr>
                  <a:t>O coeficiente angular (β) da regressão representa a inclinação da tendência de utilização dentro do período analisado.</a:t>
                </a:r>
              </a:p>
              <a:p>
                <a:r>
                  <a:rPr lang="pt-BR" sz="1000" dirty="0">
                    <a:latin typeface="Arial Narrow" panose="020B0606020202030204" pitchFamily="34" charset="0"/>
                  </a:rPr>
                  <a:t>  </a:t>
                </a:r>
              </a:p>
              <a:p>
                <a:pPr algn="just"/>
                <a:r>
                  <a:rPr lang="pt-BR" sz="1800" b="1" dirty="0">
                    <a:latin typeface="Arial Narrow" panose="020B0606020202030204" pitchFamily="34" charset="0"/>
                  </a:rPr>
                  <a:t>Objetivo: </a:t>
                </a:r>
                <a:r>
                  <a:rPr lang="pt-BR" sz="1800" dirty="0">
                    <a:latin typeface="Arial Narrow" panose="020B0606020202030204" pitchFamily="34" charset="0"/>
                  </a:rPr>
                  <a:t>Capturar a dinâmica de evolução do uso do crédito ao longo do tempo, permitindo identificar se o cliente está aumentando, reduzindo ou mantendo estável sua dependência do limite de crédito em cada janela temporal. Essa variável foca na direção do comportamento financeiro.</a:t>
                </a:r>
                <a:r>
                  <a:rPr lang="pt-BR" sz="1000" dirty="0">
                    <a:latin typeface="Arial Narrow" panose="020B0606020202030204" pitchFamily="34" charset="0"/>
                  </a:rPr>
                  <a:t> </a:t>
                </a:r>
              </a:p>
              <a:p>
                <a:endParaRPr lang="pt-BR" sz="1000" b="1" dirty="0">
                  <a:latin typeface="Arial Narrow" panose="020B0606020202030204" pitchFamily="34" charset="0"/>
                </a:endParaRPr>
              </a:p>
              <a:p>
                <a:r>
                  <a:rPr lang="pt-BR" sz="1800" b="1" dirty="0">
                    <a:latin typeface="Arial Narrow" panose="020B0606020202030204" pitchFamily="34" charset="0"/>
                  </a:rPr>
                  <a:t>Interpretação:</a:t>
                </a:r>
              </a:p>
              <a:p>
                <a:r>
                  <a:rPr lang="pt-BR" sz="1050" dirty="0">
                    <a:latin typeface="Arial Narrow" panose="020B0606020202030204" pitchFamily="34" charset="0"/>
                  </a:rPr>
                  <a:t> </a:t>
                </a:r>
                <a:endParaRPr lang="pt-BR" sz="1050" b="1" dirty="0">
                  <a:latin typeface="Arial Narrow" panose="020B0606020202030204" pitchFamily="34" charset="0"/>
                </a:endParaRPr>
              </a:p>
              <a:p>
                <a:r>
                  <a:rPr lang="pt-BR" sz="1700" b="1" dirty="0">
                    <a:latin typeface="Arial Narrow" panose="020B0606020202030204" pitchFamily="34" charset="0"/>
                  </a:rPr>
                  <a:t>Valores positivos → </a:t>
                </a:r>
                <a:r>
                  <a:rPr lang="pt-BR" sz="1700" dirty="0">
                    <a:latin typeface="Arial Narrow" panose="020B0606020202030204" pitchFamily="34" charset="0"/>
                  </a:rPr>
                  <a:t>cliente apresenta aumento na utilização do crédito dentro do período analisado, indicando maior dependência do limite ao longo do tempo</a:t>
                </a:r>
              </a:p>
              <a:p>
                <a:r>
                  <a:rPr lang="pt-BR" sz="1700" b="1" dirty="0">
                    <a:latin typeface="Arial Narrow" panose="020B0606020202030204" pitchFamily="34" charset="0"/>
                  </a:rPr>
                  <a:t>Valores negativos → </a:t>
                </a:r>
                <a:r>
                  <a:rPr lang="pt-BR" sz="1700" dirty="0">
                    <a:latin typeface="Arial Narrow" panose="020B0606020202030204" pitchFamily="34" charset="0"/>
                  </a:rPr>
                  <a:t>cliente reduz progressivamente a utilização do crédito, sugerindo maior controle financeiro ou menor demanda por crédito</a:t>
                </a:r>
              </a:p>
              <a:p>
                <a:r>
                  <a:rPr lang="pt-BR" sz="1700" b="1" dirty="0">
                    <a:latin typeface="Arial Narrow" panose="020B0606020202030204" pitchFamily="34" charset="0"/>
                  </a:rPr>
                  <a:t>Valores próximos de zero </a:t>
                </a:r>
                <a:r>
                  <a:rPr lang="pt-BR" sz="1700" dirty="0">
                    <a:latin typeface="Arial Narrow" panose="020B0606020202030204" pitchFamily="34" charset="0"/>
                  </a:rPr>
                  <a:t>→ comportamento estável, sem tendência clara de aumento ou redução na utilização</a:t>
                </a:r>
              </a:p>
              <a:p>
                <a:r>
                  <a:rPr lang="pt-BR" sz="1700" dirty="0">
                    <a:latin typeface="Arial Narrow" panose="020B0606020202030204" pitchFamily="34" charset="0"/>
                  </a:rPr>
                  <a:t>Trata-se de uma </a:t>
                </a:r>
                <a:r>
                  <a:rPr lang="pt-BR" sz="1700" dirty="0" err="1">
                    <a:latin typeface="Arial Narrow" panose="020B0606020202030204" pitchFamily="34" charset="0"/>
                  </a:rPr>
                  <a:t>feature</a:t>
                </a:r>
                <a:r>
                  <a:rPr lang="pt-BR" sz="1700" dirty="0">
                    <a:latin typeface="Arial Narrow" panose="020B0606020202030204" pitchFamily="34" charset="0"/>
                  </a:rPr>
                  <a:t> de tendência, o coeficiente (</a:t>
                </a:r>
                <a:r>
                  <a:rPr lang="pt-BR" sz="1700" dirty="0" err="1">
                    <a:latin typeface="Arial Narrow" panose="020B0606020202030204" pitchFamily="34" charset="0"/>
                  </a:rPr>
                  <a:t>slope</a:t>
                </a:r>
                <a:r>
                  <a:rPr lang="pt-BR" sz="1700" dirty="0">
                    <a:latin typeface="Arial Narrow" panose="020B0606020202030204" pitchFamily="34" charset="0"/>
                  </a:rPr>
                  <a:t>) de uma regressão linear </a:t>
                </a:r>
                <a:r>
                  <a:rPr lang="pt-BR" sz="1700" dirty="0" err="1">
                    <a:latin typeface="Arial Narrow" panose="020B0606020202030204" pitchFamily="34" charset="0"/>
                  </a:rPr>
                  <a:t>univariada</a:t>
                </a:r>
                <a:r>
                  <a:rPr lang="pt-BR" sz="1700" dirty="0">
                    <a:latin typeface="Arial Narrow" panose="020B0606020202030204" pitchFamily="34" charset="0"/>
                  </a:rPr>
                  <a:t> aplicada sobre a evolução de uma única variável ao longo do tempo e reflete a evolução temporal de uma única variável.</a:t>
                </a:r>
              </a:p>
            </p:txBody>
          </p:sp>
        </mc:Choice>
        <mc:Fallback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F9B0A46D-728C-4CB4-B37D-7702841311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35" y="1411435"/>
                <a:ext cx="12040530" cy="5461110"/>
              </a:xfrm>
              <a:prstGeom prst="rect">
                <a:avLst/>
              </a:prstGeom>
              <a:blipFill>
                <a:blip r:embed="rId3"/>
                <a:stretch>
                  <a:fillRect l="-405" t="-559" r="-455" b="-67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CaixaDeTexto 9">
            <a:extLst>
              <a:ext uri="{FF2B5EF4-FFF2-40B4-BE49-F238E27FC236}">
                <a16:creationId xmlns:a16="http://schemas.microsoft.com/office/drawing/2014/main" id="{88B16321-3E33-4450-A74B-145AC20CEE1C}"/>
              </a:ext>
            </a:extLst>
          </p:cNvPr>
          <p:cNvSpPr txBox="1"/>
          <p:nvPr/>
        </p:nvSpPr>
        <p:spPr>
          <a:xfrm>
            <a:off x="75735" y="983520"/>
            <a:ext cx="60991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Numérica Contínua</a:t>
            </a:r>
          </a:p>
        </p:txBody>
      </p:sp>
    </p:spTree>
    <p:extLst>
      <p:ext uri="{BB962C8B-B14F-4D97-AF65-F5344CB8AC3E}">
        <p14:creationId xmlns:p14="http://schemas.microsoft.com/office/powerpoint/2010/main" val="36014956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C92FF5F3-69BE-4874-A7C9-3907BD6950BC}"/>
              </a:ext>
            </a:extLst>
          </p:cNvPr>
          <p:cNvSpPr/>
          <p:nvPr/>
        </p:nvSpPr>
        <p:spPr>
          <a:xfrm>
            <a:off x="-786" y="-19729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101A53B-008C-426B-AFD0-31FEAF23EC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14BA8872-E311-4ADC-B623-50C99AD47306}"/>
                  </a:ext>
                </a:extLst>
              </p:cNvPr>
              <p:cNvSpPr txBox="1"/>
              <p:nvPr/>
            </p:nvSpPr>
            <p:spPr>
              <a:xfrm>
                <a:off x="120688" y="1436744"/>
                <a:ext cx="11917543" cy="53992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b="1" dirty="0">
                    <a:latin typeface="Arial Narrow" panose="020B0606020202030204" pitchFamily="34" charset="0"/>
                  </a:rPr>
                  <a:t>UTIL_VOLATIL_B1 / B2 / B3</a:t>
                </a:r>
                <a:br>
                  <a:rPr lang="pt-BR" sz="2000" b="1" dirty="0">
                    <a:highlight>
                      <a:srgbClr val="00FF00"/>
                    </a:highlight>
                    <a:latin typeface="Arial Narrow" panose="020B0606020202030204" pitchFamily="34" charset="0"/>
                  </a:rPr>
                </a:br>
                <a:r>
                  <a:rPr lang="pt-BR" sz="1900" b="1" dirty="0">
                    <a:latin typeface="Arial Narrow" panose="020B0606020202030204" pitchFamily="34" charset="0"/>
                  </a:rPr>
                  <a:t>Definição:  </a:t>
                </a:r>
                <a:r>
                  <a:rPr lang="pt-BR" sz="1900" dirty="0">
                    <a:latin typeface="Arial Narrow" panose="020B0606020202030204" pitchFamily="34" charset="0"/>
                  </a:rPr>
                  <a:t>Volatilidade da taxa de utilização do limite de crédito dentro de cada janela temporal (B1, B2 e B3).Cada taxa mensal de utilização é calculada como:</a:t>
                </a:r>
              </a:p>
              <a:p>
                <a:r>
                  <a:rPr lang="pt-BR" sz="1200" dirty="0">
                    <a:latin typeface="Arial Narrow" panose="020B0606020202030204" pitchFamily="34" charset="0"/>
                  </a:rPr>
                  <a:t>    </a:t>
                </a:r>
              </a:p>
              <a:p>
                <a:pPr algn="ctr"/>
                <a:r>
                  <a:rPr lang="pt-BR" sz="1400" b="1" dirty="0">
                    <a:latin typeface="Arial Narrow" panose="020B0606020202030204" pitchFamily="34" charset="0"/>
                  </a:rPr>
                  <a:t> </a:t>
                </a:r>
                <a:r>
                  <a:rPr lang="pt-BR" sz="1050" dirty="0">
                    <a:latin typeface="Arial Narrow" panose="020B0606020202030204" pitchFamily="34" charset="0"/>
                  </a:rPr>
                  <a:t>​</a:t>
                </a:r>
                <a:r>
                  <a:rPr lang="pt-BR" sz="1700" i="1" dirty="0">
                    <a:latin typeface="Cambria Math" panose="02040503050406030204" pitchFamily="18" charset="0"/>
                  </a:rPr>
                  <a:t>UTILIZACAOi=</a:t>
                </a:r>
                <a14:m>
                  <m:oMath xmlns:m="http://schemas.openxmlformats.org/officeDocument/2006/math">
                    <m:r>
                      <a:rPr lang="pt-BR" sz="170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pt-BR" sz="17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1700">
                            <a:latin typeface="Cambria Math" panose="02040503050406030204" pitchFamily="18" charset="0"/>
                          </a:rPr>
                          <m:t>𝐵𝐼𝐿𝐿</m:t>
                        </m:r>
                        <m:r>
                          <a:rPr lang="pt-BR" sz="170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pt-BR" sz="1700">
                            <a:latin typeface="Cambria Math" panose="02040503050406030204" pitchFamily="18" charset="0"/>
                          </a:rPr>
                          <m:t>𝐴𝑀𝑇</m:t>
                        </m:r>
                        <m:r>
                          <a:rPr lang="pt-BR" sz="170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pt-BR" sz="1700"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m:rPr>
                            <m:nor/>
                          </m:rPr>
                          <a:rPr lang="pt-BR" sz="1700" i="1">
                            <a:latin typeface="Cambria Math" panose="02040503050406030204" pitchFamily="18" charset="0"/>
                          </a:rPr>
                          <m:t>LIMIT</m:t>
                        </m:r>
                        <m:r>
                          <m:rPr>
                            <m:nor/>
                          </m:rPr>
                          <a:rPr lang="pt-BR" sz="1700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m:rPr>
                            <m:nor/>
                          </m:rPr>
                          <a:rPr lang="pt-BR" sz="1700" i="1">
                            <a:latin typeface="Cambria Math" panose="02040503050406030204" pitchFamily="18" charset="0"/>
                          </a:rPr>
                          <m:t>BALL</m:t>
                        </m:r>
                        <m:r>
                          <m:rPr>
                            <m:nor/>
                          </m:rPr>
                          <a:rPr lang="pt-BR" sz="1700" i="1">
                            <a:latin typeface="Cambria Math" panose="02040503050406030204" pitchFamily="18" charset="0"/>
                          </a:rPr>
                          <m:t>​​  </m:t>
                        </m:r>
                        <m:r>
                          <a:rPr lang="pt-BR" sz="1700">
                            <a:latin typeface="Cambria Math" panose="02040503050406030204" pitchFamily="18" charset="0"/>
                          </a:rPr>
                          <m:t>	​	​</m:t>
                        </m:r>
                      </m:den>
                    </m:f>
                  </m:oMath>
                </a14:m>
                <a:r>
                  <a:rPr lang="pt-BR" sz="1700" dirty="0">
                    <a:latin typeface="Cambria Math" panose="02040503050406030204" pitchFamily="18" charset="0"/>
                  </a:rPr>
                  <a:t> </a:t>
                </a:r>
              </a:p>
              <a:p>
                <a:r>
                  <a:rPr lang="pt-BR" sz="1100" dirty="0">
                    <a:latin typeface="Cambria Math" panose="02040503050406030204" pitchFamily="18" charset="0"/>
                  </a:rPr>
                  <a:t>   </a:t>
                </a:r>
              </a:p>
              <a:p>
                <a:r>
                  <a:rPr lang="pt-BR" sz="1900" dirty="0">
                    <a:latin typeface="Arial Narrow" panose="020B0606020202030204" pitchFamily="34" charset="0"/>
                  </a:rPr>
                  <a:t>A métrica final corresponde ao desvio padrão dessas taxas dentro de cada bloco de 2 meses, representando a dispersão do uso do crédito ao longo do período. </a:t>
                </a:r>
              </a:p>
              <a:p>
                <a:endParaRPr lang="pt-BR" sz="1050" dirty="0">
                  <a:latin typeface="Arial Narrow" panose="020B0606020202030204" pitchFamily="34" charset="0"/>
                </a:endParaRPr>
              </a:p>
              <a:p>
                <a:r>
                  <a:rPr lang="pt-BR" sz="1900" b="1" dirty="0">
                    <a:latin typeface="Arial Narrow" panose="020B0606020202030204" pitchFamily="34" charset="0"/>
                  </a:rPr>
                  <a:t>Objetivo:</a:t>
                </a:r>
              </a:p>
              <a:p>
                <a:r>
                  <a:rPr lang="pt-BR" sz="1900" dirty="0">
                    <a:latin typeface="Arial Narrow" panose="020B0606020202030204" pitchFamily="34" charset="0"/>
                  </a:rPr>
                  <a:t>Capturar a instabilidade do uso do limite de crédito ao longo do tempo. Enquanto a média reflete o nível típico de utilização, a volatilidade evidencia o quanto esse comportamento varia entre meses, permitindo diferenciar clientes estáveis de clientes com padrão oscilante de consumo de crédito.</a:t>
                </a:r>
              </a:p>
              <a:p>
                <a:r>
                  <a:rPr lang="pt-BR" sz="2000" dirty="0">
                    <a:latin typeface="Arial Narrow" panose="020B0606020202030204" pitchFamily="34" charset="0"/>
                  </a:rPr>
                  <a:t> </a:t>
                </a:r>
              </a:p>
              <a:p>
                <a:r>
                  <a:rPr lang="pt-BR" sz="1900" b="1" dirty="0">
                    <a:latin typeface="Arial Narrow" panose="020B0606020202030204" pitchFamily="34" charset="0"/>
                  </a:rPr>
                  <a:t>Interpretação:</a:t>
                </a:r>
              </a:p>
              <a:p>
                <a:r>
                  <a:rPr lang="pt-BR" sz="1900" b="1" dirty="0">
                    <a:latin typeface="Arial Narrow" panose="020B0606020202030204" pitchFamily="34" charset="0"/>
                  </a:rPr>
                  <a:t>Valores próximos de 0 → </a:t>
                </a:r>
                <a:r>
                  <a:rPr lang="pt-BR" sz="1900" dirty="0">
                    <a:latin typeface="Arial Narrow" panose="020B0606020202030204" pitchFamily="34" charset="0"/>
                  </a:rPr>
                  <a:t>cliente apresenta uso estável do limite de crédito ao longo do período.</a:t>
                </a:r>
              </a:p>
              <a:p>
                <a:r>
                  <a:rPr lang="pt-BR" sz="1900" b="1" dirty="0">
                    <a:latin typeface="Arial Narrow" panose="020B0606020202030204" pitchFamily="34" charset="0"/>
                  </a:rPr>
                  <a:t>Valores intermediários → </a:t>
                </a:r>
                <a:r>
                  <a:rPr lang="pt-BR" sz="1900" dirty="0">
                    <a:latin typeface="Arial Narrow" panose="020B0606020202030204" pitchFamily="34" charset="0"/>
                  </a:rPr>
                  <a:t>cliente apresenta variações moderadas no uso do crédito entre os meses do bloco.</a:t>
                </a:r>
              </a:p>
              <a:p>
                <a:r>
                  <a:rPr lang="pt-BR" sz="1900" b="1" dirty="0">
                    <a:latin typeface="Arial Narrow" panose="020B0606020202030204" pitchFamily="34" charset="0"/>
                  </a:rPr>
                  <a:t>Valores altos → </a:t>
                </a:r>
                <a:r>
                  <a:rPr lang="pt-BR" sz="1900" dirty="0">
                    <a:latin typeface="Arial Narrow" panose="020B0606020202030204" pitchFamily="34" charset="0"/>
                  </a:rPr>
                  <a:t>cliente apresenta comportamento instável, com forte oscilação na utilização do limite, sugerindo padrão financeiro inconsistente ou mais arriscado.</a:t>
                </a:r>
              </a:p>
            </p:txBody>
          </p:sp>
        </mc:Choice>
        <mc:Fallback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14BA8872-E311-4ADC-B623-50C99AD473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688" y="1436744"/>
                <a:ext cx="11917543" cy="5399299"/>
              </a:xfrm>
              <a:prstGeom prst="rect">
                <a:avLst/>
              </a:prstGeom>
              <a:blipFill>
                <a:blip r:embed="rId3"/>
                <a:stretch>
                  <a:fillRect l="-512" t="-565" b="-101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aixaDeTexto 8">
            <a:extLst>
              <a:ext uri="{FF2B5EF4-FFF2-40B4-BE49-F238E27FC236}">
                <a16:creationId xmlns:a16="http://schemas.microsoft.com/office/drawing/2014/main" id="{7D4BD78C-A271-4E6F-A509-8C6882FB2B82}"/>
              </a:ext>
            </a:extLst>
          </p:cNvPr>
          <p:cNvSpPr txBox="1"/>
          <p:nvPr/>
        </p:nvSpPr>
        <p:spPr>
          <a:xfrm>
            <a:off x="92908" y="930180"/>
            <a:ext cx="60991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Numérica Contínua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88A27A2-E615-4B7D-A7DA-FFDE3D347CB2}"/>
              </a:ext>
            </a:extLst>
          </p:cNvPr>
          <p:cNvSpPr txBox="1"/>
          <p:nvPr/>
        </p:nvSpPr>
        <p:spPr>
          <a:xfrm>
            <a:off x="301253" y="223999"/>
            <a:ext cx="882389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5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Feature</a:t>
            </a:r>
            <a:r>
              <a:rPr lang="pt-BR" sz="25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pt-BR" sz="25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Engineering</a:t>
            </a:r>
            <a:r>
              <a:rPr lang="pt-BR" sz="25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 | Volatilidade | Medida de Dispersão (desvio padrão)</a:t>
            </a:r>
          </a:p>
        </p:txBody>
      </p:sp>
    </p:spTree>
    <p:extLst>
      <p:ext uri="{BB962C8B-B14F-4D97-AF65-F5344CB8AC3E}">
        <p14:creationId xmlns:p14="http://schemas.microsoft.com/office/powerpoint/2010/main" val="26340665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C92FF5F3-69BE-4874-A7C9-3907BD6950BC}"/>
              </a:ext>
            </a:extLst>
          </p:cNvPr>
          <p:cNvSpPr/>
          <p:nvPr/>
        </p:nvSpPr>
        <p:spPr>
          <a:xfrm>
            <a:off x="-786" y="-19729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101A53B-008C-426B-AFD0-31FEAF23EC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9307289-4A8A-47F9-824C-C1FCFB380550}"/>
              </a:ext>
            </a:extLst>
          </p:cNvPr>
          <p:cNvSpPr txBox="1"/>
          <p:nvPr/>
        </p:nvSpPr>
        <p:spPr>
          <a:xfrm>
            <a:off x="301253" y="223999"/>
            <a:ext cx="88238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Feature</a:t>
            </a:r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pt-BR" sz="28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Engineering</a:t>
            </a:r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 | Flag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4BA8872-E311-4ADC-B623-50C99AD47306}"/>
              </a:ext>
            </a:extLst>
          </p:cNvPr>
          <p:cNvSpPr txBox="1"/>
          <p:nvPr/>
        </p:nvSpPr>
        <p:spPr>
          <a:xfrm>
            <a:off x="120688" y="1436744"/>
            <a:ext cx="11917543" cy="5624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latin typeface="Arial Narrow" panose="020B0606020202030204" pitchFamily="34" charset="0"/>
              </a:rPr>
              <a:t>UTIL_ZERO_B1 / B2 / B3</a:t>
            </a:r>
            <a:br>
              <a:rPr lang="pt-BR" sz="2000" b="1" dirty="0">
                <a:highlight>
                  <a:srgbClr val="00FF00"/>
                </a:highlight>
                <a:latin typeface="Arial Narrow" panose="020B0606020202030204" pitchFamily="34" charset="0"/>
              </a:rPr>
            </a:br>
            <a:r>
              <a:rPr lang="pt-BR" sz="2000" b="1" dirty="0">
                <a:latin typeface="Arial Narrow" panose="020B0606020202030204" pitchFamily="34" charset="0"/>
              </a:rPr>
              <a:t>Definição:  </a:t>
            </a:r>
            <a:r>
              <a:rPr lang="pt-BR" sz="2000" dirty="0">
                <a:latin typeface="Arial Narrow" panose="020B0606020202030204" pitchFamily="34" charset="0"/>
              </a:rPr>
              <a:t>Variável binária que indica se o cliente não utilizou o limite de crédito em nenhum dos meses dentro de cada janela temporal (B1, B2 ou B3).</a:t>
            </a:r>
          </a:p>
          <a:p>
            <a:r>
              <a:rPr lang="pt-BR" sz="2000" dirty="0">
                <a:latin typeface="Arial Narrow" panose="020B0606020202030204" pitchFamily="34" charset="0"/>
              </a:rPr>
              <a:t>A variável é construída a partir da média das taxas mensais de utilização dentro do bloco, sendo convertida em indicador binário</a:t>
            </a:r>
            <a:r>
              <a:rPr lang="pt-BR" sz="2000" b="1" dirty="0">
                <a:latin typeface="Arial Narrow" panose="020B0606020202030204" pitchFamily="34" charset="0"/>
              </a:rPr>
              <a:t>.</a:t>
            </a:r>
            <a:endParaRPr lang="pt-BR" sz="2000" i="1" dirty="0">
              <a:latin typeface="Cambria Math" panose="02040503050406030204" pitchFamily="18" charset="0"/>
            </a:endParaRPr>
          </a:p>
          <a:p>
            <a:r>
              <a:rPr lang="pt-BR" sz="1050" dirty="0">
                <a:latin typeface="Arial Narrow" panose="020B0606020202030204" pitchFamily="34" charset="0"/>
              </a:rPr>
              <a:t> </a:t>
            </a:r>
          </a:p>
          <a:p>
            <a:r>
              <a:rPr lang="pt-BR" sz="2000" b="1" dirty="0">
                <a:latin typeface="Arial Narrow" panose="020B0606020202030204" pitchFamily="34" charset="0"/>
              </a:rPr>
              <a:t>Objetivo: </a:t>
            </a:r>
            <a:r>
              <a:rPr lang="pt-BR" sz="2000" dirty="0">
                <a:latin typeface="Arial Narrow" panose="020B0606020202030204" pitchFamily="34" charset="0"/>
              </a:rPr>
              <a:t>Identificar períodos completos de não utilização do crédito, capturando clientes com comportamento de crédito totalmente inativo dentro da janela analisada.</a:t>
            </a:r>
          </a:p>
          <a:p>
            <a:endParaRPr lang="pt-BR" sz="2000" dirty="0">
              <a:latin typeface="Arial Narrow" panose="020B0606020202030204" pitchFamily="34" charset="0"/>
            </a:endParaRPr>
          </a:p>
          <a:p>
            <a:r>
              <a:rPr lang="pt-BR" sz="2000" dirty="0">
                <a:latin typeface="Arial Narrow" panose="020B0606020202030204" pitchFamily="34" charset="0"/>
              </a:rPr>
              <a:t>Essa variável ajuda a diferenciar: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latin typeface="Arial Narrow" panose="020B0606020202030204" pitchFamily="34" charset="0"/>
              </a:rPr>
              <a:t>clientes com ausência total de uso de crédito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latin typeface="Arial Narrow" panose="020B0606020202030204" pitchFamily="34" charset="0"/>
              </a:rPr>
              <a:t>clientes com qualquer nível de utilização recorrente.</a:t>
            </a:r>
          </a:p>
          <a:p>
            <a:r>
              <a:rPr lang="pt-BR" sz="1100" dirty="0">
                <a:latin typeface="Arial Narrow" panose="020B0606020202030204" pitchFamily="34" charset="0"/>
              </a:rPr>
              <a:t>   </a:t>
            </a:r>
          </a:p>
          <a:p>
            <a:r>
              <a:rPr lang="pt-BR" sz="2000" b="1" dirty="0">
                <a:latin typeface="Arial Narrow" panose="020B0606020202030204" pitchFamily="34" charset="0"/>
              </a:rPr>
              <a:t>Interpretação:</a:t>
            </a:r>
          </a:p>
          <a:p>
            <a:r>
              <a:rPr lang="pt-BR" sz="2000" dirty="0">
                <a:latin typeface="Arial Narrow" panose="020B0606020202030204" pitchFamily="34" charset="0"/>
              </a:rPr>
              <a:t>0 → cliente utilizou o limite de crédito em pelo menos um mês do bloco.</a:t>
            </a:r>
          </a:p>
          <a:p>
            <a:r>
              <a:rPr lang="pt-BR" sz="2000" dirty="0">
                <a:latin typeface="Arial Narrow" panose="020B0606020202030204" pitchFamily="34" charset="0"/>
              </a:rPr>
              <a:t>1 → cliente não utilizou o limite de crédito em nenhum mês do bloco.</a:t>
            </a:r>
          </a:p>
          <a:p>
            <a:r>
              <a:rPr lang="pt-BR" sz="1000" dirty="0">
                <a:latin typeface="Arial Narrow" panose="020B0606020202030204" pitchFamily="34" charset="0"/>
              </a:rPr>
              <a:t>   </a:t>
            </a:r>
          </a:p>
          <a:p>
            <a:r>
              <a:rPr lang="pt-BR" sz="2000" b="1" dirty="0">
                <a:latin typeface="Arial Narrow" panose="020B0606020202030204" pitchFamily="34" charset="0"/>
              </a:rPr>
              <a:t>Observação conceitual: </a:t>
            </a:r>
            <a:r>
              <a:rPr lang="pt-BR" sz="2000" dirty="0">
                <a:latin typeface="Arial Narrow" panose="020B0606020202030204" pitchFamily="34" charset="0"/>
              </a:rPr>
              <a:t>A variável é derivada da média das taxas mensais de utilização no bloco, sendo convertida em flag binária para capturar ausência completa de uso de crédito no período.</a:t>
            </a:r>
            <a:endParaRPr lang="pt-BR" sz="20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CDE8C31-8537-410E-A4F0-2962FB819065}"/>
              </a:ext>
            </a:extLst>
          </p:cNvPr>
          <p:cNvSpPr txBox="1"/>
          <p:nvPr/>
        </p:nvSpPr>
        <p:spPr>
          <a:xfrm>
            <a:off x="136442" y="913524"/>
            <a:ext cx="60991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Variável Binária </a:t>
            </a:r>
          </a:p>
        </p:txBody>
      </p:sp>
    </p:spTree>
    <p:extLst>
      <p:ext uri="{BB962C8B-B14F-4D97-AF65-F5344CB8AC3E}">
        <p14:creationId xmlns:p14="http://schemas.microsoft.com/office/powerpoint/2010/main" val="32260341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C92FF5F3-69BE-4874-A7C9-3907BD6950BC}"/>
              </a:ext>
            </a:extLst>
          </p:cNvPr>
          <p:cNvSpPr/>
          <p:nvPr/>
        </p:nvSpPr>
        <p:spPr>
          <a:xfrm>
            <a:off x="-786" y="-19729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101A53B-008C-426B-AFD0-31FEAF23EC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9307289-4A8A-47F9-824C-C1FCFB380550}"/>
              </a:ext>
            </a:extLst>
          </p:cNvPr>
          <p:cNvSpPr txBox="1"/>
          <p:nvPr/>
        </p:nvSpPr>
        <p:spPr>
          <a:xfrm>
            <a:off x="301253" y="223999"/>
            <a:ext cx="88238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Feature</a:t>
            </a:r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pt-BR" sz="28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Engineering</a:t>
            </a:r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 | Coeficiente de Variação (dispersão relativa)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14BA8872-E311-4ADC-B623-50C99AD47306}"/>
                  </a:ext>
                </a:extLst>
              </p:cNvPr>
              <p:cNvSpPr txBox="1"/>
              <p:nvPr/>
            </p:nvSpPr>
            <p:spPr>
              <a:xfrm>
                <a:off x="87258" y="1244284"/>
                <a:ext cx="12029007" cy="56137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b="1" dirty="0">
                    <a:latin typeface="Arial Narrow" panose="020B0606020202030204" pitchFamily="34" charset="0"/>
                  </a:rPr>
                  <a:t>CONCENTRACAO_UTIL_BX </a:t>
                </a:r>
                <a:r>
                  <a:rPr lang="pt-BR" sz="1800" b="1" dirty="0">
                    <a:latin typeface="Arial Narrow" panose="020B0606020202030204" pitchFamily="34" charset="0"/>
                  </a:rPr>
                  <a:t>(</a:t>
                </a:r>
                <a:r>
                  <a:rPr lang="pt-BR" b="1" dirty="0">
                    <a:latin typeface="Arial Narrow" panose="020B0606020202030204" pitchFamily="34" charset="0"/>
                  </a:rPr>
                  <a:t>CONCENTRACAO_UTIL</a:t>
                </a:r>
                <a:r>
                  <a:rPr lang="pt-BR" sz="1800" b="1" dirty="0">
                    <a:latin typeface="Arial Narrow" panose="020B0606020202030204" pitchFamily="34" charset="0"/>
                  </a:rPr>
                  <a:t>_B1 / </a:t>
                </a:r>
                <a:r>
                  <a:rPr lang="pt-BR" b="1" dirty="0">
                    <a:latin typeface="Arial Narrow" panose="020B0606020202030204" pitchFamily="34" charset="0"/>
                  </a:rPr>
                  <a:t>CONCENTRACAO_UTIL_</a:t>
                </a:r>
                <a:r>
                  <a:rPr lang="pt-BR" sz="1800" b="1" dirty="0">
                    <a:latin typeface="Arial Narrow" panose="020B0606020202030204" pitchFamily="34" charset="0"/>
                  </a:rPr>
                  <a:t>B2 / </a:t>
                </a:r>
                <a:r>
                  <a:rPr lang="pt-BR" b="1" dirty="0">
                    <a:latin typeface="Arial Narrow" panose="020B0606020202030204" pitchFamily="34" charset="0"/>
                  </a:rPr>
                  <a:t>CONCENTRACAO_UTIL</a:t>
                </a:r>
                <a:r>
                  <a:rPr lang="pt-BR" sz="1800" b="1" dirty="0">
                    <a:latin typeface="Arial Narrow" panose="020B0606020202030204" pitchFamily="34" charset="0"/>
                  </a:rPr>
                  <a:t>_B3)</a:t>
                </a:r>
                <a:r>
                  <a:rPr lang="pt-BR" b="1" dirty="0">
                    <a:latin typeface="Arial Narrow" panose="020B0606020202030204" pitchFamily="34" charset="0"/>
                  </a:rPr>
                  <a:t> </a:t>
                </a:r>
              </a:p>
              <a:p>
                <a:r>
                  <a:rPr lang="pt-BR" sz="1200" b="1" dirty="0">
                    <a:highlight>
                      <a:srgbClr val="00FF00"/>
                    </a:highlight>
                    <a:latin typeface="Arial Narrow" panose="020B0606020202030204" pitchFamily="34" charset="0"/>
                  </a:rPr>
                  <a:t> </a:t>
                </a:r>
              </a:p>
              <a:p>
                <a:r>
                  <a:rPr lang="pt-BR" b="1" dirty="0">
                    <a:latin typeface="Arial Narrow" panose="020B0606020202030204" pitchFamily="34" charset="0"/>
                  </a:rPr>
                  <a:t>Definição: </a:t>
                </a:r>
                <a:r>
                  <a:rPr lang="pt-BR" dirty="0">
                    <a:latin typeface="Arial Narrow" panose="020B0606020202030204" pitchFamily="34" charset="0"/>
                  </a:rPr>
                  <a:t>Coeficiente de variação da utilização do limite de crédito que representa a variabilidade relativa da utilização do limite de crédito dentro de cada janela temporal (B1, B2 e B3).</a:t>
                </a:r>
              </a:p>
              <a:p>
                <a:r>
                  <a:rPr lang="pt-BR" dirty="0">
                    <a:latin typeface="Arial Narrow" panose="020B0606020202030204" pitchFamily="34" charset="0"/>
                  </a:rPr>
                  <a:t>A taxa de utilização mensal é calculada como:	​	​</a:t>
                </a:r>
              </a:p>
              <a:p>
                <a:pPr algn="ctr"/>
                <a:r>
                  <a:rPr lang="pt-BR" i="1" dirty="0" err="1">
                    <a:latin typeface="Cambria Math" panose="02040503050406030204" pitchFamily="18" charset="0"/>
                  </a:rPr>
                  <a:t>UTILIZACAOi</a:t>
                </a:r>
                <a:r>
                  <a:rPr lang="pt-BR" i="1" dirty="0">
                    <a:latin typeface="Cambria Math" panose="02040503050406030204" pitchFamily="18" charset="0"/>
                  </a:rPr>
                  <a:t> =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i="1">
                            <a:latin typeface="Cambria Math" panose="02040503050406030204" pitchFamily="18" charset="0"/>
                          </a:rPr>
                          <m:t>𝐵𝐼𝐿𝐿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𝐴𝑀𝑇𝑖</m:t>
                        </m:r>
                      </m:num>
                      <m:den>
                        <m:r>
                          <a:rPr lang="pt-BR" i="1">
                            <a:latin typeface="Cambria Math" panose="02040503050406030204" pitchFamily="18" charset="0"/>
                          </a:rPr>
                          <m:t>𝐿𝐼𝑀𝐼𝑇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𝐵𝐴𝐿</m:t>
                        </m:r>
                      </m:den>
                    </m:f>
                  </m:oMath>
                </a14:m>
                <a:r>
                  <a:rPr lang="pt-BR" dirty="0">
                    <a:latin typeface="Arial Narrow" panose="020B0606020202030204" pitchFamily="34" charset="0"/>
                  </a:rPr>
                  <a:t> </a:t>
                </a:r>
              </a:p>
              <a:p>
                <a:r>
                  <a:rPr lang="pt-BR" dirty="0">
                    <a:latin typeface="Arial Narrow" panose="020B0606020202030204" pitchFamily="34" charset="0"/>
                  </a:rPr>
                  <a:t>Em seguida, para cada bloco temporal, calcula-se o coeficiente de variação da utilização:</a:t>
                </a:r>
              </a:p>
              <a:p>
                <a:pPr algn="ctr"/>
                <a:r>
                  <a:rPr lang="pt-BR" i="1" dirty="0">
                    <a:latin typeface="Cambria Math" panose="02040503050406030204" pitchFamily="18" charset="0"/>
                  </a:rPr>
                  <a:t>CONCENTRACAO_UTIL =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pt-BR" dirty="0">
                            <a:latin typeface="Arial Narrow" panose="020B0606020202030204" pitchFamily="34" charset="0"/>
                          </a:rPr>
                          <m:t>σ</m:t>
                        </m:r>
                        <m:r>
                          <a:rPr lang="pt-BR" i="1" dirty="0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pt-BR" i="1" dirty="0">
                            <a:latin typeface="Cambria Math" panose="02040503050406030204" pitchFamily="18" charset="0"/>
                          </a:rPr>
                          <m:t>𝑈𝑇𝐼𝐿𝐼𝑍𝐴𝐶𝐴𝑂𝑖</m:t>
                        </m:r>
                        <m:r>
                          <a:rPr lang="pt-BR" i="1" dirty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pt-BR" dirty="0">
                            <a:latin typeface="Arial Narrow" panose="020B0606020202030204" pitchFamily="34" charset="0"/>
                          </a:rPr>
                          <m:t>μ</m:t>
                        </m:r>
                        <m:r>
                          <a:rPr lang="pt-BR" b="0" i="1" dirty="0" smtClean="0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pt-BR" i="1" dirty="0">
                            <a:latin typeface="Cambria Math" panose="02040503050406030204" pitchFamily="18" charset="0"/>
                          </a:rPr>
                          <m:t>𝑈𝑇𝐼𝐿𝐼𝑍𝐴𝐶𝐴𝑂𝑖</m:t>
                        </m:r>
                        <m:r>
                          <a:rPr lang="pt-BR" i="1" dirty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pt-BR" dirty="0">
                    <a:latin typeface="Arial Narrow" panose="020B0606020202030204" pitchFamily="34" charset="0"/>
                  </a:rPr>
                  <a:t> </a:t>
                </a:r>
              </a:p>
              <a:p>
                <a:r>
                  <a:rPr lang="pt-BR" dirty="0">
                    <a:latin typeface="Arial Narrow" panose="020B0606020202030204" pitchFamily="34" charset="0"/>
                  </a:rPr>
                  <a:t>​onde:</a:t>
                </a:r>
              </a:p>
              <a:p>
                <a:r>
                  <a:rPr lang="pt-BR" dirty="0">
                    <a:latin typeface="Arial Narrow" panose="020B0606020202030204" pitchFamily="34" charset="0"/>
                  </a:rPr>
                  <a:t>σ = desvio padrão das taxas de utilização do bloco;</a:t>
                </a:r>
              </a:p>
              <a:p>
                <a:r>
                  <a:rPr lang="pt-BR" dirty="0">
                    <a:latin typeface="Arial Narrow" panose="020B0606020202030204" pitchFamily="34" charset="0"/>
                  </a:rPr>
                  <a:t>μ = média das taxas de utilização do bloco.</a:t>
                </a:r>
              </a:p>
              <a:p>
                <a:r>
                  <a:rPr lang="pt-BR" dirty="0">
                    <a:latin typeface="Arial Narrow" panose="020B0606020202030204" pitchFamily="34" charset="0"/>
                  </a:rPr>
                  <a:t>Quando a média de utilização é igual a zero, o valor é ajustado para 0.</a:t>
                </a:r>
              </a:p>
              <a:p>
                <a:r>
                  <a:rPr lang="pt-BR" sz="900" b="1" dirty="0">
                    <a:latin typeface="Arial Narrow" panose="020B0606020202030204" pitchFamily="34" charset="0"/>
                  </a:rPr>
                  <a:t>     </a:t>
                </a:r>
                <a:r>
                  <a:rPr lang="pt-BR" sz="900" dirty="0">
                    <a:latin typeface="Arial Narrow" panose="020B0606020202030204" pitchFamily="34" charset="0"/>
                  </a:rPr>
                  <a:t> </a:t>
                </a:r>
              </a:p>
              <a:p>
                <a:pPr algn="just"/>
                <a:r>
                  <a:rPr lang="pt-BR" b="1" dirty="0">
                    <a:latin typeface="Arial Narrow" panose="020B0606020202030204" pitchFamily="34" charset="0"/>
                  </a:rPr>
                  <a:t>Objetivo: </a:t>
                </a:r>
                <a:r>
                  <a:rPr lang="pt-BR" dirty="0">
                    <a:latin typeface="Arial Narrow" panose="020B0606020202030204" pitchFamily="34" charset="0"/>
                  </a:rPr>
                  <a:t>Capturar o grau de irregularidade da utilização do limite de crédito em relação ao nível médio de utilização. Diferentemente da volatilidade absoluta, essa métrica permite avaliar se a oscilação observada é alta ou baixa considerando o próprio padrão de uso do cliente.</a:t>
                </a:r>
              </a:p>
              <a:p>
                <a:r>
                  <a:rPr lang="pt-BR" sz="1100" dirty="0">
                    <a:latin typeface="Arial Narrow" panose="020B0606020202030204" pitchFamily="34" charset="0"/>
                  </a:rPr>
                  <a:t> </a:t>
                </a:r>
                <a:endParaRPr lang="pt-BR" sz="1100" b="1" dirty="0">
                  <a:latin typeface="Arial Narrow" panose="020B0606020202030204" pitchFamily="34" charset="0"/>
                </a:endParaRPr>
              </a:p>
              <a:p>
                <a:r>
                  <a:rPr lang="pt-BR" b="1" dirty="0">
                    <a:latin typeface="Arial Narrow" panose="020B0606020202030204" pitchFamily="34" charset="0"/>
                  </a:rPr>
                  <a:t>Interpretação: 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pt-BR" altLang="pt-BR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 Narrow" panose="020B0606020202030204" pitchFamily="34" charset="0"/>
                  </a:rPr>
                  <a:t>Valores próximos de 0</a:t>
                </a:r>
                <a:r>
                  <a:rPr kumimoji="0" lang="pt-BR" altLang="pt-B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 Narrow" panose="020B0606020202030204" pitchFamily="34" charset="0"/>
                  </a:rPr>
                  <a:t> → utilização estável ao longo do período, indicando comportamento consistente. 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pt-BR" altLang="pt-BR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 Narrow" panose="020B0606020202030204" pitchFamily="34" charset="0"/>
                  </a:rPr>
                  <a:t>Valores intermediários</a:t>
                </a:r>
                <a:r>
                  <a:rPr kumimoji="0" lang="pt-BR" altLang="pt-B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 Narrow" panose="020B0606020202030204" pitchFamily="34" charset="0"/>
                  </a:rPr>
                  <a:t> → utilização apresenta alguma variação em relação ao padrão médio. 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pt-BR" altLang="pt-BR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 Narrow" panose="020B0606020202030204" pitchFamily="34" charset="0"/>
                  </a:rPr>
                  <a:t>Valores elevados</a:t>
                </a:r>
                <a:r>
                  <a:rPr kumimoji="0" lang="pt-BR" altLang="pt-B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 Narrow" panose="020B0606020202030204" pitchFamily="34" charset="0"/>
                  </a:rPr>
                  <a:t> → utilização altamente irregular, com oscilações expressivas em relação ao nível médio de uso do crédito.</a:t>
                </a:r>
              </a:p>
            </p:txBody>
          </p:sp>
        </mc:Choice>
        <mc:Fallback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14BA8872-E311-4ADC-B623-50C99AD473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58" y="1244284"/>
                <a:ext cx="12029007" cy="5613716"/>
              </a:xfrm>
              <a:prstGeom prst="rect">
                <a:avLst/>
              </a:prstGeom>
              <a:blipFill>
                <a:blip r:embed="rId3"/>
                <a:stretch>
                  <a:fillRect l="-405" t="-434" r="-405" b="-86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aixaDeTexto 8">
            <a:extLst>
              <a:ext uri="{FF2B5EF4-FFF2-40B4-BE49-F238E27FC236}">
                <a16:creationId xmlns:a16="http://schemas.microsoft.com/office/drawing/2014/main" id="{2CA25B8E-8647-43AE-A12D-1528D27B4C6D}"/>
              </a:ext>
            </a:extLst>
          </p:cNvPr>
          <p:cNvSpPr txBox="1"/>
          <p:nvPr/>
        </p:nvSpPr>
        <p:spPr>
          <a:xfrm>
            <a:off x="75735" y="870396"/>
            <a:ext cx="60991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Numérica Contínua</a:t>
            </a:r>
          </a:p>
        </p:txBody>
      </p:sp>
    </p:spTree>
    <p:extLst>
      <p:ext uri="{BB962C8B-B14F-4D97-AF65-F5344CB8AC3E}">
        <p14:creationId xmlns:p14="http://schemas.microsoft.com/office/powerpoint/2010/main" val="8976696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C92FF5F3-69BE-4874-A7C9-3907BD6950BC}"/>
              </a:ext>
            </a:extLst>
          </p:cNvPr>
          <p:cNvSpPr/>
          <p:nvPr/>
        </p:nvSpPr>
        <p:spPr>
          <a:xfrm>
            <a:off x="-786" y="-19729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101A53B-008C-426B-AFD0-31FEAF23EC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14BA8872-E311-4ADC-B623-50C99AD47306}"/>
                  </a:ext>
                </a:extLst>
              </p:cNvPr>
              <p:cNvSpPr txBox="1"/>
              <p:nvPr/>
            </p:nvSpPr>
            <p:spPr>
              <a:xfrm>
                <a:off x="180426" y="1426653"/>
                <a:ext cx="11829575" cy="60233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2000" b="1" dirty="0">
                    <a:latin typeface="Arial Narrow" panose="020B0606020202030204" pitchFamily="34" charset="0"/>
                  </a:rPr>
                  <a:t>PROP_PAGAMENTO_VOLATIL</a:t>
                </a:r>
              </a:p>
              <a:p>
                <a:pPr algn="just"/>
                <a:r>
                  <a:rPr lang="pt-BR" b="1" dirty="0">
                    <a:latin typeface="Arial Narrow" panose="020B0606020202030204" pitchFamily="34" charset="0"/>
                  </a:rPr>
                  <a:t>Definição: </a:t>
                </a:r>
                <a:r>
                  <a:rPr lang="pt-BR" dirty="0">
                    <a:latin typeface="Arial Narrow" panose="020B0606020202030204" pitchFamily="34" charset="0"/>
                  </a:rPr>
                  <a:t>Volatilidade da proporção de pagamento dentro de cada janela temporal (B1, B2 e B3).</a:t>
                </a:r>
              </a:p>
              <a:p>
                <a:pPr algn="just"/>
                <a:r>
                  <a:rPr lang="pt-BR" dirty="0">
                    <a:latin typeface="Arial Narrow" panose="020B0606020202030204" pitchFamily="34" charset="0"/>
                  </a:rPr>
                  <a:t>A proporção mensal de pagamento é definida como:</a:t>
                </a:r>
              </a:p>
              <a:p>
                <a:pPr algn="just"/>
                <a:r>
                  <a:rPr lang="pt-BR" sz="900" dirty="0">
                    <a:latin typeface="Arial Narrow" panose="020B0606020202030204" pitchFamily="34" charset="0"/>
                  </a:rPr>
                  <a:t>  </a:t>
                </a:r>
                <a:r>
                  <a:rPr lang="pt-BR" sz="500" dirty="0">
                    <a:latin typeface="Arial Narrow" panose="020B0606020202030204" pitchFamily="34" charset="0"/>
                  </a:rPr>
                  <a:t> </a:t>
                </a:r>
              </a:p>
              <a:p>
                <a:pPr algn="ctr"/>
                <a:r>
                  <a:rPr lang="pt-BR" dirty="0">
                    <a:latin typeface="Arial Narrow" panose="020B0606020202030204" pitchFamily="34" charset="0"/>
                  </a:rPr>
                  <a:t>​</a:t>
                </a:r>
                <a:r>
                  <a:rPr lang="pt-BR" i="1" dirty="0">
                    <a:latin typeface="Cambria Math" panose="02040503050406030204" pitchFamily="18" charset="0"/>
                  </a:rPr>
                  <a:t>PROP_PAGAMENTOi​=</a:t>
                </a:r>
                <a14:m>
                  <m:oMath xmlns:m="http://schemas.openxmlformats.org/officeDocument/2006/math">
                    <m:r>
                      <a:rPr lang="pt-BR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pt-BR" b="0" i="0" smtClean="0">
                            <a:latin typeface="Cambria Math" panose="02040503050406030204" pitchFamily="18" charset="0"/>
                          </a:rPr>
                          <m:t>PAY</m:t>
                        </m:r>
                        <m:r>
                          <a:rPr lang="pt-BR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pt-BR">
                            <a:latin typeface="Cambria Math" panose="02040503050406030204" pitchFamily="18" charset="0"/>
                          </a:rPr>
                          <m:t>𝐴𝑀𝑇</m:t>
                        </m:r>
                        <m:r>
                          <a:rPr lang="pt-BR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pt-BR"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pt-BR">
                            <a:latin typeface="Cambria Math" panose="02040503050406030204" pitchFamily="18" charset="0"/>
                          </a:rPr>
                          <m:t>𝐵𝐼𝐿𝐿</m:t>
                        </m:r>
                        <m:r>
                          <a:rPr lang="pt-BR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pt-BR">
                            <a:latin typeface="Cambria Math" panose="02040503050406030204" pitchFamily="18" charset="0"/>
                          </a:rPr>
                          <m:t>𝐴𝑀𝑇</m:t>
                        </m:r>
                        <m:r>
                          <a:rPr lang="pt-BR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pt-BR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>
                            <a:latin typeface="Cambria Math" panose="02040503050406030204" pitchFamily="18" charset="0"/>
                          </a:rPr>
                          <m:t>	​	​</m:t>
                        </m:r>
                      </m:den>
                    </m:f>
                  </m:oMath>
                </a14:m>
                <a:r>
                  <a:rPr lang="pt-BR" dirty="0">
                    <a:latin typeface="Arial Narrow" panose="020B0606020202030204" pitchFamily="34" charset="0"/>
                  </a:rPr>
                  <a:t> </a:t>
                </a:r>
              </a:p>
              <a:p>
                <a:pPr algn="just"/>
                <a:r>
                  <a:rPr lang="pt-BR" dirty="0">
                    <a:latin typeface="Arial Narrow" panose="020B0606020202030204" pitchFamily="34" charset="0"/>
                  </a:rPr>
                  <a:t>(quando a fatura é maior que zero).</a:t>
                </a:r>
                <a:r>
                  <a:rPr lang="pt-BR" sz="900" dirty="0">
                    <a:latin typeface="Arial Narrow" panose="020B0606020202030204" pitchFamily="34" charset="0"/>
                  </a:rPr>
                  <a:t>    </a:t>
                </a:r>
              </a:p>
              <a:p>
                <a:r>
                  <a:rPr lang="pt-BR" sz="1800" dirty="0">
                    <a:latin typeface="Arial Narrow" panose="020B0606020202030204" pitchFamily="34" charset="0"/>
                  </a:rPr>
                  <a:t>Em seguida, para cada bloco temporal de 2 meses, calcula-se o desvio padrão dessas proporções:</a:t>
                </a:r>
              </a:p>
              <a:p>
                <a:endParaRPr lang="pt-BR" dirty="0">
                  <a:latin typeface="Arial Narrow" panose="020B0606020202030204" pitchFamily="34" charset="0"/>
                </a:endParaRPr>
              </a:p>
              <a:p>
                <a:pPr algn="ctr"/>
                <a:r>
                  <a:rPr lang="pt-BR" i="1" dirty="0">
                    <a:latin typeface="Cambria Math" panose="02040503050406030204" pitchFamily="18" charset="0"/>
                  </a:rPr>
                  <a:t>PROP_PAGAMENTO_VOLATIL </a:t>
                </a:r>
                <a:r>
                  <a:rPr lang="pt-BR" sz="1400" i="1" dirty="0">
                    <a:latin typeface="Cambria Math" panose="02040503050406030204" pitchFamily="18" charset="0"/>
                  </a:rPr>
                  <a:t>BX</a:t>
                </a:r>
                <a:r>
                  <a:rPr lang="pt-BR" i="1" dirty="0">
                    <a:latin typeface="Cambria Math" panose="02040503050406030204" pitchFamily="18" charset="0"/>
                  </a:rPr>
                  <a:t> =</a:t>
                </a:r>
                <a:r>
                  <a:rPr lang="pt-BR" i="1" dirty="0" err="1">
                    <a:latin typeface="Cambria Math" panose="02040503050406030204" pitchFamily="18" charset="0"/>
                  </a:rPr>
                  <a:t>std</a:t>
                </a:r>
                <a:r>
                  <a:rPr lang="pt-BR" i="1" dirty="0">
                    <a:latin typeface="Cambria Math" panose="02040503050406030204" pitchFamily="18" charset="0"/>
                  </a:rPr>
                  <a:t>(</a:t>
                </a:r>
                <a:r>
                  <a:rPr lang="pt-BR" i="1" dirty="0" err="1">
                    <a:latin typeface="Cambria Math" panose="02040503050406030204" pitchFamily="18" charset="0"/>
                  </a:rPr>
                  <a:t>PROP_PAGAMENTOi</a:t>
                </a:r>
                <a:r>
                  <a:rPr lang="pt-BR" i="1" dirty="0">
                    <a:latin typeface="Cambria Math" panose="02040503050406030204" pitchFamily="18" charset="0"/>
                  </a:rPr>
                  <a:t>​)</a:t>
                </a:r>
                <a:endParaRPr lang="en-US" dirty="0">
                  <a:latin typeface="Arial Narrow" panose="020B0606020202030204" pitchFamily="34" charset="0"/>
                </a:endParaRPr>
              </a:p>
              <a:p>
                <a:pPr algn="just"/>
                <a:r>
                  <a:rPr lang="pt-BR" sz="1050" dirty="0">
                    <a:latin typeface="Arial Narrow" panose="020B0606020202030204" pitchFamily="34" charset="0"/>
                  </a:rPr>
                  <a:t>    </a:t>
                </a:r>
              </a:p>
              <a:p>
                <a:pPr algn="just"/>
                <a:r>
                  <a:rPr lang="pt-BR" b="1" dirty="0">
                    <a:latin typeface="Arial Narrow" panose="020B0606020202030204" pitchFamily="34" charset="0"/>
                  </a:rPr>
                  <a:t>Objetivo: </a:t>
                </a:r>
                <a:r>
                  <a:rPr lang="pt-BR" dirty="0">
                    <a:latin typeface="Arial Narrow" panose="020B0606020202030204" pitchFamily="34" charset="0"/>
                  </a:rPr>
                  <a:t>Capturar a consistência do comportamento de pagamento ao longo do tempo. Enquanto a média resume o nível de pagamento, a volatilidade mede o grau de instabilidade desse comportamento dentro de cada janela temporal. A hipótese é que clientes com maior irregularidade nos pagamentos apresentam padrões financeiros menos previsíveis.</a:t>
                </a:r>
              </a:p>
              <a:p>
                <a:pPr algn="just"/>
                <a:r>
                  <a:rPr lang="pt-BR" sz="1200" dirty="0">
                    <a:latin typeface="Arial Narrow" panose="020B0606020202030204" pitchFamily="34" charset="0"/>
                  </a:rPr>
                  <a:t>   </a:t>
                </a:r>
              </a:p>
              <a:p>
                <a:pPr algn="just"/>
                <a:r>
                  <a:rPr lang="pt-BR" dirty="0">
                    <a:latin typeface="Arial Narrow" panose="020B0606020202030204" pitchFamily="34" charset="0"/>
                  </a:rPr>
                  <a:t>A hipótese é que clientes com pagamentos muito irregulares (alta volatilidade) apresentam maior risco de inadimplência.</a:t>
                </a:r>
              </a:p>
              <a:p>
                <a:pPr algn="just"/>
                <a:r>
                  <a:rPr lang="pt-BR" sz="1100" dirty="0">
                    <a:latin typeface="Arial Narrow" panose="020B0606020202030204" pitchFamily="34" charset="0"/>
                  </a:rPr>
                  <a:t>   </a:t>
                </a:r>
              </a:p>
              <a:p>
                <a:pPr algn="just"/>
                <a:r>
                  <a:rPr lang="pt-BR" b="1" dirty="0">
                    <a:latin typeface="Arial Narrow" panose="020B0606020202030204" pitchFamily="34" charset="0"/>
                  </a:rPr>
                  <a:t>Interpretação:</a:t>
                </a:r>
              </a:p>
              <a:p>
                <a:pPr algn="just"/>
                <a:r>
                  <a:rPr lang="pt-BR" b="1" dirty="0">
                    <a:latin typeface="Arial Narrow" panose="020B0606020202030204" pitchFamily="34" charset="0"/>
                  </a:rPr>
                  <a:t>Valores próximos de 0 → </a:t>
                </a:r>
                <a:r>
                  <a:rPr lang="pt-BR" dirty="0">
                    <a:latin typeface="Arial Narrow" panose="020B0606020202030204" pitchFamily="34" charset="0"/>
                  </a:rPr>
                  <a:t>cliente apresenta comportamento de pagamento consistente dentro do período analisado.</a:t>
                </a:r>
              </a:p>
              <a:p>
                <a:pPr algn="just"/>
                <a:r>
                  <a:rPr lang="pt-BR" b="1" dirty="0">
                    <a:latin typeface="Arial Narrow" panose="020B0606020202030204" pitchFamily="34" charset="0"/>
                  </a:rPr>
                  <a:t>Valores intermediários → </a:t>
                </a:r>
                <a:r>
                  <a:rPr lang="pt-BR" dirty="0">
                    <a:latin typeface="Arial Narrow" panose="020B0606020202030204" pitchFamily="34" charset="0"/>
                  </a:rPr>
                  <a:t>cliente alterna moderadamente entre diferentes níveis de pagamento.</a:t>
                </a:r>
              </a:p>
              <a:p>
                <a:pPr algn="just"/>
                <a:r>
                  <a:rPr lang="pt-BR" b="1" dirty="0">
                    <a:latin typeface="Arial Narrow" panose="020B0606020202030204" pitchFamily="34" charset="0"/>
                  </a:rPr>
                  <a:t>Valores altos → </a:t>
                </a:r>
                <a:r>
                  <a:rPr lang="pt-BR" dirty="0">
                    <a:latin typeface="Arial Narrow" panose="020B0606020202030204" pitchFamily="34" charset="0"/>
                  </a:rPr>
                  <a:t>cliente apresenta comportamento de pagamento irregular, com grande variação entre os meses do bloco.</a:t>
                </a:r>
              </a:p>
              <a:p>
                <a:pPr algn="just"/>
                <a:endParaRPr lang="pt-BR" dirty="0">
                  <a:latin typeface="Arial Narrow" panose="020B0606020202030204" pitchFamily="34" charset="0"/>
                </a:endParaRPr>
              </a:p>
              <a:p>
                <a:pPr algn="just"/>
                <a:r>
                  <a:rPr lang="pt-BR" dirty="0">
                    <a:latin typeface="Arial Narrow" panose="020B0606020202030204" pitchFamily="34" charset="0"/>
                  </a:rPr>
                  <a:t>Volatilidade = dispersão (desvio padrão).</a:t>
                </a:r>
              </a:p>
            </p:txBody>
          </p:sp>
        </mc:Choice>
        <mc:Fallback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14BA8872-E311-4ADC-B623-50C99AD473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426" y="1426653"/>
                <a:ext cx="11829575" cy="6023316"/>
              </a:xfrm>
              <a:prstGeom prst="rect">
                <a:avLst/>
              </a:prstGeom>
              <a:blipFill>
                <a:blip r:embed="rId3"/>
                <a:stretch>
                  <a:fillRect l="-567" t="-506" r="-41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DCDE8C31-8537-410E-A4F0-2962FB819065}"/>
              </a:ext>
            </a:extLst>
          </p:cNvPr>
          <p:cNvSpPr txBox="1"/>
          <p:nvPr/>
        </p:nvSpPr>
        <p:spPr>
          <a:xfrm>
            <a:off x="180426" y="949392"/>
            <a:ext cx="60991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Numérica Contínua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C583DFE-F3CB-4365-A560-D4C92998781C}"/>
              </a:ext>
            </a:extLst>
          </p:cNvPr>
          <p:cNvSpPr txBox="1"/>
          <p:nvPr/>
        </p:nvSpPr>
        <p:spPr>
          <a:xfrm>
            <a:off x="301253" y="214572"/>
            <a:ext cx="882389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5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Feature</a:t>
            </a:r>
            <a:r>
              <a:rPr lang="pt-BR" sz="25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pt-BR" sz="25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Engineering</a:t>
            </a:r>
            <a:r>
              <a:rPr lang="pt-BR" sz="25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 | Volatilidade | Medida de Dispersão (desvio padrão)</a:t>
            </a:r>
          </a:p>
        </p:txBody>
      </p:sp>
    </p:spTree>
    <p:extLst>
      <p:ext uri="{BB962C8B-B14F-4D97-AF65-F5344CB8AC3E}">
        <p14:creationId xmlns:p14="http://schemas.microsoft.com/office/powerpoint/2010/main" val="9925769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C92FF5F3-69BE-4874-A7C9-3907BD6950BC}"/>
              </a:ext>
            </a:extLst>
          </p:cNvPr>
          <p:cNvSpPr/>
          <p:nvPr/>
        </p:nvSpPr>
        <p:spPr>
          <a:xfrm>
            <a:off x="-786" y="-19729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101A53B-008C-426B-AFD0-31FEAF23EC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9307289-4A8A-47F9-824C-C1FCFB380550}"/>
              </a:ext>
            </a:extLst>
          </p:cNvPr>
          <p:cNvSpPr txBox="1"/>
          <p:nvPr/>
        </p:nvSpPr>
        <p:spPr>
          <a:xfrm>
            <a:off x="301253" y="223999"/>
            <a:ext cx="88238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Feature</a:t>
            </a:r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pt-BR" sz="28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Engineering</a:t>
            </a:r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 | Transformação Logarítmica (log1p)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14BA8872-E311-4ADC-B623-50C99AD47306}"/>
                  </a:ext>
                </a:extLst>
              </p:cNvPr>
              <p:cNvSpPr txBox="1"/>
              <p:nvPr/>
            </p:nvSpPr>
            <p:spPr>
              <a:xfrm>
                <a:off x="97538" y="1365031"/>
                <a:ext cx="11917543" cy="60710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pt-BR" b="1" dirty="0">
                    <a:latin typeface="Arial Narrow" panose="020B0606020202030204" pitchFamily="34" charset="0"/>
                  </a:rPr>
                  <a:t>PROP_PAGAMENTO_VOLATIL_LOG _</a:t>
                </a:r>
                <a:r>
                  <a:rPr lang="es-ES" b="1" dirty="0">
                    <a:latin typeface="Arial Narrow" panose="020B0606020202030204" pitchFamily="34" charset="0"/>
                  </a:rPr>
                  <a:t>B1/B2/B3</a:t>
                </a:r>
                <a:endParaRPr lang="pt-BR" b="1" dirty="0">
                  <a:latin typeface="Arial Narrow" panose="020B0606020202030204" pitchFamily="34" charset="0"/>
                </a:endParaRPr>
              </a:p>
              <a:p>
                <a:pPr algn="just"/>
                <a:r>
                  <a:rPr lang="pt-BR" sz="2000" b="1" dirty="0">
                    <a:latin typeface="Arial Narrow" panose="020B0606020202030204" pitchFamily="34" charset="0"/>
                  </a:rPr>
                  <a:t>Definição: </a:t>
                </a:r>
                <a:r>
                  <a:rPr lang="pt-BR" dirty="0">
                    <a:latin typeface="Arial Narrow" panose="020B0606020202030204" pitchFamily="34" charset="0"/>
                  </a:rPr>
                  <a:t>Transformação logarítmica da volatilidade da proporção de pagamento dentro de cada janela temporal (B1, B2 e B3). Primeiro calcula-se a volatilidade </a:t>
                </a:r>
                <a:r>
                  <a:rPr lang="pt-BR" i="1" dirty="0">
                    <a:latin typeface="Cambria Math" panose="02040503050406030204" pitchFamily="18" charset="0"/>
                  </a:rPr>
                  <a:t>(PROP_PAGAMENTO_VOLATIL_</a:t>
                </a:r>
                <a:r>
                  <a:rPr lang="pt-BR" sz="1400" i="1" dirty="0">
                    <a:latin typeface="Cambria Math" panose="02040503050406030204" pitchFamily="18" charset="0"/>
                  </a:rPr>
                  <a:t>BX) </a:t>
                </a:r>
                <a:r>
                  <a:rPr lang="pt-BR" dirty="0">
                    <a:latin typeface="Arial Narrow" panose="020B0606020202030204" pitchFamily="34" charset="0"/>
                  </a:rPr>
                  <a:t>como o desvio padrão das variáveis:</a:t>
                </a:r>
              </a:p>
              <a:p>
                <a:pPr algn="just"/>
                <a:r>
                  <a:rPr lang="pt-BR" sz="1000" dirty="0">
                    <a:latin typeface="Arial Narrow" panose="020B0606020202030204" pitchFamily="34" charset="0"/>
                  </a:rPr>
                  <a:t>    </a:t>
                </a:r>
              </a:p>
              <a:p>
                <a:pPr algn="ctr"/>
                <a:r>
                  <a:rPr lang="pt-BR" sz="2000" dirty="0">
                    <a:latin typeface="Arial Narrow" panose="020B0606020202030204" pitchFamily="34" charset="0"/>
                  </a:rPr>
                  <a:t>​</a:t>
                </a:r>
                <a:r>
                  <a:rPr lang="pt-BR" sz="2000" i="1" dirty="0">
                    <a:latin typeface="Cambria Math" panose="02040503050406030204" pitchFamily="18" charset="0"/>
                  </a:rPr>
                  <a:t>PROP_PAGAMENTOi​=</a:t>
                </a:r>
                <a14:m>
                  <m:oMath xmlns:m="http://schemas.openxmlformats.org/officeDocument/2006/math">
                    <m:r>
                      <a:rPr lang="pt-BR" sz="200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pt-B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pt-BR" sz="2000">
                            <a:latin typeface="Cambria Math" panose="02040503050406030204" pitchFamily="18" charset="0"/>
                          </a:rPr>
                          <m:t>PAY</m:t>
                        </m:r>
                        <m:r>
                          <a:rPr lang="pt-BR" sz="200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pt-BR" sz="2000">
                            <a:latin typeface="Cambria Math" panose="02040503050406030204" pitchFamily="18" charset="0"/>
                          </a:rPr>
                          <m:t>𝐴𝑀𝑇</m:t>
                        </m:r>
                        <m:r>
                          <a:rPr lang="pt-BR" sz="200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pt-BR" sz="2000"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pt-BR" sz="2000">
                            <a:latin typeface="Cambria Math" panose="02040503050406030204" pitchFamily="18" charset="0"/>
                          </a:rPr>
                          <m:t>𝐵𝐼𝐿𝐿</m:t>
                        </m:r>
                        <m:r>
                          <a:rPr lang="pt-BR" sz="200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pt-BR" sz="2000">
                            <a:latin typeface="Cambria Math" panose="02040503050406030204" pitchFamily="18" charset="0"/>
                          </a:rPr>
                          <m:t>𝐴𝑀𝑇</m:t>
                        </m:r>
                        <m:r>
                          <a:rPr lang="pt-BR" sz="200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pt-BR" sz="200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sz="2000">
                            <a:latin typeface="Cambria Math" panose="02040503050406030204" pitchFamily="18" charset="0"/>
                          </a:rPr>
                          <m:t>	​	​</m:t>
                        </m:r>
                      </m:den>
                    </m:f>
                  </m:oMath>
                </a14:m>
                <a:r>
                  <a:rPr lang="pt-BR" sz="1050" dirty="0">
                    <a:latin typeface="Arial Narrow" panose="020B0606020202030204" pitchFamily="34" charset="0"/>
                  </a:rPr>
                  <a:t> </a:t>
                </a:r>
              </a:p>
              <a:p>
                <a:pPr algn="ctr"/>
                <a:endParaRPr lang="pt-BR" sz="1050" dirty="0">
                  <a:latin typeface="Arial Narrow" panose="020B0606020202030204" pitchFamily="34" charset="0"/>
                </a:endParaRPr>
              </a:p>
              <a:p>
                <a:pPr algn="just"/>
                <a:r>
                  <a:rPr lang="pt-BR" dirty="0">
                    <a:latin typeface="Arial Narrow" panose="020B0606020202030204" pitchFamily="34" charset="0"/>
                  </a:rPr>
                  <a:t>A volatilidade é obtida como o desvio padrão dessas proporções dentro de cada bloco de 2 meses:</a:t>
                </a:r>
              </a:p>
              <a:p>
                <a:pPr algn="just"/>
                <a:r>
                  <a:rPr lang="pt-BR" sz="900" dirty="0">
                    <a:latin typeface="Arial Narrow" panose="020B0606020202030204" pitchFamily="34" charset="0"/>
                  </a:rPr>
                  <a:t>   </a:t>
                </a:r>
              </a:p>
              <a:p>
                <a:pPr algn="ctr"/>
                <a:r>
                  <a:rPr lang="pt-BR" sz="1600" i="1" dirty="0">
                    <a:latin typeface="Cambria Math" panose="02040503050406030204" pitchFamily="18" charset="0"/>
                  </a:rPr>
                  <a:t>PROP_PAGAMENTO_VOLATIL </a:t>
                </a:r>
                <a:r>
                  <a:rPr lang="pt-BR" sz="1200" i="1" dirty="0">
                    <a:latin typeface="Cambria Math" panose="02040503050406030204" pitchFamily="18" charset="0"/>
                  </a:rPr>
                  <a:t>BX</a:t>
                </a:r>
                <a:r>
                  <a:rPr lang="pt-BR" sz="1600" i="1" dirty="0">
                    <a:latin typeface="Cambria Math" panose="02040503050406030204" pitchFamily="18" charset="0"/>
                  </a:rPr>
                  <a:t> =</a:t>
                </a:r>
                <a:r>
                  <a:rPr lang="pt-BR" sz="1600" i="1" dirty="0" err="1">
                    <a:latin typeface="Cambria Math" panose="02040503050406030204" pitchFamily="18" charset="0"/>
                  </a:rPr>
                  <a:t>std</a:t>
                </a:r>
                <a:r>
                  <a:rPr lang="pt-BR" sz="1600" i="1" dirty="0">
                    <a:latin typeface="Cambria Math" panose="02040503050406030204" pitchFamily="18" charset="0"/>
                  </a:rPr>
                  <a:t>(</a:t>
                </a:r>
                <a:r>
                  <a:rPr lang="pt-BR" sz="1600" i="1" dirty="0" err="1">
                    <a:latin typeface="Cambria Math" panose="02040503050406030204" pitchFamily="18" charset="0"/>
                  </a:rPr>
                  <a:t>PROP_PAGAMENTOi</a:t>
                </a:r>
                <a:r>
                  <a:rPr lang="pt-BR" sz="1600" i="1" dirty="0">
                    <a:latin typeface="Cambria Math" panose="02040503050406030204" pitchFamily="18" charset="0"/>
                  </a:rPr>
                  <a:t>​)</a:t>
                </a:r>
                <a:endParaRPr lang="en-US" sz="1600" dirty="0">
                  <a:latin typeface="Arial Narrow" panose="020B0606020202030204" pitchFamily="34" charset="0"/>
                </a:endParaRPr>
              </a:p>
              <a:p>
                <a:pPr algn="just"/>
                <a:r>
                  <a:rPr lang="pt-BR" sz="1050" dirty="0">
                    <a:latin typeface="Arial Narrow" panose="020B0606020202030204" pitchFamily="34" charset="0"/>
                  </a:rPr>
                  <a:t>   </a:t>
                </a:r>
              </a:p>
              <a:p>
                <a:pPr algn="just"/>
                <a:r>
                  <a:rPr lang="pt-BR" dirty="0">
                    <a:latin typeface="Arial Narrow" panose="020B0606020202030204" pitchFamily="34" charset="0"/>
                  </a:rPr>
                  <a:t>Em seguida, aplica-se a transformação log(1 + x) (log1p) sobre essa volatilidade para reduzir o impacto dos valores extremos e suavizar a distribuição:</a:t>
                </a:r>
              </a:p>
              <a:p>
                <a:pPr algn="just"/>
                <a:r>
                  <a:rPr lang="pt-BR" sz="1000" dirty="0">
                    <a:latin typeface="Arial Narrow" panose="020B0606020202030204" pitchFamily="34" charset="0"/>
                  </a:rPr>
                  <a:t>   </a:t>
                </a:r>
              </a:p>
              <a:p>
                <a:pPr algn="ctr"/>
                <a:r>
                  <a:rPr lang="it-IT" sz="1600" i="1" dirty="0">
                    <a:latin typeface="Cambria Math" panose="02040503050406030204" pitchFamily="18" charset="0"/>
                  </a:rPr>
                  <a:t>PROP_PAGAMENTO_VOLATIL_LOG</a:t>
                </a:r>
                <a:r>
                  <a:rPr lang="it-IT" sz="1100" i="1" dirty="0">
                    <a:latin typeface="Cambria Math" panose="02040503050406030204" pitchFamily="18" charset="0"/>
                  </a:rPr>
                  <a:t>BX</a:t>
                </a:r>
                <a:r>
                  <a:rPr lang="it-IT" sz="1600" i="1" dirty="0">
                    <a:latin typeface="Cambria Math" panose="02040503050406030204" pitchFamily="18" charset="0"/>
                  </a:rPr>
                  <a:t>​=log(1+PROP_PAGAMENTO_VOLATIL</a:t>
                </a:r>
                <a:r>
                  <a:rPr lang="it-IT" sz="1100" i="1" dirty="0">
                    <a:latin typeface="Cambria Math" panose="02040503050406030204" pitchFamily="18" charset="0"/>
                  </a:rPr>
                  <a:t>BX</a:t>
                </a:r>
                <a:r>
                  <a:rPr lang="it-IT" sz="1600" i="1" dirty="0">
                    <a:latin typeface="Cambria Math" panose="02040503050406030204" pitchFamily="18" charset="0"/>
                  </a:rPr>
                  <a:t>​)</a:t>
                </a:r>
                <a:endParaRPr lang="pt-BR" sz="1600" i="1" dirty="0">
                  <a:latin typeface="Cambria Math" panose="02040503050406030204" pitchFamily="18" charset="0"/>
                </a:endParaRPr>
              </a:p>
              <a:p>
                <a:pPr algn="just"/>
                <a:r>
                  <a:rPr lang="pt-BR" sz="1050" dirty="0">
                    <a:latin typeface="Arial Narrow" panose="020B0606020202030204" pitchFamily="34" charset="0"/>
                  </a:rPr>
                  <a:t>    </a:t>
                </a:r>
              </a:p>
              <a:p>
                <a:pPr algn="just"/>
                <a:r>
                  <a:rPr lang="pt-BR" b="1" dirty="0">
                    <a:latin typeface="Arial Narrow" panose="020B0606020202030204" pitchFamily="34" charset="0"/>
                  </a:rPr>
                  <a:t>Objetivo: </a:t>
                </a:r>
                <a:r>
                  <a:rPr lang="pt-BR" dirty="0">
                    <a:latin typeface="Arial Narrow" panose="020B0606020202030204" pitchFamily="34" charset="0"/>
                  </a:rPr>
                  <a:t>Capturar a instabilidade do comportamento de pagamento dentro de cada janela temporal, mas com uma escala mais robusta a outliers. A transformação logarítmica evita que poucos clientes com volatilidade muito alta distorçam a distribuição da variável, permitindo que o modelo diferencie melhor entre padrões estáveis e instáveis de pagamento.</a:t>
                </a:r>
              </a:p>
              <a:p>
                <a:pPr algn="just"/>
                <a:r>
                  <a:rPr lang="pt-BR" sz="1050" b="1" dirty="0">
                    <a:latin typeface="Arial Narrow" panose="020B0606020202030204" pitchFamily="34" charset="0"/>
                  </a:rPr>
                  <a:t>    </a:t>
                </a:r>
              </a:p>
              <a:p>
                <a:pPr algn="just"/>
                <a:r>
                  <a:rPr lang="pt-BR" b="1" dirty="0">
                    <a:latin typeface="Arial Narrow" panose="020B0606020202030204" pitchFamily="34" charset="0"/>
                  </a:rPr>
                  <a:t>Valores próximos de 0 </a:t>
                </a:r>
                <a:r>
                  <a:rPr lang="pt-BR" dirty="0">
                    <a:latin typeface="Arial Narrow" panose="020B0606020202030204" pitchFamily="34" charset="0"/>
                  </a:rPr>
                  <a:t>→ cliente apresenta comportamento de pagamento consistente dentro do período analisado (baixa volatilidade).</a:t>
                </a:r>
              </a:p>
              <a:p>
                <a:pPr algn="just"/>
                <a:r>
                  <a:rPr lang="pt-BR" b="1" dirty="0">
                    <a:latin typeface="Arial Narrow" panose="020B0606020202030204" pitchFamily="34" charset="0"/>
                  </a:rPr>
                  <a:t>Valores intermediários </a:t>
                </a:r>
                <a:r>
                  <a:rPr lang="pt-BR" dirty="0">
                    <a:latin typeface="Arial Narrow" panose="020B0606020202030204" pitchFamily="34" charset="0"/>
                  </a:rPr>
                  <a:t>→ cliente alterna entre diferentes níveis de pagamento, mas sem grandes extremos.</a:t>
                </a:r>
              </a:p>
              <a:p>
                <a:pPr algn="just"/>
                <a:r>
                  <a:rPr lang="pt-BR" b="1" dirty="0">
                    <a:latin typeface="Arial Narrow" panose="020B0606020202030204" pitchFamily="34" charset="0"/>
                  </a:rPr>
                  <a:t>Valores mais altos → </a:t>
                </a:r>
                <a:r>
                  <a:rPr lang="pt-BR" dirty="0">
                    <a:latin typeface="Arial Narrow" panose="020B0606020202030204" pitchFamily="34" charset="0"/>
                  </a:rPr>
                  <a:t>cliente apresenta comportamento altamente irregular, com variações expressivas entre meses.</a:t>
                </a:r>
              </a:p>
              <a:p>
                <a:pPr algn="just"/>
                <a:r>
                  <a:rPr lang="pt-BR" sz="1050" dirty="0">
                    <a:latin typeface="Arial Narrow" panose="020B0606020202030204" pitchFamily="34" charset="0"/>
                  </a:rPr>
                  <a:t>   </a:t>
                </a:r>
              </a:p>
              <a:p>
                <a:pPr algn="just"/>
                <a:r>
                  <a:rPr lang="pt-BR" dirty="0">
                    <a:latin typeface="Arial Narrow" panose="020B0606020202030204" pitchFamily="34" charset="0"/>
                  </a:rPr>
                  <a:t>Após a transformação logarítmica, esses casos permanecem identificáveis, porém em escala comprimida e mais estável para modelagem.</a:t>
                </a:r>
              </a:p>
            </p:txBody>
          </p:sp>
        </mc:Choice>
        <mc:Fallback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14BA8872-E311-4ADC-B623-50C99AD473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38" y="1365031"/>
                <a:ext cx="11917543" cy="6071086"/>
              </a:xfrm>
              <a:prstGeom prst="rect">
                <a:avLst/>
              </a:prstGeom>
              <a:blipFill>
                <a:blip r:embed="rId3"/>
                <a:stretch>
                  <a:fillRect l="-512" t="-502" r="-40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DCDE8C31-8537-410E-A4F0-2962FB819065}"/>
              </a:ext>
            </a:extLst>
          </p:cNvPr>
          <p:cNvSpPr txBox="1"/>
          <p:nvPr/>
        </p:nvSpPr>
        <p:spPr>
          <a:xfrm>
            <a:off x="92908" y="930180"/>
            <a:ext cx="60991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Numérica Contínua</a:t>
            </a:r>
          </a:p>
        </p:txBody>
      </p:sp>
    </p:spTree>
    <p:extLst>
      <p:ext uri="{BB962C8B-B14F-4D97-AF65-F5344CB8AC3E}">
        <p14:creationId xmlns:p14="http://schemas.microsoft.com/office/powerpoint/2010/main" val="30676057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C92FF5F3-69BE-4874-A7C9-3907BD6950BC}"/>
              </a:ext>
            </a:extLst>
          </p:cNvPr>
          <p:cNvSpPr/>
          <p:nvPr/>
        </p:nvSpPr>
        <p:spPr>
          <a:xfrm>
            <a:off x="-786" y="-19729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101A53B-008C-426B-AFD0-31FEAF23EC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9307289-4A8A-47F9-824C-C1FCFB380550}"/>
              </a:ext>
            </a:extLst>
          </p:cNvPr>
          <p:cNvSpPr txBox="1"/>
          <p:nvPr/>
        </p:nvSpPr>
        <p:spPr>
          <a:xfrm>
            <a:off x="301253" y="223999"/>
            <a:ext cx="88238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Feature</a:t>
            </a:r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pt-BR" sz="28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Engineering</a:t>
            </a:r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 | Agregação de Flags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4BA8872-E311-4ADC-B623-50C99AD47306}"/>
              </a:ext>
            </a:extLst>
          </p:cNvPr>
          <p:cNvSpPr txBox="1"/>
          <p:nvPr/>
        </p:nvSpPr>
        <p:spPr>
          <a:xfrm>
            <a:off x="120688" y="1446306"/>
            <a:ext cx="11917543" cy="5416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2000" b="1" dirty="0">
                <a:latin typeface="Arial Narrow" panose="020B0606020202030204" pitchFamily="34" charset="0"/>
              </a:rPr>
              <a:t>PROP_NEGATIVA_FLAG_B1 / B2 / B3</a:t>
            </a:r>
          </a:p>
          <a:p>
            <a:r>
              <a:rPr lang="sv-SE" b="1" dirty="0">
                <a:latin typeface="Arial Narrow" panose="020B0606020202030204" pitchFamily="34" charset="0"/>
              </a:rPr>
              <a:t>Definição:</a:t>
            </a:r>
            <a:r>
              <a:rPr lang="pt-BR" b="1" dirty="0">
                <a:latin typeface="Arial Narrow" panose="020B0606020202030204" pitchFamily="34" charset="0"/>
              </a:rPr>
              <a:t> </a:t>
            </a:r>
            <a:r>
              <a:rPr lang="pt-BR" dirty="0">
                <a:latin typeface="Arial Narrow" panose="020B0606020202030204" pitchFamily="34" charset="0"/>
              </a:rPr>
              <a:t>Variável binária que indica a presença de pelo menos um mês com proporção de pagamento negativa dentro de cada janela temporal (B1, B2 ou B3). </a:t>
            </a:r>
          </a:p>
          <a:p>
            <a:endParaRPr lang="pt-BR" dirty="0">
              <a:latin typeface="Arial Narrow" panose="020B0606020202030204" pitchFamily="34" charset="0"/>
            </a:endParaRPr>
          </a:p>
          <a:p>
            <a:r>
              <a:rPr lang="pt-BR" dirty="0">
                <a:latin typeface="Arial Narrow" panose="020B0606020202030204" pitchFamily="34" charset="0"/>
              </a:rPr>
              <a:t>Capturar eventos anômalos de pagamento negativo dentro de cada período, que podem refletir: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 Narrow" panose="020B0606020202030204" pitchFamily="34" charset="0"/>
              </a:rPr>
              <a:t> ajustes contábeis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 Narrow" panose="020B0606020202030204" pitchFamily="34" charset="0"/>
              </a:rPr>
              <a:t> estornos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 Narrow" panose="020B0606020202030204" pitchFamily="34" charset="0"/>
              </a:rPr>
              <a:t> inconsistências operacionais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 Narrow" panose="020B0606020202030204" pitchFamily="34" charset="0"/>
              </a:rPr>
              <a:t> comportamentos atípicos no fluxo de pagamento </a:t>
            </a:r>
          </a:p>
          <a:p>
            <a:r>
              <a:rPr lang="pt-BR" sz="800" dirty="0">
                <a:latin typeface="Arial Narrow" panose="020B0606020202030204" pitchFamily="34" charset="0"/>
              </a:rPr>
              <a:t>    </a:t>
            </a:r>
          </a:p>
          <a:p>
            <a:r>
              <a:rPr lang="pt-BR" dirty="0">
                <a:latin typeface="Arial Narrow" panose="020B0606020202030204" pitchFamily="34" charset="0"/>
              </a:rPr>
              <a:t>Essa variável atua como um marcador de anomalia estrutural, preservando informação que seria perdida após o tratamento da variável contínua.</a:t>
            </a:r>
          </a:p>
          <a:p>
            <a:r>
              <a:rPr lang="pt-BR" sz="1050" dirty="0">
                <a:latin typeface="Arial Narrow" panose="020B0606020202030204" pitchFamily="34" charset="0"/>
              </a:rPr>
              <a:t>     </a:t>
            </a:r>
          </a:p>
          <a:p>
            <a:r>
              <a:rPr lang="pt-BR" dirty="0">
                <a:latin typeface="Arial Narrow" panose="020B0606020202030204" pitchFamily="34" charset="0"/>
              </a:rPr>
              <a:t>Interpretação:</a:t>
            </a:r>
          </a:p>
          <a:p>
            <a:r>
              <a:rPr lang="pt-BR" dirty="0">
                <a:latin typeface="Arial Narrow" panose="020B0606020202030204" pitchFamily="34" charset="0"/>
              </a:rPr>
              <a:t>0 → nenhum mês com pagamento negativo no período</a:t>
            </a:r>
          </a:p>
          <a:p>
            <a:r>
              <a:rPr lang="pt-BR" dirty="0">
                <a:latin typeface="Arial Narrow" panose="020B0606020202030204" pitchFamily="34" charset="0"/>
              </a:rPr>
              <a:t>1 → pelo menos um mês com pagamento negativo no período.</a:t>
            </a:r>
          </a:p>
          <a:p>
            <a:r>
              <a:rPr lang="pt-BR" sz="1400" dirty="0">
                <a:latin typeface="Arial Narrow" panose="020B0606020202030204" pitchFamily="34" charset="0"/>
              </a:rPr>
              <a:t>   </a:t>
            </a:r>
          </a:p>
          <a:p>
            <a:r>
              <a:rPr lang="pt-BR" b="1" i="1" dirty="0" err="1">
                <a:latin typeface="Cambria Math" panose="02040503050406030204" pitchFamily="18" charset="0"/>
              </a:rPr>
              <a:t>PROP_NEGATIVA_FLAG_i</a:t>
            </a:r>
            <a:r>
              <a:rPr lang="pt-BR" b="1" i="1" dirty="0">
                <a:latin typeface="Cambria Math" panose="02040503050406030204" pitchFamily="18" charset="0"/>
              </a:rPr>
              <a:t> → </a:t>
            </a:r>
            <a:r>
              <a:rPr lang="pt-BR" dirty="0">
                <a:latin typeface="Arial Narrow" panose="020B0606020202030204" pitchFamily="34" charset="0"/>
              </a:rPr>
              <a:t>indica pagamento negativo em um mês específico.</a:t>
            </a:r>
          </a:p>
          <a:p>
            <a:endParaRPr lang="pt-BR" dirty="0">
              <a:latin typeface="Arial Narrow" panose="020B0606020202030204" pitchFamily="34" charset="0"/>
            </a:endParaRPr>
          </a:p>
          <a:p>
            <a:r>
              <a:rPr lang="pt-BR" dirty="0">
                <a:latin typeface="Arial Narrow" panose="020B0606020202030204" pitchFamily="34" charset="0"/>
              </a:rPr>
              <a:t>As flags são derivadas da proporção bruta mensal antes da aplicação de </a:t>
            </a:r>
            <a:r>
              <a:rPr lang="pt-BR" b="1" dirty="0" err="1">
                <a:latin typeface="Arial Narrow" panose="020B0606020202030204" pitchFamily="34" charset="0"/>
              </a:rPr>
              <a:t>np.clip</a:t>
            </a:r>
            <a:r>
              <a:rPr lang="pt-BR" b="1" dirty="0">
                <a:latin typeface="Arial Narrow" panose="020B0606020202030204" pitchFamily="34" charset="0"/>
              </a:rPr>
              <a:t>, </a:t>
            </a:r>
            <a:r>
              <a:rPr lang="pt-BR" dirty="0">
                <a:latin typeface="Arial Narrow" panose="020B0606020202030204" pitchFamily="34" charset="0"/>
              </a:rPr>
              <a:t>garantindo preservação de informação de anomalia.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CDE8C31-8537-410E-A4F0-2962FB819065}"/>
              </a:ext>
            </a:extLst>
          </p:cNvPr>
          <p:cNvSpPr txBox="1"/>
          <p:nvPr/>
        </p:nvSpPr>
        <p:spPr>
          <a:xfrm>
            <a:off x="120688" y="967010"/>
            <a:ext cx="60991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Variável Binária</a:t>
            </a:r>
          </a:p>
        </p:txBody>
      </p:sp>
    </p:spTree>
    <p:extLst>
      <p:ext uri="{BB962C8B-B14F-4D97-AF65-F5344CB8AC3E}">
        <p14:creationId xmlns:p14="http://schemas.microsoft.com/office/powerpoint/2010/main" val="7756483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C92FF5F3-69BE-4874-A7C9-3907BD6950BC}"/>
              </a:ext>
            </a:extLst>
          </p:cNvPr>
          <p:cNvSpPr/>
          <p:nvPr/>
        </p:nvSpPr>
        <p:spPr>
          <a:xfrm>
            <a:off x="-786" y="-19729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101A53B-008C-426B-AFD0-31FEAF23EC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14BA8872-E311-4ADC-B623-50C99AD47306}"/>
              </a:ext>
            </a:extLst>
          </p:cNvPr>
          <p:cNvSpPr txBox="1"/>
          <p:nvPr/>
        </p:nvSpPr>
        <p:spPr>
          <a:xfrm>
            <a:off x="120688" y="1446306"/>
            <a:ext cx="11917543" cy="5432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latin typeface="Arial Narrow" panose="020B0606020202030204" pitchFamily="34" charset="0"/>
              </a:rPr>
              <a:t>PROP_SUPERIOR_FLAG_B1 / B2 / B3</a:t>
            </a:r>
          </a:p>
          <a:p>
            <a:r>
              <a:rPr lang="pt-BR" b="1" dirty="0">
                <a:latin typeface="Arial Narrow" panose="020B0606020202030204" pitchFamily="34" charset="0"/>
              </a:rPr>
              <a:t>Definição: </a:t>
            </a:r>
            <a:r>
              <a:rPr lang="pt-BR" dirty="0">
                <a:latin typeface="Arial Narrow" panose="020B0606020202030204" pitchFamily="34" charset="0"/>
              </a:rPr>
              <a:t>Variável binária que indica a presença de pelo menos um mês com proporção de pagamento superior a 1 dentro de cada janela temporal (B1, B2 ou B3), antes da aplicação de </a:t>
            </a:r>
            <a:r>
              <a:rPr lang="pt-BR" dirty="0" err="1">
                <a:latin typeface="Arial Narrow" panose="020B0606020202030204" pitchFamily="34" charset="0"/>
              </a:rPr>
              <a:t>np.clip</a:t>
            </a:r>
            <a:r>
              <a:rPr lang="pt-BR" dirty="0">
                <a:latin typeface="Arial Narrow" panose="020B0606020202030204" pitchFamily="34" charset="0"/>
              </a:rPr>
              <a:t>. </a:t>
            </a:r>
          </a:p>
          <a:p>
            <a:r>
              <a:rPr lang="pt-BR" sz="1100" dirty="0">
                <a:latin typeface="Arial Narrow" panose="020B0606020202030204" pitchFamily="34" charset="0"/>
              </a:rPr>
              <a:t>   </a:t>
            </a:r>
          </a:p>
          <a:p>
            <a:r>
              <a:rPr lang="pt-BR" b="1" dirty="0">
                <a:latin typeface="Arial Narrow" panose="020B0606020202030204" pitchFamily="34" charset="0"/>
              </a:rPr>
              <a:t>Objetivo: </a:t>
            </a:r>
            <a:r>
              <a:rPr lang="pt-BR" dirty="0">
                <a:latin typeface="Arial Narrow" panose="020B0606020202030204" pitchFamily="34" charset="0"/>
              </a:rPr>
              <a:t>Capturar eventos em que o cliente realiza pagamento acima da fatura dentro do período analisado, preservando informações de comportamento financeiro que seriam suavizadas ou perdidas na transformação da variável contínua.</a:t>
            </a:r>
          </a:p>
          <a:p>
            <a:r>
              <a:rPr lang="pt-BR" sz="1050" dirty="0">
                <a:latin typeface="Arial Narrow" panose="020B0606020202030204" pitchFamily="34" charset="0"/>
              </a:rPr>
              <a:t>    </a:t>
            </a:r>
          </a:p>
          <a:p>
            <a:r>
              <a:rPr lang="pt-BR" dirty="0">
                <a:latin typeface="Arial Narrow" panose="020B0606020202030204" pitchFamily="34" charset="0"/>
              </a:rPr>
              <a:t>Esses eventos podem refletir: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 Narrow" panose="020B0606020202030204" pitchFamily="34" charset="0"/>
              </a:rPr>
              <a:t>antecipação de pagamento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 Narrow" panose="020B0606020202030204" pitchFamily="34" charset="0"/>
              </a:rPr>
              <a:t>quitação de saldo acumulado de meses anteriores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 Narrow" panose="020B0606020202030204" pitchFamily="34" charset="0"/>
              </a:rPr>
              <a:t>comportamento conservador de crédito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 Narrow" panose="020B0606020202030204" pitchFamily="34" charset="0"/>
              </a:rPr>
              <a:t>possíveis inconsistências ou particularidades operacionais no registro dos pagamentos</a:t>
            </a:r>
          </a:p>
          <a:p>
            <a:r>
              <a:rPr lang="pt-BR" sz="900" dirty="0">
                <a:latin typeface="Arial Narrow" panose="020B0606020202030204" pitchFamily="34" charset="0"/>
              </a:rPr>
              <a:t>    </a:t>
            </a:r>
          </a:p>
          <a:p>
            <a:r>
              <a:rPr lang="pt-BR" dirty="0">
                <a:latin typeface="Arial Narrow" panose="020B0606020202030204" pitchFamily="34" charset="0"/>
              </a:rPr>
              <a:t>Essa variável atua como um marcador de comportamento atípico positivo de pagamento, complementando a leitura da variável tratada.</a:t>
            </a:r>
          </a:p>
          <a:p>
            <a:r>
              <a:rPr lang="pt-BR" sz="1050" dirty="0">
                <a:latin typeface="Arial Narrow" panose="020B0606020202030204" pitchFamily="34" charset="0"/>
              </a:rPr>
              <a:t>    </a:t>
            </a:r>
          </a:p>
          <a:p>
            <a:r>
              <a:rPr lang="pt-BR" b="1" dirty="0">
                <a:latin typeface="Arial Narrow" panose="020B0606020202030204" pitchFamily="34" charset="0"/>
              </a:rPr>
              <a:t>Interpretação:</a:t>
            </a:r>
          </a:p>
          <a:p>
            <a:r>
              <a:rPr lang="pt-BR" dirty="0">
                <a:latin typeface="Arial Narrow" panose="020B0606020202030204" pitchFamily="34" charset="0"/>
              </a:rPr>
              <a:t>0 → nenhum mês do bloco apresentou pagamento superior à fatura</a:t>
            </a:r>
          </a:p>
          <a:p>
            <a:r>
              <a:rPr lang="pt-BR" dirty="0">
                <a:latin typeface="Arial Narrow" panose="020B0606020202030204" pitchFamily="34" charset="0"/>
              </a:rPr>
              <a:t>1 → pelo menos um mês do bloco apresentou pagamento superior à fatura.</a:t>
            </a:r>
          </a:p>
          <a:p>
            <a:endParaRPr lang="pt-BR" dirty="0">
              <a:latin typeface="Arial Narrow" panose="020B0606020202030204" pitchFamily="34" charset="0"/>
            </a:endParaRPr>
          </a:p>
          <a:p>
            <a:r>
              <a:rPr lang="pt-BR" b="1" dirty="0">
                <a:latin typeface="Arial Narrow" panose="020B0606020202030204" pitchFamily="34" charset="0"/>
              </a:rPr>
              <a:t>Nota metodológica: </a:t>
            </a:r>
            <a:r>
              <a:rPr lang="pt-BR" dirty="0">
                <a:latin typeface="Arial Narrow" panose="020B0606020202030204" pitchFamily="34" charset="0"/>
              </a:rPr>
              <a:t>As flags são derivadas da proporção bruta mensal antes da aplicação de </a:t>
            </a:r>
            <a:r>
              <a:rPr lang="pt-BR" dirty="0" err="1">
                <a:latin typeface="Arial Narrow" panose="020B0606020202030204" pitchFamily="34" charset="0"/>
              </a:rPr>
              <a:t>np.clip</a:t>
            </a:r>
            <a:r>
              <a:rPr lang="pt-BR" dirty="0">
                <a:latin typeface="Arial Narrow" panose="020B0606020202030204" pitchFamily="34" charset="0"/>
              </a:rPr>
              <a:t>, garantindo a preservação de informação sobre eventos extremos positivos de pagamento.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49A7391-3F8C-413F-8540-9EC3E3570C4E}"/>
              </a:ext>
            </a:extLst>
          </p:cNvPr>
          <p:cNvSpPr txBox="1"/>
          <p:nvPr/>
        </p:nvSpPr>
        <p:spPr>
          <a:xfrm>
            <a:off x="301253" y="223999"/>
            <a:ext cx="88238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Feature</a:t>
            </a:r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pt-BR" sz="28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Engineering</a:t>
            </a:r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 | Agregação de Flags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1036462-14C0-4911-A9C2-7EB3CC9EF9B4}"/>
              </a:ext>
            </a:extLst>
          </p:cNvPr>
          <p:cNvSpPr txBox="1"/>
          <p:nvPr/>
        </p:nvSpPr>
        <p:spPr>
          <a:xfrm>
            <a:off x="120688" y="967010"/>
            <a:ext cx="60991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Variável Binária</a:t>
            </a:r>
          </a:p>
        </p:txBody>
      </p:sp>
    </p:spTree>
    <p:extLst>
      <p:ext uri="{BB962C8B-B14F-4D97-AF65-F5344CB8AC3E}">
        <p14:creationId xmlns:p14="http://schemas.microsoft.com/office/powerpoint/2010/main" val="39197730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C92FF5F3-69BE-4874-A7C9-3907BD6950BC}"/>
              </a:ext>
            </a:extLst>
          </p:cNvPr>
          <p:cNvSpPr/>
          <p:nvPr/>
        </p:nvSpPr>
        <p:spPr>
          <a:xfrm>
            <a:off x="-786" y="-19729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101A53B-008C-426B-AFD0-31FEAF23EC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9307289-4A8A-47F9-824C-C1FCFB380550}"/>
              </a:ext>
            </a:extLst>
          </p:cNvPr>
          <p:cNvSpPr txBox="1"/>
          <p:nvPr/>
        </p:nvSpPr>
        <p:spPr>
          <a:xfrm>
            <a:off x="301253" y="223999"/>
            <a:ext cx="88238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Feature</a:t>
            </a:r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pt-BR" sz="28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Engineering</a:t>
            </a:r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 | Agregação (Média por Bloco)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14BA8872-E311-4ADC-B623-50C99AD47306}"/>
                  </a:ext>
                </a:extLst>
              </p:cNvPr>
              <p:cNvSpPr txBox="1"/>
              <p:nvPr/>
            </p:nvSpPr>
            <p:spPr>
              <a:xfrm>
                <a:off x="120349" y="1466139"/>
                <a:ext cx="11949729" cy="53918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b="1" dirty="0">
                    <a:latin typeface="Arial Narrow" panose="020B0606020202030204" pitchFamily="34" charset="0"/>
                  </a:rPr>
                  <a:t>MEDIA_PROP_PAGAMENTO  _</a:t>
                </a:r>
                <a:r>
                  <a:rPr lang="es-ES" b="1" dirty="0">
                    <a:latin typeface="Arial Narrow" panose="020B0606020202030204" pitchFamily="34" charset="0"/>
                  </a:rPr>
                  <a:t>B1/B2/B3</a:t>
                </a:r>
                <a:r>
                  <a:rPr lang="pt-BR" b="1" dirty="0">
                    <a:latin typeface="Arial Narrow" panose="020B0606020202030204" pitchFamily="34" charset="0"/>
                  </a:rPr>
                  <a:t> </a:t>
                </a:r>
                <a:endParaRPr lang="pt-BR" sz="1050" b="1" dirty="0">
                  <a:highlight>
                    <a:srgbClr val="FF0000"/>
                  </a:highlight>
                  <a:latin typeface="Arial Narrow" panose="020B0606020202030204" pitchFamily="34" charset="0"/>
                </a:endParaRPr>
              </a:p>
              <a:p>
                <a:r>
                  <a:rPr lang="pt-BR" sz="1600" b="1" dirty="0">
                    <a:latin typeface="Arial Narrow" panose="020B0606020202030204" pitchFamily="34" charset="0"/>
                  </a:rPr>
                  <a:t>Definição: </a:t>
                </a:r>
                <a:r>
                  <a:rPr lang="pt-BR" sz="1600" dirty="0">
                    <a:latin typeface="Arial Narrow" panose="020B0606020202030204" pitchFamily="34" charset="0"/>
                  </a:rPr>
                  <a:t>Média da proporção de pagamento dentro de cada janela temporal (B1, B2 e B3). A proporção mensal de pagamento é calculada como:</a:t>
                </a:r>
              </a:p>
              <a:p>
                <a:pPr algn="ctr"/>
                <a:r>
                  <a:rPr lang="pt-BR" sz="1600" i="1" dirty="0">
                    <a:latin typeface="Cambria Math" panose="02040503050406030204" pitchFamily="18" charset="0"/>
                  </a:rPr>
                  <a:t>PROP_PAGAMENTO = </a:t>
                </a:r>
                <a14:m>
                  <m:oMath xmlns:m="http://schemas.openxmlformats.org/officeDocument/2006/math">
                    <m:r>
                      <a:rPr lang="pt-BR" sz="1600" i="1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pt-BR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pt-BR" sz="1600" i="1" dirty="0">
                            <a:latin typeface="Cambria Math" panose="02040503050406030204" pitchFamily="18" charset="0"/>
                          </a:rPr>
                          <m:t>PAY</m:t>
                        </m:r>
                        <m:r>
                          <m:rPr>
                            <m:nor/>
                          </m:rPr>
                          <a:rPr lang="pt-BR" sz="1600" i="1" dirty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m:rPr>
                            <m:nor/>
                          </m:rPr>
                          <a:rPr lang="pt-BR" sz="1600" i="1" dirty="0">
                            <a:latin typeface="Cambria Math" panose="02040503050406030204" pitchFamily="18" charset="0"/>
                          </a:rPr>
                          <m:t>AMT</m:t>
                        </m:r>
                        <m:r>
                          <m:rPr>
                            <m:nor/>
                          </m:rPr>
                          <a:rPr lang="pt-BR" sz="1600" i="1" dirty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m:rPr>
                            <m:nor/>
                          </m:rPr>
                          <a:rPr lang="pt-BR" sz="1600" i="1" dirty="0">
                            <a:latin typeface="Cambria Math" panose="02040503050406030204" pitchFamily="18" charset="0"/>
                          </a:rPr>
                          <m:t>i</m:t>
                        </m:r>
                      </m:num>
                      <m:den>
                        <m:r>
                          <m:rPr>
                            <m:nor/>
                          </m:rPr>
                          <a:rPr lang="pt-BR" sz="1600" i="1" dirty="0">
                            <a:latin typeface="Cambria Math" panose="02040503050406030204" pitchFamily="18" charset="0"/>
                          </a:rPr>
                          <m:t>𝐿𝐼𝑀𝐼𝑇</m:t>
                        </m:r>
                        <m:r>
                          <m:rPr>
                            <m:nor/>
                          </m:rPr>
                          <a:rPr lang="pt-BR" sz="1600" i="1" dirty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m:rPr>
                            <m:nor/>
                          </m:rPr>
                          <a:rPr lang="pt-BR" sz="1600" i="1" dirty="0">
                            <a:latin typeface="Cambria Math" panose="02040503050406030204" pitchFamily="18" charset="0"/>
                          </a:rPr>
                          <m:t>𝐵𝐴𝐿</m:t>
                        </m:r>
                      </m:den>
                    </m:f>
                  </m:oMath>
                </a14:m>
                <a:endParaRPr lang="pt-BR" sz="1600" i="1" dirty="0">
                  <a:latin typeface="Cambria Math" panose="02040503050406030204" pitchFamily="18" charset="0"/>
                </a:endParaRPr>
              </a:p>
              <a:p>
                <a:r>
                  <a:rPr lang="pt-BR" sz="1600" dirty="0">
                    <a:latin typeface="Arial Narrow" panose="020B0606020202030204" pitchFamily="34" charset="0"/>
                  </a:rPr>
                  <a:t>(quando a fatura é maior que zero).</a:t>
                </a:r>
              </a:p>
              <a:p>
                <a:r>
                  <a:rPr lang="pt-BR" sz="1000" dirty="0">
                    <a:latin typeface="Arial Narrow" panose="020B0606020202030204" pitchFamily="34" charset="0"/>
                  </a:rPr>
                  <a:t>   </a:t>
                </a:r>
              </a:p>
              <a:p>
                <a:r>
                  <a:rPr lang="pt-BR" sz="1600" dirty="0">
                    <a:latin typeface="Arial Narrow" panose="020B0606020202030204" pitchFamily="34" charset="0"/>
                  </a:rPr>
                  <a:t>Em seguida, as proporções mensais são agregadas por bloco temporal de 2 meses, resultando na média do período:</a:t>
                </a:r>
                <a:endParaRPr lang="pt-BR" sz="1000" dirty="0">
                  <a:latin typeface="Arial Narrow" panose="020B0606020202030204" pitchFamily="34" charset="0"/>
                </a:endParaRPr>
              </a:p>
              <a:p>
                <a:pPr algn="ctr"/>
                <a:r>
                  <a:rPr lang="pt-BR" sz="1600" i="1" dirty="0">
                    <a:latin typeface="Cambria Math" panose="02040503050406030204" pitchFamily="18" charset="0"/>
                  </a:rPr>
                  <a:t>MEDIA_PROP_PAGAMENTO</a:t>
                </a:r>
                <a:r>
                  <a:rPr lang="pt-BR" sz="1100" i="1" dirty="0">
                    <a:latin typeface="Cambria Math" panose="02040503050406030204" pitchFamily="18" charset="0"/>
                  </a:rPr>
                  <a:t>BX</a:t>
                </a:r>
                <a:r>
                  <a:rPr lang="pt-BR" sz="1600" i="1" dirty="0">
                    <a:latin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pt-BR" sz="2000" i="1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pt-B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BR" sz="20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pt-BR" sz="2000" i="1" dirty="0">
                    <a:latin typeface="Cambria Math" panose="02040503050406030204" pitchFamily="18" charset="0"/>
                  </a:rPr>
                  <a:t> ∑ </a:t>
                </a:r>
                <a:r>
                  <a:rPr lang="pt-BR" sz="1600" i="1" dirty="0">
                    <a:latin typeface="Cambria Math" panose="02040503050406030204" pitchFamily="18" charset="0"/>
                  </a:rPr>
                  <a:t>PROP_PAGAMENTO </a:t>
                </a:r>
                <a:endParaRPr lang="pt-BR" sz="1050" dirty="0">
                  <a:latin typeface="Arial Narrow" panose="020B0606020202030204" pitchFamily="34" charset="0"/>
                </a:endParaRPr>
              </a:p>
              <a:p>
                <a:r>
                  <a:rPr lang="pt-BR" sz="900" dirty="0">
                    <a:latin typeface="Arial Narrow" panose="020B0606020202030204" pitchFamily="34" charset="0"/>
                  </a:rPr>
                  <a:t>    </a:t>
                </a:r>
              </a:p>
              <a:p>
                <a:pPr algn="just"/>
                <a:r>
                  <a:rPr lang="pt-BR" sz="1600" b="1" dirty="0">
                    <a:latin typeface="Arial Narrow" panose="020B0606020202030204" pitchFamily="34" charset="0"/>
                  </a:rPr>
                  <a:t>Objetivo:</a:t>
                </a:r>
                <a:r>
                  <a:rPr lang="pt-BR" sz="1600" dirty="0">
                    <a:latin typeface="Arial Narrow" panose="020B0606020202030204" pitchFamily="34" charset="0"/>
                  </a:rPr>
                  <a:t> Resumir o comportamento de pagamento do cliente em relação à sua capacidade de crédito (limite disponível), capturando o nível médio de esforço de pagamento em diferentes fases do </a:t>
                </a:r>
                <a:r>
                  <a:rPr lang="pt-BR" sz="1600" dirty="0" err="1">
                    <a:latin typeface="Arial Narrow" panose="020B0606020202030204" pitchFamily="34" charset="0"/>
                  </a:rPr>
                  <a:t>histórico.Essa</a:t>
                </a:r>
                <a:r>
                  <a:rPr lang="pt-BR" sz="1600" dirty="0">
                    <a:latin typeface="Arial Narrow" panose="020B0606020202030204" pitchFamily="34" charset="0"/>
                  </a:rPr>
                  <a:t> agregação por blocos permite reduzir ruído mensal e evidenciar o padrão estrutural de pagamento ao longo do tempo..</a:t>
                </a:r>
              </a:p>
              <a:p>
                <a:r>
                  <a:rPr lang="pt-BR" sz="1000" dirty="0">
                    <a:latin typeface="Arial Narrow" panose="020B0606020202030204" pitchFamily="34" charset="0"/>
                  </a:rPr>
                  <a:t>    </a:t>
                </a:r>
              </a:p>
              <a:p>
                <a:r>
                  <a:rPr lang="pt-BR" sz="1600" b="1" dirty="0">
                    <a:latin typeface="Arial Narrow" panose="020B0606020202030204" pitchFamily="34" charset="0"/>
                  </a:rPr>
                  <a:t>Interpretação:</a:t>
                </a:r>
              </a:p>
              <a:p>
                <a:r>
                  <a:rPr lang="pt-BR" sz="1600" b="1" dirty="0">
                    <a:latin typeface="Arial Narrow" panose="020B0606020202030204" pitchFamily="34" charset="0"/>
                  </a:rPr>
                  <a:t>Valores próximos de 0 </a:t>
                </a:r>
                <a:r>
                  <a:rPr lang="pt-BR" sz="1600" dirty="0">
                    <a:latin typeface="Arial Narrow" panose="020B0606020202030204" pitchFamily="34" charset="0"/>
                  </a:rPr>
                  <a:t>→ cliente realiza pagamentos muito baixos em relação ao seu limite de crédito, sugerindo baixa liquidez ou baixa regularidade de pagamento.</a:t>
                </a:r>
              </a:p>
              <a:p>
                <a:r>
                  <a:rPr lang="pt-BR" sz="1600" b="1" dirty="0">
                    <a:latin typeface="Arial Narrow" panose="020B0606020202030204" pitchFamily="34" charset="0"/>
                  </a:rPr>
                  <a:t>Valores intermediários (ex.: 0,1 a 0,5) </a:t>
                </a:r>
                <a:r>
                  <a:rPr lang="pt-BR" sz="1600" dirty="0">
                    <a:latin typeface="Arial Narrow" panose="020B0606020202030204" pitchFamily="34" charset="0"/>
                  </a:rPr>
                  <a:t>→ cliente realiza pagamentos parciais consistentes ao longo do tempo.</a:t>
                </a:r>
              </a:p>
              <a:p>
                <a:r>
                  <a:rPr lang="pt-BR" sz="1600" b="1" dirty="0">
                    <a:latin typeface="Arial Narrow" panose="020B0606020202030204" pitchFamily="34" charset="0"/>
                  </a:rPr>
                  <a:t>Valores mais altos </a:t>
                </a:r>
                <a:r>
                  <a:rPr lang="pt-BR" sz="1600" dirty="0">
                    <a:latin typeface="Arial Narrow" panose="020B0606020202030204" pitchFamily="34" charset="0"/>
                  </a:rPr>
                  <a:t>→ cliente realiza pagamentos elevados em relação ao limite, indicando maior esforço de amortização ou comportamento de quitação mais agressivo</a:t>
                </a:r>
              </a:p>
              <a:p>
                <a:endParaRPr lang="pt-BR" sz="1600" b="1" dirty="0">
                  <a:latin typeface="Arial Narrow" panose="020B0606020202030204" pitchFamily="34" charset="0"/>
                </a:endParaRPr>
              </a:p>
              <a:p>
                <a:pPr algn="just"/>
                <a:r>
                  <a:rPr lang="pt-BR" sz="1600" b="1" dirty="0">
                    <a:latin typeface="Arial Narrow" panose="020B0606020202030204" pitchFamily="34" charset="0"/>
                  </a:rPr>
                  <a:t>Limitação: </a:t>
                </a:r>
                <a:r>
                  <a:rPr lang="pt-BR" sz="1600" dirty="0">
                    <a:latin typeface="Arial Narrow" panose="020B0606020202030204" pitchFamily="34" charset="0"/>
                  </a:rPr>
                  <a:t>Por representar uma média, a variável pode suavizar mudanças relevantes de comportamento, não capturando oscilações que podem ser observadas por métricas de volatilidade ou tendência</a:t>
                </a:r>
                <a:r>
                  <a:rPr lang="pt-BR" sz="1600" b="1" dirty="0">
                    <a:latin typeface="Arial Narrow" panose="020B0606020202030204" pitchFamily="34" charset="0"/>
                  </a:rPr>
                  <a:t>.</a:t>
                </a:r>
                <a:endParaRPr lang="pt-BR" sz="1600" i="1" dirty="0">
                  <a:latin typeface="Arial Narrow" panose="020B0606020202030204" pitchFamily="34" charset="0"/>
                </a:endParaRPr>
              </a:p>
            </p:txBody>
          </p:sp>
        </mc:Choice>
        <mc:Fallback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14BA8872-E311-4ADC-B623-50C99AD473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349" y="1466139"/>
                <a:ext cx="11949729" cy="5391861"/>
              </a:xfrm>
              <a:prstGeom prst="rect">
                <a:avLst/>
              </a:prstGeom>
              <a:blipFill>
                <a:blip r:embed="rId3"/>
                <a:stretch>
                  <a:fillRect l="-459" t="-566" r="-25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DCDE8C31-8537-410E-A4F0-2962FB819065}"/>
              </a:ext>
            </a:extLst>
          </p:cNvPr>
          <p:cNvSpPr txBox="1"/>
          <p:nvPr/>
        </p:nvSpPr>
        <p:spPr>
          <a:xfrm>
            <a:off x="120349" y="990947"/>
            <a:ext cx="60991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Numérica Contínua</a:t>
            </a:r>
          </a:p>
        </p:txBody>
      </p:sp>
    </p:spTree>
    <p:extLst>
      <p:ext uri="{BB962C8B-B14F-4D97-AF65-F5344CB8AC3E}">
        <p14:creationId xmlns:p14="http://schemas.microsoft.com/office/powerpoint/2010/main" val="9924774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C92FF5F3-69BE-4874-A7C9-3907BD6950BC}"/>
              </a:ext>
            </a:extLst>
          </p:cNvPr>
          <p:cNvSpPr/>
          <p:nvPr/>
        </p:nvSpPr>
        <p:spPr>
          <a:xfrm>
            <a:off x="-786" y="-19729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101A53B-008C-426B-AFD0-31FEAF23EC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14BA8872-E311-4ADC-B623-50C99AD47306}"/>
                  </a:ext>
                </a:extLst>
              </p:cNvPr>
              <p:cNvSpPr txBox="1"/>
              <p:nvPr/>
            </p:nvSpPr>
            <p:spPr>
              <a:xfrm>
                <a:off x="301253" y="1433667"/>
                <a:ext cx="11642710" cy="55078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b="1" dirty="0">
                    <a:latin typeface="Arial Narrow" panose="020B0606020202030204" pitchFamily="34" charset="0"/>
                  </a:rPr>
                  <a:t>VOL_PROP_PAGAMENTO _</a:t>
                </a:r>
                <a:r>
                  <a:rPr lang="es-ES" b="1" dirty="0">
                    <a:latin typeface="Arial Narrow" panose="020B0606020202030204" pitchFamily="34" charset="0"/>
                  </a:rPr>
                  <a:t>B1/B2/B3</a:t>
                </a:r>
                <a:r>
                  <a:rPr lang="pt-BR" b="1" dirty="0">
                    <a:latin typeface="Arial Narrow" panose="020B0606020202030204" pitchFamily="34" charset="0"/>
                  </a:rPr>
                  <a:t> </a:t>
                </a:r>
              </a:p>
              <a:p>
                <a:r>
                  <a:rPr lang="pt-BR" sz="1700" b="1" dirty="0">
                    <a:latin typeface="Arial Narrow" panose="020B0606020202030204" pitchFamily="34" charset="0"/>
                  </a:rPr>
                  <a:t>Definição:</a:t>
                </a:r>
                <a:r>
                  <a:rPr lang="pt-BR" sz="1700" dirty="0">
                    <a:latin typeface="Arial Narrow" panose="020B0606020202030204" pitchFamily="34" charset="0"/>
                  </a:rPr>
                  <a:t> Volatilidade da proporção de pagamento dentro de cada janela temporal (B1, B2 e B3). A variável é calculada como o desvio padrão das proporções mensais de pagamento em relação ao limite de crédito do cliente.</a:t>
                </a:r>
              </a:p>
              <a:p>
                <a:endParaRPr lang="pt-BR" sz="1100" b="1" dirty="0">
                  <a:latin typeface="Arial Narrow" panose="020B0606020202030204" pitchFamily="34" charset="0"/>
                </a:endParaRPr>
              </a:p>
              <a:p>
                <a:pPr algn="ctr"/>
                <a:r>
                  <a:rPr lang="pt-BR" sz="1100" b="1" dirty="0">
                    <a:latin typeface="Arial Narrow" panose="020B0606020202030204" pitchFamily="34" charset="0"/>
                  </a:rPr>
                  <a:t> </a:t>
                </a:r>
                <a:r>
                  <a:rPr lang="pt-BR" i="1" dirty="0">
                    <a:latin typeface="Cambria Math" panose="02040503050406030204" pitchFamily="18" charset="0"/>
                  </a:rPr>
                  <a:t>PROP_PAGAMENTO =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pt-BR" i="1" dirty="0">
                            <a:latin typeface="Cambria Math" panose="02040503050406030204" pitchFamily="18" charset="0"/>
                          </a:rPr>
                          <m:t>PAY</m:t>
                        </m:r>
                        <m:r>
                          <m:rPr>
                            <m:nor/>
                          </m:rPr>
                          <a:rPr lang="pt-BR" i="1" dirty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m:rPr>
                            <m:nor/>
                          </m:rPr>
                          <a:rPr lang="pt-BR" i="1" dirty="0">
                            <a:latin typeface="Cambria Math" panose="02040503050406030204" pitchFamily="18" charset="0"/>
                          </a:rPr>
                          <m:t>AMT</m:t>
                        </m:r>
                        <m:r>
                          <m:rPr>
                            <m:nor/>
                          </m:rPr>
                          <a:rPr lang="pt-BR" i="1" dirty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m:rPr>
                            <m:nor/>
                          </m:rPr>
                          <a:rPr lang="pt-BR" i="1" dirty="0">
                            <a:latin typeface="Cambria Math" panose="02040503050406030204" pitchFamily="18" charset="0"/>
                          </a:rPr>
                          <m:t>i</m:t>
                        </m:r>
                      </m:num>
                      <m:den>
                        <m:r>
                          <m:rPr>
                            <m:nor/>
                          </m:rPr>
                          <a:rPr lang="pt-BR" i="1" dirty="0">
                            <a:latin typeface="Cambria Math" panose="02040503050406030204" pitchFamily="18" charset="0"/>
                          </a:rPr>
                          <m:t>𝐿𝐼𝑀𝐼𝑇</m:t>
                        </m:r>
                        <m:r>
                          <m:rPr>
                            <m:nor/>
                          </m:rPr>
                          <a:rPr lang="pt-BR" i="1" dirty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m:rPr>
                            <m:nor/>
                          </m:rPr>
                          <a:rPr lang="pt-BR" i="1" dirty="0">
                            <a:latin typeface="Cambria Math" panose="02040503050406030204" pitchFamily="18" charset="0"/>
                          </a:rPr>
                          <m:t>𝐵𝐴𝐿</m:t>
                        </m:r>
                      </m:den>
                    </m:f>
                  </m:oMath>
                </a14:m>
                <a:endParaRPr lang="pt-BR" i="1" dirty="0">
                  <a:latin typeface="Cambria Math" panose="02040503050406030204" pitchFamily="18" charset="0"/>
                </a:endParaRPr>
              </a:p>
              <a:p>
                <a:pPr algn="ctr"/>
                <a:endParaRPr lang="en-US" dirty="0">
                  <a:latin typeface="Arial Narrow" panose="020B0606020202030204" pitchFamily="34" charset="0"/>
                </a:endParaRPr>
              </a:p>
              <a:p>
                <a:r>
                  <a:rPr lang="pt-BR" sz="1700" dirty="0">
                    <a:latin typeface="Arial Narrow" panose="020B0606020202030204" pitchFamily="34" charset="0"/>
                  </a:rPr>
                  <a:t>(quando a fatura é maior que zero).</a:t>
                </a:r>
              </a:p>
              <a:p>
                <a:endParaRPr lang="pt-BR" dirty="0">
                  <a:latin typeface="Arial Narrow" panose="020B0606020202030204" pitchFamily="34" charset="0"/>
                </a:endParaRPr>
              </a:p>
              <a:p>
                <a:r>
                  <a:rPr lang="pt-BR" sz="1700" dirty="0">
                    <a:latin typeface="Arial Narrow" panose="020B0606020202030204" pitchFamily="34" charset="0"/>
                  </a:rPr>
                  <a:t>Em seguida, para cada bloco temporal de 2 meses, calcula-se o desvio padrão dessas proporções:</a:t>
                </a:r>
              </a:p>
              <a:p>
                <a:endParaRPr lang="pt-BR" dirty="0">
                  <a:latin typeface="Arial Narrow" panose="020B0606020202030204" pitchFamily="34" charset="0"/>
                </a:endParaRPr>
              </a:p>
              <a:p>
                <a:pPr algn="ctr"/>
                <a:r>
                  <a:rPr lang="pt-BR" i="1" dirty="0">
                    <a:latin typeface="Cambria Math" panose="02040503050406030204" pitchFamily="18" charset="0"/>
                  </a:rPr>
                  <a:t>VOL_PROP_PAGAMENTO</a:t>
                </a:r>
                <a:r>
                  <a:rPr lang="pt-BR" sz="1200" i="1" dirty="0">
                    <a:latin typeface="Cambria Math" panose="02040503050406030204" pitchFamily="18" charset="0"/>
                  </a:rPr>
                  <a:t>BX</a:t>
                </a:r>
                <a:r>
                  <a:rPr lang="pt-BR" i="1" dirty="0">
                    <a:latin typeface="Cambria Math" panose="02040503050406030204" pitchFamily="18" charset="0"/>
                  </a:rPr>
                  <a:t> =</a:t>
                </a:r>
                <a:r>
                  <a:rPr lang="pt-BR" i="1" dirty="0" err="1">
                    <a:latin typeface="Cambria Math" panose="02040503050406030204" pitchFamily="18" charset="0"/>
                  </a:rPr>
                  <a:t>std</a:t>
                </a:r>
                <a:r>
                  <a:rPr lang="pt-BR" i="1" dirty="0">
                    <a:latin typeface="Cambria Math" panose="02040503050406030204" pitchFamily="18" charset="0"/>
                  </a:rPr>
                  <a:t>(</a:t>
                </a:r>
                <a:r>
                  <a:rPr lang="pt-BR" i="1" dirty="0" err="1">
                    <a:latin typeface="Cambria Math" panose="02040503050406030204" pitchFamily="18" charset="0"/>
                  </a:rPr>
                  <a:t>PROP_PAGAMENTOi</a:t>
                </a:r>
                <a:r>
                  <a:rPr lang="pt-BR" i="1" dirty="0">
                    <a:latin typeface="Cambria Math" panose="02040503050406030204" pitchFamily="18" charset="0"/>
                  </a:rPr>
                  <a:t>​)</a:t>
                </a:r>
                <a:endParaRPr lang="en-US" dirty="0">
                  <a:latin typeface="Arial Narrow" panose="020B0606020202030204" pitchFamily="34" charset="0"/>
                </a:endParaRPr>
              </a:p>
              <a:p>
                <a:r>
                  <a:rPr lang="pt-BR" sz="1050" b="1" dirty="0">
                    <a:latin typeface="Arial Narrow" panose="020B0606020202030204" pitchFamily="34" charset="0"/>
                  </a:rPr>
                  <a:t> </a:t>
                </a:r>
                <a:endParaRPr lang="pt-BR" b="1" dirty="0">
                  <a:latin typeface="Arial Narrow" panose="020B0606020202030204" pitchFamily="34" charset="0"/>
                </a:endParaRPr>
              </a:p>
              <a:p>
                <a:pPr algn="just"/>
                <a:r>
                  <a:rPr lang="pt-BR" sz="1700" b="1" dirty="0">
                    <a:latin typeface="Arial Narrow" panose="020B0606020202030204" pitchFamily="34" charset="0"/>
                  </a:rPr>
                  <a:t>Objetivo: </a:t>
                </a:r>
                <a:r>
                  <a:rPr lang="pt-BR" sz="1700" dirty="0">
                    <a:latin typeface="Arial Narrow" panose="020B0606020202030204" pitchFamily="34" charset="0"/>
                  </a:rPr>
                  <a:t>Capturar a consistência do comportamento de pagamento ao longo do tempo em relação à capacidade de crédito do cliente. Enquanto a média resume o nível típico de pagamento, a volatilidade mede o grau de instabilidade desse comportamento entre os meses. Isso permite identificar se o cliente mantém um padrão previsível de pagamento ou se alterna entre diferentes níveis de esforço financeiro ao longo do tempo.</a:t>
                </a:r>
              </a:p>
              <a:p>
                <a:endParaRPr lang="pt-BR" b="1" dirty="0">
                  <a:latin typeface="Arial Narrow" panose="020B0606020202030204" pitchFamily="34" charset="0"/>
                </a:endParaRPr>
              </a:p>
              <a:p>
                <a:r>
                  <a:rPr lang="pt-BR" sz="1700" b="1" dirty="0">
                    <a:latin typeface="Arial Narrow" panose="020B0606020202030204" pitchFamily="34" charset="0"/>
                  </a:rPr>
                  <a:t>Interpretação: </a:t>
                </a:r>
              </a:p>
              <a:p>
                <a:r>
                  <a:rPr lang="pt-BR" sz="1700" b="1" dirty="0">
                    <a:latin typeface="Arial Narrow" panose="020B0606020202030204" pitchFamily="34" charset="0"/>
                  </a:rPr>
                  <a:t>Valores próximos de 0 → </a:t>
                </a:r>
                <a:r>
                  <a:rPr lang="pt-BR" sz="1700" dirty="0">
                    <a:latin typeface="Arial Narrow" panose="020B0606020202030204" pitchFamily="34" charset="0"/>
                  </a:rPr>
                  <a:t>cliente apresenta comportamento de pagamento consistente ao longo do período analisado.</a:t>
                </a:r>
              </a:p>
              <a:p>
                <a:r>
                  <a:rPr lang="pt-BR" sz="1700" b="1" dirty="0">
                    <a:latin typeface="Arial Narrow" panose="020B0606020202030204" pitchFamily="34" charset="0"/>
                  </a:rPr>
                  <a:t>Valores intermediários → </a:t>
                </a:r>
                <a:r>
                  <a:rPr lang="pt-BR" sz="1700" dirty="0">
                    <a:latin typeface="Arial Narrow" panose="020B0606020202030204" pitchFamily="34" charset="0"/>
                  </a:rPr>
                  <a:t>cliente alterna moderadamente entre diferentes níveis de pagamento.</a:t>
                </a:r>
              </a:p>
              <a:p>
                <a:r>
                  <a:rPr lang="pt-BR" sz="1700" b="1" dirty="0">
                    <a:latin typeface="Arial Narrow" panose="020B0606020202030204" pitchFamily="34" charset="0"/>
                  </a:rPr>
                  <a:t>Valores elevados → </a:t>
                </a:r>
                <a:r>
                  <a:rPr lang="pt-BR" sz="1700" dirty="0">
                    <a:latin typeface="Arial Narrow" panose="020B0606020202030204" pitchFamily="34" charset="0"/>
                  </a:rPr>
                  <a:t>cliente apresenta forte irregularidade nos pagamentos, alternando significativamente entre meses.</a:t>
                </a:r>
              </a:p>
            </p:txBody>
          </p:sp>
        </mc:Choice>
        <mc:Fallback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14BA8872-E311-4ADC-B623-50C99AD473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253" y="1433667"/>
                <a:ext cx="11642710" cy="5507854"/>
              </a:xfrm>
              <a:prstGeom prst="rect">
                <a:avLst/>
              </a:prstGeom>
              <a:blipFill>
                <a:blip r:embed="rId3"/>
                <a:stretch>
                  <a:fillRect l="-419" t="-442" r="-36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DCDE8C31-8537-410E-A4F0-2962FB819065}"/>
              </a:ext>
            </a:extLst>
          </p:cNvPr>
          <p:cNvSpPr txBox="1"/>
          <p:nvPr/>
        </p:nvSpPr>
        <p:spPr>
          <a:xfrm>
            <a:off x="301253" y="944781"/>
            <a:ext cx="60991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Numérica Contínua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ADD9723-2107-4C5E-B967-DE2D6EAF953D}"/>
              </a:ext>
            </a:extLst>
          </p:cNvPr>
          <p:cNvSpPr txBox="1"/>
          <p:nvPr/>
        </p:nvSpPr>
        <p:spPr>
          <a:xfrm>
            <a:off x="301253" y="223999"/>
            <a:ext cx="882389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5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Feature</a:t>
            </a:r>
            <a:r>
              <a:rPr lang="pt-BR" sz="25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pt-BR" sz="25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Engineering</a:t>
            </a:r>
            <a:r>
              <a:rPr lang="pt-BR" sz="25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 | Volatilidade | Medida de Dispersão (desvio padrão)</a:t>
            </a:r>
          </a:p>
        </p:txBody>
      </p:sp>
    </p:spTree>
    <p:extLst>
      <p:ext uri="{BB962C8B-B14F-4D97-AF65-F5344CB8AC3E}">
        <p14:creationId xmlns:p14="http://schemas.microsoft.com/office/powerpoint/2010/main" val="25388383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C92FF5F3-69BE-4874-A7C9-3907BD6950BC}"/>
              </a:ext>
            </a:extLst>
          </p:cNvPr>
          <p:cNvSpPr/>
          <p:nvPr/>
        </p:nvSpPr>
        <p:spPr>
          <a:xfrm>
            <a:off x="-786" y="-19729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101A53B-008C-426B-AFD0-31FEAF23EC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9307289-4A8A-47F9-824C-C1FCFB380550}"/>
              </a:ext>
            </a:extLst>
          </p:cNvPr>
          <p:cNvSpPr txBox="1"/>
          <p:nvPr/>
        </p:nvSpPr>
        <p:spPr>
          <a:xfrm>
            <a:off x="301253" y="223999"/>
            <a:ext cx="88238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Feature</a:t>
            </a:r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pt-BR" sz="28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Engineering</a:t>
            </a:r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 | Agregação (Média por Bloco) 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14BA8872-E311-4ADC-B623-50C99AD47306}"/>
                  </a:ext>
                </a:extLst>
              </p:cNvPr>
              <p:cNvSpPr txBox="1"/>
              <p:nvPr/>
            </p:nvSpPr>
            <p:spPr>
              <a:xfrm>
                <a:off x="274645" y="1591590"/>
                <a:ext cx="11642710" cy="50540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ES" b="1" dirty="0">
                    <a:latin typeface="Arial Narrow" panose="020B0606020202030204" pitchFamily="34" charset="0"/>
                  </a:rPr>
                  <a:t>MEDIA_ENDIVIDAMENTO_B1/B2/B3</a:t>
                </a:r>
                <a:r>
                  <a:rPr lang="pt-BR" sz="1200" b="1" dirty="0">
                    <a:latin typeface="Arial Narrow" panose="020B0606020202030204" pitchFamily="34" charset="0"/>
                  </a:rPr>
                  <a:t> </a:t>
                </a:r>
              </a:p>
              <a:p>
                <a:endParaRPr lang="pt-BR" sz="1200" b="1" dirty="0">
                  <a:highlight>
                    <a:srgbClr val="FF0000"/>
                  </a:highlight>
                  <a:latin typeface="Arial Narrow" panose="020B0606020202030204" pitchFamily="34" charset="0"/>
                </a:endParaRPr>
              </a:p>
              <a:p>
                <a:r>
                  <a:rPr lang="pt-BR" b="1" dirty="0">
                    <a:latin typeface="Arial Narrow" panose="020B0606020202030204" pitchFamily="34" charset="0"/>
                  </a:rPr>
                  <a:t>Definição:</a:t>
                </a:r>
                <a:r>
                  <a:rPr lang="pt-BR" dirty="0">
                    <a:latin typeface="Arial Narrow" panose="020B0606020202030204" pitchFamily="34" charset="0"/>
                  </a:rPr>
                  <a:t> Média da proporção de endividamento em relação ao limite de crédito dentro de cada janela temporal (B1, B2 e B3).</a:t>
                </a:r>
              </a:p>
              <a:p>
                <a:r>
                  <a:rPr lang="pt-BR" dirty="0">
                    <a:latin typeface="Arial Narrow" panose="020B0606020202030204" pitchFamily="34" charset="0"/>
                  </a:rPr>
                  <a:t>A proporção mensal de endividamento é calculada como:</a:t>
                </a:r>
              </a:p>
              <a:p>
                <a:endParaRPr lang="pt-BR" dirty="0">
                  <a:latin typeface="Arial Narrow" panose="020B0606020202030204" pitchFamily="34" charset="0"/>
                </a:endParaRPr>
              </a:p>
              <a:p>
                <a:pPr algn="ctr"/>
                <a:r>
                  <a:rPr lang="pt-BR" i="1" dirty="0">
                    <a:latin typeface="Cambria Math" panose="02040503050406030204" pitchFamily="18" charset="0"/>
                  </a:rPr>
                  <a:t>ENDIVIDAMENTOi​=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i="1">
                            <a:latin typeface="Cambria Math" panose="02040503050406030204" pitchFamily="18" charset="0"/>
                          </a:rPr>
                          <m:t>𝐵𝐼𝐿𝐿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𝐴𝑀𝑇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pt-BR" i="1">
                            <a:latin typeface="Cambria Math" panose="02040503050406030204" pitchFamily="18" charset="0"/>
                          </a:rPr>
                          <m:t>𝐿𝐼𝑀𝐼𝑇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𝐵𝐴𝐿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	​	​</m:t>
                        </m:r>
                      </m:den>
                    </m:f>
                  </m:oMath>
                </a14:m>
                <a:r>
                  <a:rPr lang="pt-BR" dirty="0">
                    <a:latin typeface="Arial Narrow" panose="020B0606020202030204" pitchFamily="34" charset="0"/>
                  </a:rPr>
                  <a:t> </a:t>
                </a:r>
              </a:p>
              <a:p>
                <a:endParaRPr lang="pt-BR" dirty="0">
                  <a:latin typeface="Arial Narrow" panose="020B0606020202030204" pitchFamily="34" charset="0"/>
                </a:endParaRPr>
              </a:p>
              <a:p>
                <a:r>
                  <a:rPr lang="pt-BR" dirty="0">
                    <a:latin typeface="Arial Narrow" panose="020B0606020202030204" pitchFamily="34" charset="0"/>
                  </a:rPr>
                  <a:t>Em seguida, as proporções mensais são agregadas por bloco temporal de 2 meses, resultando na média do período:</a:t>
                </a:r>
              </a:p>
              <a:p>
                <a:pPr algn="ctr"/>
                <a:r>
                  <a:rPr lang="pt-BR" sz="1500" i="1" dirty="0">
                    <a:latin typeface="Cambria Math" panose="02040503050406030204" pitchFamily="18" charset="0"/>
                  </a:rPr>
                  <a:t>MEDIA_ENDIVIDAMENTOBX = </a:t>
                </a:r>
                <a14:m>
                  <m:oMath xmlns:m="http://schemas.openxmlformats.org/officeDocument/2006/math">
                    <m:r>
                      <a:rPr lang="pt-BR" sz="1500" i="1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pt-BR" sz="15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15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BR" sz="15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pt-BR" sz="1500" i="1" dirty="0">
                    <a:latin typeface="Cambria Math" panose="02040503050406030204" pitchFamily="18" charset="0"/>
                  </a:rPr>
                  <a:t> ∑ ENDIVIDAMENTO</a:t>
                </a:r>
                <a:endParaRPr lang="pt-BR" sz="1500" dirty="0">
                  <a:latin typeface="Arial Narrow" panose="020B0606020202030204" pitchFamily="34" charset="0"/>
                </a:endParaRPr>
              </a:p>
              <a:p>
                <a:endParaRPr lang="pt-BR" sz="1050" b="1" dirty="0">
                  <a:latin typeface="Arial Narrow" panose="020B0606020202030204" pitchFamily="34" charset="0"/>
                </a:endParaRPr>
              </a:p>
              <a:p>
                <a:r>
                  <a:rPr lang="pt-BR" sz="1050" b="1" dirty="0">
                    <a:latin typeface="Arial Narrow" panose="020B0606020202030204" pitchFamily="34" charset="0"/>
                  </a:rPr>
                  <a:t> </a:t>
                </a:r>
              </a:p>
              <a:p>
                <a:r>
                  <a:rPr lang="pt-BR" b="1" dirty="0">
                    <a:latin typeface="Arial Narrow" panose="020B0606020202030204" pitchFamily="34" charset="0"/>
                  </a:rPr>
                  <a:t>Objetivo: </a:t>
                </a:r>
                <a:r>
                  <a:rPr lang="pt-BR" dirty="0">
                    <a:latin typeface="Arial Narrow" panose="020B0606020202030204" pitchFamily="34" charset="0"/>
                  </a:rPr>
                  <a:t>Capturar o nível médio de endividamento do cliente em relação ao limite de crédito ao longo do período analisado. </a:t>
                </a:r>
              </a:p>
              <a:p>
                <a:r>
                  <a:rPr lang="pt-BR" dirty="0">
                    <a:latin typeface="Arial Narrow" panose="020B0606020202030204" pitchFamily="34" charset="0"/>
                  </a:rPr>
                  <a:t>A métrica resume o comportamento mensal em uma medida consolidada, permitindo avaliar o grau típico de utilização do crédito.</a:t>
                </a:r>
              </a:p>
              <a:p>
                <a:endParaRPr lang="pt-BR" b="1" dirty="0">
                  <a:latin typeface="Arial Narrow" panose="020B0606020202030204" pitchFamily="34" charset="0"/>
                </a:endParaRPr>
              </a:p>
              <a:p>
                <a:r>
                  <a:rPr lang="pt-BR" b="1" dirty="0">
                    <a:latin typeface="Arial Narrow" panose="020B0606020202030204" pitchFamily="34" charset="0"/>
                  </a:rPr>
                  <a:t>Valores próximos de 0 →</a:t>
                </a:r>
                <a:r>
                  <a:rPr lang="pt-BR" dirty="0">
                    <a:latin typeface="Arial Narrow" panose="020B0606020202030204" pitchFamily="34" charset="0"/>
                  </a:rPr>
                  <a:t> cliente apresenta baixo nível de endividamento em relação ao limite disponível.</a:t>
                </a:r>
              </a:p>
              <a:p>
                <a:r>
                  <a:rPr lang="pt-BR" b="1" dirty="0">
                    <a:latin typeface="Arial Narrow" panose="020B0606020202030204" pitchFamily="34" charset="0"/>
                  </a:rPr>
                  <a:t>Valores intermediários →</a:t>
                </a:r>
                <a:r>
                  <a:rPr lang="pt-BR" dirty="0">
                    <a:latin typeface="Arial Narrow" panose="020B0606020202030204" pitchFamily="34" charset="0"/>
                  </a:rPr>
                  <a:t> cliente utiliza parte relevante do limite de forma recorrente.</a:t>
                </a:r>
              </a:p>
              <a:p>
                <a:r>
                  <a:rPr lang="pt-BR" b="1" dirty="0">
                    <a:latin typeface="Arial Narrow" panose="020B0606020202030204" pitchFamily="34" charset="0"/>
                  </a:rPr>
                  <a:t>Valores elevados (próximos ou superiores a 1) </a:t>
                </a:r>
                <a:r>
                  <a:rPr lang="pt-BR" dirty="0">
                    <a:latin typeface="Arial Narrow" panose="020B0606020202030204" pitchFamily="34" charset="0"/>
                  </a:rPr>
                  <a:t>→ cliente opera próximo ao limite de crédito ou apresenta elevado grau de endividamento.</a:t>
                </a:r>
              </a:p>
            </p:txBody>
          </p:sp>
        </mc:Choice>
        <mc:Fallback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14BA8872-E311-4ADC-B623-50C99AD473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645" y="1591590"/>
                <a:ext cx="11642710" cy="5054012"/>
              </a:xfrm>
              <a:prstGeom prst="rect">
                <a:avLst/>
              </a:prstGeom>
              <a:blipFill>
                <a:blip r:embed="rId3"/>
                <a:stretch>
                  <a:fillRect l="-419" t="-48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aixaDeTexto 8">
            <a:extLst>
              <a:ext uri="{FF2B5EF4-FFF2-40B4-BE49-F238E27FC236}">
                <a16:creationId xmlns:a16="http://schemas.microsoft.com/office/drawing/2014/main" id="{4E9D708C-4DFB-41D0-94FB-5933A3EAA5D1}"/>
              </a:ext>
            </a:extLst>
          </p:cNvPr>
          <p:cNvSpPr txBox="1"/>
          <p:nvPr/>
        </p:nvSpPr>
        <p:spPr>
          <a:xfrm>
            <a:off x="301253" y="990947"/>
            <a:ext cx="60991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Numérica Contínua</a:t>
            </a:r>
          </a:p>
        </p:txBody>
      </p:sp>
    </p:spTree>
    <p:extLst>
      <p:ext uri="{BB962C8B-B14F-4D97-AF65-F5344CB8AC3E}">
        <p14:creationId xmlns:p14="http://schemas.microsoft.com/office/powerpoint/2010/main" val="20107906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C92FF5F3-69BE-4874-A7C9-3907BD6950BC}"/>
              </a:ext>
            </a:extLst>
          </p:cNvPr>
          <p:cNvSpPr/>
          <p:nvPr/>
        </p:nvSpPr>
        <p:spPr>
          <a:xfrm>
            <a:off x="-786" y="-19729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101A53B-008C-426B-AFD0-31FEAF23EC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9307289-4A8A-47F9-824C-C1FCFB380550}"/>
              </a:ext>
            </a:extLst>
          </p:cNvPr>
          <p:cNvSpPr txBox="1"/>
          <p:nvPr/>
        </p:nvSpPr>
        <p:spPr>
          <a:xfrm>
            <a:off x="301253" y="223999"/>
            <a:ext cx="88238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Feature</a:t>
            </a:r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pt-BR" sz="28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Engineering</a:t>
            </a:r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 | Tendência Temporal (inclinação linear)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14BA8872-E311-4ADC-B623-50C99AD47306}"/>
                  </a:ext>
                </a:extLst>
              </p:cNvPr>
              <p:cNvSpPr txBox="1"/>
              <p:nvPr/>
            </p:nvSpPr>
            <p:spPr>
              <a:xfrm>
                <a:off x="248037" y="1384200"/>
                <a:ext cx="11642710" cy="54154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b="1" dirty="0">
                    <a:latin typeface="Arial Narrow" panose="020B0606020202030204" pitchFamily="34" charset="0"/>
                  </a:rPr>
                  <a:t>TEND_ENDIVIDAMENTO_</a:t>
                </a:r>
                <a:r>
                  <a:rPr lang="es-ES" b="1" dirty="0">
                    <a:latin typeface="Arial Narrow" panose="020B0606020202030204" pitchFamily="34" charset="0"/>
                  </a:rPr>
                  <a:t>B1/B2/B3</a:t>
                </a:r>
                <a:r>
                  <a:rPr lang="pt-BR" sz="1200" b="1" dirty="0">
                    <a:latin typeface="Arial Narrow" panose="020B0606020202030204" pitchFamily="34" charset="0"/>
                  </a:rPr>
                  <a:t> </a:t>
                </a:r>
                <a:endParaRPr lang="pt-BR" b="1" dirty="0">
                  <a:latin typeface="Arial Narrow" panose="020B0606020202030204" pitchFamily="34" charset="0"/>
                </a:endParaRPr>
              </a:p>
              <a:p>
                <a:endParaRPr lang="pt-BR" b="1" dirty="0">
                  <a:latin typeface="Arial Narrow" panose="020B0606020202030204" pitchFamily="34" charset="0"/>
                </a:endParaRPr>
              </a:p>
              <a:p>
                <a:r>
                  <a:rPr lang="pt-BR" b="1" dirty="0">
                    <a:latin typeface="Arial Narrow" panose="020B0606020202030204" pitchFamily="34" charset="0"/>
                  </a:rPr>
                  <a:t>Definição: </a:t>
                </a:r>
                <a:r>
                  <a:rPr lang="pt-BR" dirty="0">
                    <a:latin typeface="Arial Narrow" panose="020B0606020202030204" pitchFamily="34" charset="0"/>
                  </a:rPr>
                  <a:t>Variável de tendência obtida a partir de uma regressão linear simples aplicada sobre a evolução do nível de exposição ao limite de crédito dentro de cada janela temporal (B1, B2 e B3).</a:t>
                </a:r>
              </a:p>
              <a:p>
                <a:r>
                  <a:rPr lang="pt-BR" sz="900" i="1" dirty="0">
                    <a:latin typeface="Arial Narrow" panose="020B0606020202030204" pitchFamily="34" charset="0"/>
                  </a:rPr>
                  <a:t>   </a:t>
                </a:r>
              </a:p>
              <a:p>
                <a:pPr algn="ctr"/>
                <a:r>
                  <a:rPr lang="pt-BR" i="1" dirty="0" err="1">
                    <a:latin typeface="Cambria Math" panose="02040503050406030204" pitchFamily="18" charset="0"/>
                  </a:rPr>
                  <a:t>ENDIVIDAMENTOi</a:t>
                </a:r>
                <a:r>
                  <a:rPr lang="pt-BR" i="1" dirty="0">
                    <a:latin typeface="Cambria Math" panose="02040503050406030204" pitchFamily="18" charset="0"/>
                  </a:rPr>
                  <a:t>​=</a:t>
                </a:r>
                <a14:m>
                  <m:oMath xmlns:m="http://schemas.openxmlformats.org/officeDocument/2006/math">
                    <m:r>
                      <a:rPr lang="pt-BR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>
                            <a:latin typeface="Cambria Math" panose="02040503050406030204" pitchFamily="18" charset="0"/>
                          </a:rPr>
                          <m:t>𝐵𝐼𝐿𝐿</m:t>
                        </m:r>
                        <m:r>
                          <a:rPr lang="pt-BR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pt-BR">
                            <a:latin typeface="Cambria Math" panose="02040503050406030204" pitchFamily="18" charset="0"/>
                          </a:rPr>
                          <m:t>𝐴𝑀𝑇</m:t>
                        </m:r>
                        <m:r>
                          <a:rPr lang="pt-BR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pt-BR"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pt-BR">
                            <a:latin typeface="Cambria Math" panose="02040503050406030204" pitchFamily="18" charset="0"/>
                          </a:rPr>
                          <m:t>𝐿𝐼𝑀𝐼𝑇</m:t>
                        </m:r>
                        <m:r>
                          <a:rPr lang="pt-BR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pt-BR">
                            <a:latin typeface="Cambria Math" panose="02040503050406030204" pitchFamily="18" charset="0"/>
                          </a:rPr>
                          <m:t>𝐵𝐴𝐿</m:t>
                        </m:r>
                        <m:r>
                          <a:rPr lang="pt-BR">
                            <a:latin typeface="Cambria Math" panose="02040503050406030204" pitchFamily="18" charset="0"/>
                          </a:rPr>
                          <m:t>	​	​</m:t>
                        </m:r>
                      </m:den>
                    </m:f>
                  </m:oMath>
                </a14:m>
                <a:r>
                  <a:rPr lang="pt-BR" dirty="0">
                    <a:latin typeface="Arial Narrow" panose="020B0606020202030204" pitchFamily="34" charset="0"/>
                  </a:rPr>
                  <a:t> </a:t>
                </a:r>
              </a:p>
              <a:p>
                <a:r>
                  <a:rPr lang="pt-BR" sz="1000" dirty="0">
                    <a:latin typeface="Arial Narrow" panose="020B0606020202030204" pitchFamily="34" charset="0"/>
                  </a:rPr>
                  <a:t>   </a:t>
                </a:r>
              </a:p>
              <a:p>
                <a:r>
                  <a:rPr lang="pt-BR" dirty="0">
                    <a:latin typeface="Arial Narrow" panose="020B0606020202030204" pitchFamily="34" charset="0"/>
                  </a:rPr>
                  <a:t>Para cada bloco temporal (B1, B2 e B3), ajusta-se uma regressão linear em função do tempo. O coeficiente angular (</a:t>
                </a:r>
                <a:r>
                  <a:rPr lang="pt-BR" dirty="0" err="1">
                    <a:latin typeface="Arial Narrow" panose="020B0606020202030204" pitchFamily="34" charset="0"/>
                  </a:rPr>
                  <a:t>slope</a:t>
                </a:r>
                <a:r>
                  <a:rPr lang="pt-BR" dirty="0">
                    <a:latin typeface="Arial Narrow" panose="020B0606020202030204" pitchFamily="34" charset="0"/>
                  </a:rPr>
                  <a:t>) representa a direção e intensidade da evolução do endividamento.</a:t>
                </a:r>
              </a:p>
              <a:p>
                <a:r>
                  <a:rPr lang="pt-BR" sz="900" b="1" dirty="0">
                    <a:latin typeface="Arial Narrow" panose="020B0606020202030204" pitchFamily="34" charset="0"/>
                  </a:rPr>
                  <a:t>     </a:t>
                </a:r>
                <a:endParaRPr lang="pt-BR" sz="1400" b="1" dirty="0">
                  <a:latin typeface="Arial Narrow" panose="020B0606020202030204" pitchFamily="34" charset="0"/>
                </a:endParaRPr>
              </a:p>
              <a:p>
                <a:pPr algn="just"/>
                <a:r>
                  <a:rPr lang="pt-BR" b="1" dirty="0">
                    <a:latin typeface="Arial Narrow" panose="020B0606020202030204" pitchFamily="34" charset="0"/>
                  </a:rPr>
                  <a:t>Objetivo: </a:t>
                </a:r>
                <a:r>
                  <a:rPr lang="pt-BR" dirty="0">
                    <a:latin typeface="Arial Narrow" panose="020B0606020202030204" pitchFamily="34" charset="0"/>
                  </a:rPr>
                  <a:t>Capturar a dinâmica temporal do nível de exposição ao crédito, permitindo identificar mudanças estruturais no comportamento financeiro do cliente dentro de cada janela de </a:t>
                </a:r>
                <a:r>
                  <a:rPr lang="pt-BR" dirty="0" err="1">
                    <a:latin typeface="Arial Narrow" panose="020B0606020202030204" pitchFamily="34" charset="0"/>
                  </a:rPr>
                  <a:t>tempo.Enquanto</a:t>
                </a:r>
                <a:r>
                  <a:rPr lang="pt-BR" dirty="0">
                    <a:latin typeface="Arial Narrow" panose="020B0606020202030204" pitchFamily="34" charset="0"/>
                  </a:rPr>
                  <a:t> a média resume o nível típico de utilização do crédito, a tendência revela se esse nível está aumentando, diminuindo ou permanecendo estável ao longo do período analisado.</a:t>
                </a:r>
              </a:p>
              <a:p>
                <a:pPr algn="just"/>
                <a:r>
                  <a:rPr lang="pt-BR" sz="900" b="1" dirty="0">
                    <a:latin typeface="Arial Narrow" panose="020B0606020202030204" pitchFamily="34" charset="0"/>
                  </a:rPr>
                  <a:t>    </a:t>
                </a:r>
              </a:p>
              <a:p>
                <a:r>
                  <a:rPr lang="pt-BR" b="1" dirty="0">
                    <a:latin typeface="Arial Narrow" panose="020B0606020202030204" pitchFamily="34" charset="0"/>
                  </a:rPr>
                  <a:t>Interpretação: </a:t>
                </a:r>
                <a:r>
                  <a:rPr lang="pt-BR" sz="1050" b="1" dirty="0">
                    <a:latin typeface="Arial Narrow" panose="020B0606020202030204" pitchFamily="34" charset="0"/>
                  </a:rPr>
                  <a:t>   </a:t>
                </a:r>
              </a:p>
              <a:p>
                <a:r>
                  <a:rPr lang="pt-BR" b="1" dirty="0">
                    <a:latin typeface="Arial Narrow" panose="020B0606020202030204" pitchFamily="34" charset="0"/>
                  </a:rPr>
                  <a:t>Valores positivos →</a:t>
                </a:r>
                <a:r>
                  <a:rPr lang="pt-BR" dirty="0">
                    <a:latin typeface="Arial Narrow" panose="020B0606020202030204" pitchFamily="34" charset="0"/>
                  </a:rPr>
                  <a:t> aumento do endividamento ao longo do período analisado.</a:t>
                </a:r>
              </a:p>
              <a:p>
                <a:r>
                  <a:rPr lang="pt-BR" b="1" dirty="0">
                    <a:latin typeface="Arial Narrow" panose="020B0606020202030204" pitchFamily="34" charset="0"/>
                  </a:rPr>
                  <a:t>Valores negativos → </a:t>
                </a:r>
                <a:r>
                  <a:rPr lang="pt-BR" dirty="0">
                    <a:latin typeface="Arial Narrow" panose="020B0606020202030204" pitchFamily="34" charset="0"/>
                  </a:rPr>
                  <a:t>redução do endividamento ao longo do período.</a:t>
                </a:r>
              </a:p>
              <a:p>
                <a:r>
                  <a:rPr lang="pt-BR" b="1" dirty="0">
                    <a:latin typeface="Arial Narrow" panose="020B0606020202030204" pitchFamily="34" charset="0"/>
                  </a:rPr>
                  <a:t>Valores próximos de zero → </a:t>
                </a:r>
                <a:r>
                  <a:rPr lang="pt-BR" dirty="0">
                    <a:latin typeface="Arial Narrow" panose="020B0606020202030204" pitchFamily="34" charset="0"/>
                  </a:rPr>
                  <a:t>estabilidade no nível de endividamento.</a:t>
                </a:r>
              </a:p>
              <a:p>
                <a:r>
                  <a:rPr lang="pt-BR" sz="1100" b="1" dirty="0">
                    <a:latin typeface="Arial Narrow" panose="020B0606020202030204" pitchFamily="34" charset="0"/>
                  </a:rPr>
                  <a:t>   </a:t>
                </a:r>
              </a:p>
              <a:p>
                <a:r>
                  <a:rPr lang="pt-BR" b="1" dirty="0">
                    <a:latin typeface="Arial Narrow" panose="020B0606020202030204" pitchFamily="34" charset="0"/>
                  </a:rPr>
                  <a:t>Natureza da variável: </a:t>
                </a:r>
                <a:r>
                  <a:rPr lang="pt-BR" dirty="0" err="1">
                    <a:latin typeface="Arial Narrow" panose="020B0606020202030204" pitchFamily="34" charset="0"/>
                  </a:rPr>
                  <a:t>Feature</a:t>
                </a:r>
                <a:r>
                  <a:rPr lang="pt-BR" dirty="0">
                    <a:latin typeface="Arial Narrow" panose="020B0606020202030204" pitchFamily="34" charset="0"/>
                  </a:rPr>
                  <a:t> de tendência derivada do coeficiente angular (</a:t>
                </a:r>
                <a:r>
                  <a:rPr lang="pt-BR" dirty="0" err="1">
                    <a:latin typeface="Arial Narrow" panose="020B0606020202030204" pitchFamily="34" charset="0"/>
                  </a:rPr>
                  <a:t>slope</a:t>
                </a:r>
                <a:r>
                  <a:rPr lang="pt-BR" dirty="0">
                    <a:latin typeface="Arial Narrow" panose="020B0606020202030204" pitchFamily="34" charset="0"/>
                  </a:rPr>
                  <a:t>) de uma regressão linear </a:t>
                </a:r>
                <a:r>
                  <a:rPr lang="pt-BR" dirty="0" err="1">
                    <a:latin typeface="Arial Narrow" panose="020B0606020202030204" pitchFamily="34" charset="0"/>
                  </a:rPr>
                  <a:t>univariada</a:t>
                </a:r>
                <a:r>
                  <a:rPr lang="pt-BR" dirty="0">
                    <a:latin typeface="Arial Narrow" panose="020B0606020202030204" pitchFamily="34" charset="0"/>
                  </a:rPr>
                  <a:t> aplicada sobre a evolução temporal do endividamento.</a:t>
                </a:r>
              </a:p>
            </p:txBody>
          </p:sp>
        </mc:Choice>
        <mc:Fallback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14BA8872-E311-4ADC-B623-50C99AD473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037" y="1384200"/>
                <a:ext cx="11642710" cy="5415457"/>
              </a:xfrm>
              <a:prstGeom prst="rect">
                <a:avLst/>
              </a:prstGeom>
              <a:blipFill>
                <a:blip r:embed="rId3"/>
                <a:stretch>
                  <a:fillRect l="-471" t="-450" r="-628" b="-90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aixaDeTexto 8">
            <a:extLst>
              <a:ext uri="{FF2B5EF4-FFF2-40B4-BE49-F238E27FC236}">
                <a16:creationId xmlns:a16="http://schemas.microsoft.com/office/drawing/2014/main" id="{E5690E0F-21E5-4DD5-A27C-8AA096DA904C}"/>
              </a:ext>
            </a:extLst>
          </p:cNvPr>
          <p:cNvSpPr txBox="1"/>
          <p:nvPr/>
        </p:nvSpPr>
        <p:spPr>
          <a:xfrm>
            <a:off x="248037" y="924083"/>
            <a:ext cx="60991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Numérica Contínua</a:t>
            </a:r>
          </a:p>
        </p:txBody>
      </p:sp>
    </p:spTree>
    <p:extLst>
      <p:ext uri="{BB962C8B-B14F-4D97-AF65-F5344CB8AC3E}">
        <p14:creationId xmlns:p14="http://schemas.microsoft.com/office/powerpoint/2010/main" val="36861537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C92FF5F3-69BE-4874-A7C9-3907BD6950BC}"/>
              </a:ext>
            </a:extLst>
          </p:cNvPr>
          <p:cNvSpPr/>
          <p:nvPr/>
        </p:nvSpPr>
        <p:spPr>
          <a:xfrm>
            <a:off x="-786" y="-19729"/>
            <a:ext cx="12192000" cy="933253"/>
          </a:xfrm>
          <a:prstGeom prst="rect">
            <a:avLst/>
          </a:prstGeom>
          <a:solidFill>
            <a:srgbClr val="0065A3"/>
          </a:solidFill>
          <a:ln>
            <a:solidFill>
              <a:srgbClr val="0065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C00000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101A53B-008C-426B-AFD0-31FEAF23EC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t="34265" r="11291" b="37922"/>
          <a:stretch/>
        </p:blipFill>
        <p:spPr>
          <a:xfrm>
            <a:off x="9468465" y="146575"/>
            <a:ext cx="2569766" cy="600644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9307289-4A8A-47F9-824C-C1FCFB380550}"/>
              </a:ext>
            </a:extLst>
          </p:cNvPr>
          <p:cNvSpPr txBox="1"/>
          <p:nvPr/>
        </p:nvSpPr>
        <p:spPr>
          <a:xfrm>
            <a:off x="301253" y="223999"/>
            <a:ext cx="88238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Feature</a:t>
            </a:r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pt-BR" sz="2800" dirty="0" err="1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Engineering</a:t>
            </a:r>
            <a:r>
              <a:rPr lang="pt-BR" sz="2800" dirty="0">
                <a:solidFill>
                  <a:schemeClr val="bg1"/>
                </a:solidFill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 | Variável Alvo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4BA8872-E311-4ADC-B623-50C99AD47306}"/>
              </a:ext>
            </a:extLst>
          </p:cNvPr>
          <p:cNvSpPr txBox="1"/>
          <p:nvPr/>
        </p:nvSpPr>
        <p:spPr>
          <a:xfrm>
            <a:off x="136442" y="1748188"/>
            <a:ext cx="11917543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dirty="0">
                <a:latin typeface="Arial Narrow" panose="020B0606020202030204" pitchFamily="34" charset="0"/>
              </a:rPr>
              <a:t>default </a:t>
            </a:r>
            <a:r>
              <a:rPr lang="pt-BR" sz="2000" b="1" dirty="0" err="1">
                <a:latin typeface="Arial Narrow" panose="020B0606020202030204" pitchFamily="34" charset="0"/>
              </a:rPr>
              <a:t>payment</a:t>
            </a:r>
            <a:r>
              <a:rPr lang="pt-BR" sz="2000" b="1" dirty="0">
                <a:latin typeface="Arial Narrow" panose="020B0606020202030204" pitchFamily="34" charset="0"/>
              </a:rPr>
              <a:t> </a:t>
            </a:r>
            <a:r>
              <a:rPr lang="pt-BR" sz="2000" b="1" dirty="0" err="1">
                <a:latin typeface="Arial Narrow" panose="020B0606020202030204" pitchFamily="34" charset="0"/>
              </a:rPr>
              <a:t>next</a:t>
            </a:r>
            <a:r>
              <a:rPr lang="pt-BR" sz="2000" b="1" dirty="0">
                <a:latin typeface="Arial Narrow" panose="020B0606020202030204" pitchFamily="34" charset="0"/>
              </a:rPr>
              <a:t> </a:t>
            </a:r>
            <a:r>
              <a:rPr lang="pt-BR" sz="2000" b="1" dirty="0" err="1">
                <a:latin typeface="Arial Narrow" panose="020B0606020202030204" pitchFamily="34" charset="0"/>
              </a:rPr>
              <a:t>month</a:t>
            </a:r>
            <a:endParaRPr lang="pt-BR" sz="2000" b="1" dirty="0">
              <a:latin typeface="Arial Narrow" panose="020B0606020202030204" pitchFamily="34" charset="0"/>
            </a:endParaRPr>
          </a:p>
          <a:p>
            <a:r>
              <a:rPr lang="pt-BR" sz="1000" dirty="0">
                <a:latin typeface="Cambria Math" panose="02040503050406030204" pitchFamily="18" charset="0"/>
              </a:rPr>
              <a:t>   </a:t>
            </a:r>
          </a:p>
          <a:p>
            <a:r>
              <a:rPr lang="pt-BR" b="1" dirty="0">
                <a:latin typeface="Arial Narrow" panose="020B0606020202030204" pitchFamily="34" charset="0"/>
              </a:rPr>
              <a:t>Definição: </a:t>
            </a:r>
            <a:r>
              <a:rPr lang="pt-BR" dirty="0">
                <a:latin typeface="Arial Narrow" panose="020B0606020202030204" pitchFamily="34" charset="0"/>
              </a:rPr>
              <a:t>Variável alvo (target) que indica a ocorrência de inadimplência (default) do cliente no mês seguinte ao período de observação do histórico de crédito.</a:t>
            </a:r>
          </a:p>
          <a:p>
            <a:r>
              <a:rPr lang="pt-BR" sz="1000" dirty="0">
                <a:latin typeface="Cambria Math" panose="02040503050406030204" pitchFamily="18" charset="0"/>
              </a:rPr>
              <a:t>        </a:t>
            </a:r>
          </a:p>
          <a:p>
            <a:r>
              <a:rPr lang="pt-BR" b="1" dirty="0">
                <a:latin typeface="Arial Narrow" panose="020B0606020202030204" pitchFamily="34" charset="0"/>
              </a:rPr>
              <a:t>Objetivo: </a:t>
            </a:r>
            <a:r>
              <a:rPr lang="pt-BR" dirty="0">
                <a:latin typeface="Arial Narrow" panose="020B0606020202030204" pitchFamily="34" charset="0"/>
              </a:rPr>
              <a:t>Representar o evento de interesse que o modelo de aprendizado de máquina busca prever, permitindo classificar os clientes quanto ao risco de inadimplência futura.</a:t>
            </a:r>
          </a:p>
          <a:p>
            <a:r>
              <a:rPr lang="pt-BR" sz="1000" dirty="0">
                <a:latin typeface="Cambria Math" panose="02040503050406030204" pitchFamily="18" charset="0"/>
              </a:rPr>
              <a:t>   </a:t>
            </a:r>
          </a:p>
          <a:p>
            <a:r>
              <a:rPr lang="pt-BR" b="1" dirty="0">
                <a:latin typeface="Arial Narrow" panose="020B0606020202030204" pitchFamily="34" charset="0"/>
              </a:rPr>
              <a:t>Interpretação:</a:t>
            </a:r>
            <a:br>
              <a:rPr lang="pt-BR" sz="2000" dirty="0"/>
            </a:br>
            <a:r>
              <a:rPr lang="pt-BR" dirty="0">
                <a:latin typeface="Arial Narrow" panose="020B0606020202030204" pitchFamily="34" charset="0"/>
              </a:rPr>
              <a:t>Trata-se da variável resposta utilizada durante o treinamento e avaliação do modelo preditivo.</a:t>
            </a:r>
          </a:p>
          <a:p>
            <a:endParaRPr lang="pt-BR" dirty="0">
              <a:latin typeface="Arial Narrow" panose="020B0606020202030204" pitchFamily="34" charset="0"/>
            </a:endParaRPr>
          </a:p>
          <a:p>
            <a:r>
              <a:rPr lang="pt-BR" b="1" dirty="0">
                <a:latin typeface="Arial Narrow" panose="020B0606020202030204" pitchFamily="34" charset="0"/>
              </a:rPr>
              <a:t>Valor igual a 0 → </a:t>
            </a:r>
            <a:r>
              <a:rPr lang="pt-BR" dirty="0">
                <a:latin typeface="Arial Narrow" panose="020B0606020202030204" pitchFamily="34" charset="0"/>
              </a:rPr>
              <a:t>cliente permaneceu adimplente.</a:t>
            </a:r>
          </a:p>
          <a:p>
            <a:r>
              <a:rPr lang="pt-BR" b="1" dirty="0">
                <a:latin typeface="Arial Narrow" panose="020B0606020202030204" pitchFamily="34" charset="0"/>
              </a:rPr>
              <a:t>Valor igual a 1 → </a:t>
            </a:r>
            <a:r>
              <a:rPr lang="pt-BR" dirty="0">
                <a:latin typeface="Arial Narrow" panose="020B0606020202030204" pitchFamily="34" charset="0"/>
              </a:rPr>
              <a:t>cliente apresentou inadimplência (default).</a:t>
            </a:r>
          </a:p>
          <a:p>
            <a:endParaRPr lang="pt-BR" dirty="0">
              <a:latin typeface="Arial Narrow" panose="020B0606020202030204" pitchFamily="34" charset="0"/>
            </a:endParaRPr>
          </a:p>
          <a:p>
            <a:r>
              <a:rPr lang="pt-BR" dirty="0">
                <a:latin typeface="Arial Narrow" panose="020B0606020202030204" pitchFamily="34" charset="0"/>
              </a:rPr>
              <a:t>Por representar a variável alvo da modelagem, ela não deve ser utilizada como variável explicativa na construção do modelo.</a:t>
            </a:r>
          </a:p>
          <a:p>
            <a:endParaRPr lang="pt-BR" sz="20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CDE8C31-8537-410E-A4F0-2962FB819065}"/>
              </a:ext>
            </a:extLst>
          </p:cNvPr>
          <p:cNvSpPr txBox="1"/>
          <p:nvPr/>
        </p:nvSpPr>
        <p:spPr>
          <a:xfrm>
            <a:off x="136442" y="1157252"/>
            <a:ext cx="60991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latin typeface="Franklin Gothic Medium Cond" panose="020B06060304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Variável Binária</a:t>
            </a:r>
          </a:p>
        </p:txBody>
      </p:sp>
    </p:spTree>
    <p:extLst>
      <p:ext uri="{BB962C8B-B14F-4D97-AF65-F5344CB8AC3E}">
        <p14:creationId xmlns:p14="http://schemas.microsoft.com/office/powerpoint/2010/main" val="11453397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20222</TotalTime>
  <Words>5181</Words>
  <Application>Microsoft Office PowerPoint</Application>
  <PresentationFormat>Widescreen</PresentationFormat>
  <Paragraphs>510</Paragraphs>
  <Slides>31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9" baseType="lpstr">
      <vt:lpstr>Arial</vt:lpstr>
      <vt:lpstr>Arial Narrow</vt:lpstr>
      <vt:lpstr>Calibri</vt:lpstr>
      <vt:lpstr>Calibri Light</vt:lpstr>
      <vt:lpstr>Cambria Math</vt:lpstr>
      <vt:lpstr>Franklin Gothic Medium Cond</vt:lpstr>
      <vt:lpstr>ui-sans-serif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Agnes Chantal Souza Dias</dc:creator>
  <cp:lastModifiedBy>Agnes Chantal Souza Dias</cp:lastModifiedBy>
  <cp:revision>561</cp:revision>
  <dcterms:created xsi:type="dcterms:W3CDTF">2026-03-20T03:32:22Z</dcterms:created>
  <dcterms:modified xsi:type="dcterms:W3CDTF">2026-06-26T00:17:28Z</dcterms:modified>
</cp:coreProperties>
</file>