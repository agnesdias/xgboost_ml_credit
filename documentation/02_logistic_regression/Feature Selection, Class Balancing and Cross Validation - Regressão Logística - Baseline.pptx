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287" r:id="rId3"/>
    <p:sldId id="313" r:id="rId4"/>
    <p:sldId id="370" r:id="rId5"/>
    <p:sldId id="367" r:id="rId6"/>
    <p:sldId id="372" r:id="rId7"/>
    <p:sldId id="383" r:id="rId8"/>
    <p:sldId id="384" r:id="rId9"/>
    <p:sldId id="382" r:id="rId10"/>
    <p:sldId id="373" r:id="rId11"/>
    <p:sldId id="385" r:id="rId12"/>
    <p:sldId id="386" r:id="rId13"/>
    <p:sldId id="388" r:id="rId14"/>
    <p:sldId id="387" r:id="rId15"/>
    <p:sldId id="374" r:id="rId16"/>
    <p:sldId id="375" r:id="rId17"/>
    <p:sldId id="334" r:id="rId18"/>
    <p:sldId id="337" r:id="rId19"/>
    <p:sldId id="327" r:id="rId20"/>
    <p:sldId id="339" r:id="rId21"/>
    <p:sldId id="340" r:id="rId22"/>
    <p:sldId id="342" r:id="rId23"/>
    <p:sldId id="378" r:id="rId24"/>
    <p:sldId id="379" r:id="rId25"/>
    <p:sldId id="380" r:id="rId26"/>
    <p:sldId id="381" r:id="rId27"/>
    <p:sldId id="377" r:id="rId28"/>
    <p:sldId id="391" r:id="rId29"/>
    <p:sldId id="392" r:id="rId30"/>
    <p:sldId id="393" r:id="rId31"/>
    <p:sldId id="394" r:id="rId32"/>
    <p:sldId id="395" r:id="rId33"/>
    <p:sldId id="396" r:id="rId34"/>
    <p:sldId id="397" r:id="rId35"/>
    <p:sldId id="398" r:id="rId36"/>
    <p:sldId id="405" r:id="rId37"/>
    <p:sldId id="403" r:id="rId38"/>
    <p:sldId id="406" r:id="rId39"/>
    <p:sldId id="404" r:id="rId40"/>
    <p:sldId id="407" r:id="rId41"/>
    <p:sldId id="408" r:id="rId42"/>
    <p:sldId id="417" r:id="rId43"/>
    <p:sldId id="411" r:id="rId44"/>
    <p:sldId id="421" r:id="rId45"/>
    <p:sldId id="422" r:id="rId46"/>
    <p:sldId id="423" r:id="rId47"/>
    <p:sldId id="425" r:id="rId48"/>
    <p:sldId id="429" r:id="rId49"/>
    <p:sldId id="427" r:id="rId50"/>
    <p:sldId id="433" r:id="rId51"/>
    <p:sldId id="430" r:id="rId52"/>
    <p:sldId id="434" r:id="rId53"/>
    <p:sldId id="435" r:id="rId54"/>
    <p:sldId id="426" r:id="rId55"/>
    <p:sldId id="438" r:id="rId56"/>
    <p:sldId id="437" r:id="rId57"/>
    <p:sldId id="436" r:id="rId58"/>
    <p:sldId id="428" r:id="rId59"/>
    <p:sldId id="444" r:id="rId60"/>
    <p:sldId id="443" r:id="rId61"/>
    <p:sldId id="442" r:id="rId62"/>
    <p:sldId id="440" r:id="rId6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11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6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746DC-D611-4696-9EE1-A615231AB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98E677-40CE-4329-91CF-C7D3DBBC9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BEDAD6-1418-44A0-BD66-CBA0832C0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EBD89A-D1ED-4E5E-8088-E94596860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3604C2-56C9-4D05-AED2-BEC7EEA4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14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77329-0EA9-42C9-A17D-114F22862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D17F98-6FA4-40C4-9E80-EFB31A960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B010F5-4BB3-46C5-A27B-E6C9957E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2ED2E6-E12F-45E4-8C63-46595502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3780A7-774B-4227-8D4F-1C7F7754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933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FEF34-63C1-4BF9-92C8-0C313207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35083C-235A-44A6-90C3-A48EEA02F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C2224A-52DD-4228-A05B-2E015F266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D69BBC-057B-4792-9B3D-62E2579B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4A88B3-642B-4FF9-BB50-D59BE950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33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D699C-D99D-4B23-964B-8C4F9290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C61511-8C71-474C-A0C8-A766B51E1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A40429-85E9-4110-9D73-AEDF16C6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B1601A-FF69-43BA-BB48-5582FD8B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C57639-3AF2-4052-8078-28F459AF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EEE990-C862-4F96-8665-5ECE3FD0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24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7B646-CFF8-44A3-AEAB-D9CEE956D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D83869-0E80-4ACA-B9CC-0E2BAB61A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CEAD33-4CEB-4540-A9F2-EBE78ACB6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6D7E2C-DDFD-4DFB-87DD-F3DFE97CA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56433A9-32BD-4A0F-A18A-F2CCA9B5A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AAA544D-A9CF-49A9-8578-EE74A390C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C2D102-52BB-433C-B80C-FB308DEC6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FADA118-D11D-4614-B6CA-0712A920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502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3D074-7C51-48AE-9C7F-5F6E61DA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387A62-5727-4267-875A-AB71B878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323B46-7614-4B22-A039-DD5D6192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3C1E060-65B2-4E43-AEB3-9FE695A7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37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E832165-787D-410C-ADF1-A196EAAD4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EFC464-972A-48D9-B175-A3F6D95D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D12E56-A7AC-4259-BC8D-0581FBEA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96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20D97-2CE3-403B-8B23-4D41D774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ED52D8-3AEA-430E-8ECB-06E4AD259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EAC8BB-75B3-4DFE-86FA-0F0B9207A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B2F899-3CF2-4653-91B7-67F00F3E1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840263-A023-4738-B9E9-CC16145F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8DBC44-EAA5-4F64-9C1C-35FEC854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194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234C6-1DC1-4735-ADCA-212A3E199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D862AB-D34C-4707-B50D-6913AFE5E0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AC8754-4A66-48D7-B718-B7FEF285C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3607AE-07BD-4C97-8BB5-40528223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C7568B-C4CD-493B-8856-E4623B2F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4B2F34-A887-4759-B05D-5BC03563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68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91C3A-864E-4E4C-910C-9E456549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39F489-60F9-4949-B706-A73A55297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334A81-2C00-499A-819B-F0E9D6D6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6B7BF7-B099-4F1C-ADAD-47E664BE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3D8EBF-F390-46EA-9F93-BE5711C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095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F6F389-0F9A-412C-BAB4-7E34AB20D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4CC1D4-FA6D-4A4A-A014-47D150656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4CBA9F-3DFC-4B17-B28B-04CB9CB6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825CEC-A516-4100-8008-22C482FD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324008-8D92-42B5-A9B9-C767EACB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46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B97D5AB-6B61-4E75-91E1-6F86E942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3B2569-0A24-4FB2-B14A-58C37032F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7C9CDD-B072-4998-860A-EDEF42248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E2EEC-0702-4760-AF88-46FB88A879C2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39E6E5-2FDC-44FF-9733-13C8014D7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749F9B-FBCE-410F-8046-3F31CCCAF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3B754-664B-4555-9A0B-BF8206FD0C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419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7672" y="-1170"/>
            <a:ext cx="6096786" cy="6858000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600" b="1" i="0" dirty="0">
              <a:solidFill>
                <a:srgbClr val="FFFFFF"/>
              </a:solidFill>
              <a:effectLst/>
              <a:latin typeface="ui-sans-serif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E89227E-5C1D-4729-B7C4-E1C3F9B1EB00}"/>
              </a:ext>
            </a:extLst>
          </p:cNvPr>
          <p:cNvSpPr txBox="1"/>
          <p:nvPr/>
        </p:nvSpPr>
        <p:spPr>
          <a:xfrm>
            <a:off x="321910" y="1638960"/>
            <a:ext cx="4580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Behavior</a:t>
            </a:r>
            <a:r>
              <a:rPr lang="pt-BR" sz="36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Risk Model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4115E41-2796-43BF-AE3D-6DBB58F4E4C7}"/>
              </a:ext>
            </a:extLst>
          </p:cNvPr>
          <p:cNvGrpSpPr/>
          <p:nvPr/>
        </p:nvGrpSpPr>
        <p:grpSpPr>
          <a:xfrm>
            <a:off x="274517" y="2639725"/>
            <a:ext cx="6165723" cy="1623440"/>
            <a:chOff x="271597" y="3792039"/>
            <a:chExt cx="4592451" cy="1623440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89307289-4A8A-47F9-824C-C1FCFB380550}"/>
                </a:ext>
              </a:extLst>
            </p:cNvPr>
            <p:cNvSpPr txBox="1"/>
            <p:nvPr/>
          </p:nvSpPr>
          <p:spPr>
            <a:xfrm>
              <a:off x="284349" y="3792039"/>
              <a:ext cx="40447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Logistic</a:t>
              </a:r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Regression</a:t>
              </a:r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| Baseline  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DB02E0D-F593-42F9-9FB3-8E04E6ACB501}"/>
                </a:ext>
              </a:extLst>
            </p:cNvPr>
            <p:cNvSpPr txBox="1"/>
            <p:nvPr/>
          </p:nvSpPr>
          <p:spPr>
            <a:xfrm>
              <a:off x="271597" y="4461372"/>
              <a:ext cx="4592451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Feature</a:t>
              </a:r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Selection</a:t>
              </a:r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, </a:t>
              </a:r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Class</a:t>
              </a:r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Balancing</a:t>
              </a:r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and</a:t>
              </a:r>
              <a:endPara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  <a:p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Cross </a:t>
              </a:r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Validation</a:t>
              </a:r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52479155-D357-468B-A92A-A19D3A4F7D61}"/>
              </a:ext>
            </a:extLst>
          </p:cNvPr>
          <p:cNvGrpSpPr/>
          <p:nvPr/>
        </p:nvGrpSpPr>
        <p:grpSpPr>
          <a:xfrm>
            <a:off x="1551729" y="5595394"/>
            <a:ext cx="3048000" cy="1155697"/>
            <a:chOff x="2792362" y="5049307"/>
            <a:chExt cx="3048000" cy="1155697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6101A53B-008C-426B-AFD0-31FEAF23EC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9" t="34265" r="11291" b="37922"/>
            <a:stretch/>
          </p:blipFill>
          <p:spPr>
            <a:xfrm>
              <a:off x="3188020" y="5604360"/>
              <a:ext cx="2569766" cy="600644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CB6D4C19-5B9D-4062-B19A-39442DCC2EB5}"/>
                </a:ext>
              </a:extLst>
            </p:cNvPr>
            <p:cNvSpPr txBox="1"/>
            <p:nvPr/>
          </p:nvSpPr>
          <p:spPr>
            <a:xfrm>
              <a:off x="3407578" y="5049307"/>
              <a:ext cx="213064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Default of Credit Card Clients</a:t>
              </a:r>
            </a:p>
          </p:txBody>
        </p: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2412B6F-CE5D-475F-B917-087122E7D9CF}"/>
                </a:ext>
              </a:extLst>
            </p:cNvPr>
            <p:cNvCxnSpPr>
              <a:cxnSpLocks/>
            </p:cNvCxnSpPr>
            <p:nvPr/>
          </p:nvCxnSpPr>
          <p:spPr>
            <a:xfrm>
              <a:off x="2792362" y="5392353"/>
              <a:ext cx="3048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1DCC74A2-EFFB-492D-A6B4-F06E0DB8652C}"/>
              </a:ext>
            </a:extLst>
          </p:cNvPr>
          <p:cNvCxnSpPr>
            <a:cxnSpLocks/>
          </p:cNvCxnSpPr>
          <p:nvPr/>
        </p:nvCxnSpPr>
        <p:spPr>
          <a:xfrm>
            <a:off x="321910" y="2442411"/>
            <a:ext cx="444673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32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Separação Temporal (B3/B2/B1)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169277" y="1031370"/>
            <a:ext cx="8003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Separação temporal dos dados (</a:t>
            </a:r>
            <a:r>
              <a:rPr lang="pt-BR" sz="28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1BA5CA5-2A23-4DE1-8D95-2CD33CF6490E}"/>
              </a:ext>
            </a:extLst>
          </p:cNvPr>
          <p:cNvSpPr txBox="1"/>
          <p:nvPr/>
        </p:nvSpPr>
        <p:spPr>
          <a:xfrm>
            <a:off x="245679" y="1577449"/>
            <a:ext cx="11699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Arial Narrow" panose="020B0606020202030204" pitchFamily="34" charset="0"/>
              </a:rPr>
              <a:t>Os dados foram organizados em janelas temporais de 2 meses, preservando a ordem cronológica para simular um cenário real de modelagem preditiva (sem vazamento de informação futura).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39D322B-60ED-4B00-A957-63D0318E9465}"/>
              </a:ext>
            </a:extLst>
          </p:cNvPr>
          <p:cNvSpPr txBox="1"/>
          <p:nvPr/>
        </p:nvSpPr>
        <p:spPr>
          <a:xfrm>
            <a:off x="169277" y="2386858"/>
            <a:ext cx="8003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Estrutura dos blocos temporais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9CC1D5B-2404-428D-868B-E4701273363F}"/>
              </a:ext>
            </a:extLst>
          </p:cNvPr>
          <p:cNvSpPr txBox="1"/>
          <p:nvPr/>
        </p:nvSpPr>
        <p:spPr>
          <a:xfrm>
            <a:off x="245679" y="2961895"/>
            <a:ext cx="116990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Arial Narrow" panose="020B0606020202030204" pitchFamily="34" charset="0"/>
              </a:rPr>
              <a:t>B3 (meses 5 – 6) </a:t>
            </a:r>
            <a:r>
              <a:rPr lang="pt-BR" dirty="0">
                <a:latin typeface="Arial Narrow" panose="020B0606020202030204" pitchFamily="34" charset="0"/>
              </a:rPr>
              <a:t>→ histórico mais antigo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Arial Narrow" panose="020B0606020202030204" pitchFamily="34" charset="0"/>
              </a:rPr>
              <a:t>B2 (meses 3 – 4) </a:t>
            </a:r>
            <a:r>
              <a:rPr lang="pt-BR" dirty="0">
                <a:latin typeface="Arial Narrow" panose="020B0606020202030204" pitchFamily="34" charset="0"/>
              </a:rPr>
              <a:t>→ comportamento intermediário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Arial Narrow" panose="020B0606020202030204" pitchFamily="34" charset="0"/>
              </a:rPr>
              <a:t>B1 (meses 1 – 2) </a:t>
            </a:r>
            <a:r>
              <a:rPr lang="pt-BR" dirty="0">
                <a:latin typeface="Arial Narrow" panose="020B0606020202030204" pitchFamily="34" charset="0"/>
              </a:rPr>
              <a:t>→ comportamento mais recente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B225370-3CEF-4474-8E48-BD464DA9A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513607"/>
              </p:ext>
            </p:extLst>
          </p:nvPr>
        </p:nvGraphicFramePr>
        <p:xfrm>
          <a:off x="301253" y="4074364"/>
          <a:ext cx="11207232" cy="1341120"/>
        </p:xfrm>
        <a:graphic>
          <a:graphicData uri="http://schemas.openxmlformats.org/drawingml/2006/table">
            <a:tbl>
              <a:tblPr/>
              <a:tblGrid>
                <a:gridCol w="2801808">
                  <a:extLst>
                    <a:ext uri="{9D8B030D-6E8A-4147-A177-3AD203B41FA5}">
                      <a16:colId xmlns:a16="http://schemas.microsoft.com/office/drawing/2014/main" val="3422475504"/>
                    </a:ext>
                  </a:extLst>
                </a:gridCol>
                <a:gridCol w="2801808">
                  <a:extLst>
                    <a:ext uri="{9D8B030D-6E8A-4147-A177-3AD203B41FA5}">
                      <a16:colId xmlns:a16="http://schemas.microsoft.com/office/drawing/2014/main" val="1396204676"/>
                    </a:ext>
                  </a:extLst>
                </a:gridCol>
                <a:gridCol w="2801808">
                  <a:extLst>
                    <a:ext uri="{9D8B030D-6E8A-4147-A177-3AD203B41FA5}">
                      <a16:colId xmlns:a16="http://schemas.microsoft.com/office/drawing/2014/main" val="27055332"/>
                    </a:ext>
                  </a:extLst>
                </a:gridCol>
                <a:gridCol w="2801808">
                  <a:extLst>
                    <a:ext uri="{9D8B030D-6E8A-4147-A177-3AD203B41FA5}">
                      <a16:colId xmlns:a16="http://schemas.microsoft.com/office/drawing/2014/main" val="1309782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600" b="1">
                          <a:latin typeface="Arial Narrow" panose="020B0606020202030204" pitchFamily="34" charset="0"/>
                        </a:rPr>
                        <a:t>Bloco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latin typeface="Arial Narrow" panose="020B0606020202030204" pitchFamily="34" charset="0"/>
                        </a:rPr>
                        <a:t>Período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Arial Narrow" panose="020B0606020202030204" pitchFamily="34" charset="0"/>
                        </a:rPr>
                        <a:t>Papel no modelo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Arial Narrow" panose="020B0606020202030204" pitchFamily="34" charset="0"/>
                        </a:rPr>
                        <a:t>Interpretação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12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Arial Narrow" panose="020B0606020202030204" pitchFamily="34" charset="0"/>
                        </a:rPr>
                        <a:t>B3</a:t>
                      </a:r>
                      <a:endParaRPr lang="pt-BR" sz="16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latin typeface="Arial Narrow" panose="020B0606020202030204" pitchFamily="34" charset="0"/>
                        </a:rPr>
                        <a:t>M5–M6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latin typeface="Arial Narrow" panose="020B0606020202030204" pitchFamily="34" charset="0"/>
                        </a:rPr>
                        <a:t>Treino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rial Narrow" panose="020B0606020202030204" pitchFamily="34" charset="0"/>
                        </a:rPr>
                        <a:t>Padrões históricos mais antigos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745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>
                          <a:latin typeface="Arial Narrow" panose="020B0606020202030204" pitchFamily="34" charset="0"/>
                        </a:rPr>
                        <a:t>B2</a:t>
                      </a:r>
                      <a:endParaRPr lang="pt-BR" sz="160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latin typeface="Arial Narrow" panose="020B0606020202030204" pitchFamily="34" charset="0"/>
                        </a:rPr>
                        <a:t>M3–M4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latin typeface="Arial Narrow" panose="020B0606020202030204" pitchFamily="34" charset="0"/>
                        </a:rPr>
                        <a:t>Validação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rial Narrow" panose="020B0606020202030204" pitchFamily="34" charset="0"/>
                        </a:rPr>
                        <a:t>Ajuste e calibração do modelo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269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>
                          <a:latin typeface="Arial Narrow" panose="020B0606020202030204" pitchFamily="34" charset="0"/>
                        </a:rPr>
                        <a:t>B1</a:t>
                      </a:r>
                      <a:endParaRPr lang="pt-BR" sz="160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latin typeface="Arial Narrow" panose="020B0606020202030204" pitchFamily="34" charset="0"/>
                        </a:rPr>
                        <a:t>M1–M2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latin typeface="Arial Narrow" panose="020B0606020202030204" pitchFamily="34" charset="0"/>
                        </a:rPr>
                        <a:t>Teste (OOT)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rial Narrow" panose="020B0606020202030204" pitchFamily="34" charset="0"/>
                        </a:rPr>
                        <a:t>Avaliação em dados mais recentes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837265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A0240E84-6D50-48F1-89AE-6FBB7C143E5E}"/>
              </a:ext>
            </a:extLst>
          </p:cNvPr>
          <p:cNvSpPr txBox="1"/>
          <p:nvPr/>
        </p:nvSpPr>
        <p:spPr>
          <a:xfrm>
            <a:off x="245678" y="5634207"/>
            <a:ext cx="1169906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latin typeface="Arial Narrow" panose="020B0606020202030204" pitchFamily="34" charset="0"/>
              </a:rPr>
              <a:t>Lógica de modelagem:</a:t>
            </a:r>
          </a:p>
          <a:p>
            <a:r>
              <a:rPr lang="pt-BR" sz="1600" dirty="0">
                <a:latin typeface="Arial Narrow" panose="020B0606020202030204" pitchFamily="34" charset="0"/>
              </a:rPr>
              <a:t>O </a:t>
            </a:r>
            <a:r>
              <a:rPr lang="pt-BR" sz="1600" dirty="0" err="1">
                <a:latin typeface="Arial Narrow" panose="020B0606020202030204" pitchFamily="34" charset="0"/>
              </a:rPr>
              <a:t>dataset</a:t>
            </a:r>
            <a:r>
              <a:rPr lang="pt-BR" sz="1600" dirty="0">
                <a:latin typeface="Arial Narrow" panose="020B0606020202030204" pitchFamily="34" charset="0"/>
              </a:rPr>
              <a:t> foi estruturado respeitando ordem temporal estrita.</a:t>
            </a:r>
          </a:p>
          <a:p>
            <a:r>
              <a:rPr lang="pt-BR" sz="1600" dirty="0">
                <a:latin typeface="Arial Narrow" panose="020B0606020202030204" pitchFamily="34" charset="0"/>
              </a:rPr>
              <a:t>Cada bloco representa um nível diferente de “</a:t>
            </a:r>
            <a:r>
              <a:rPr lang="pt-BR" sz="1600" dirty="0" err="1">
                <a:latin typeface="Arial Narrow" panose="020B0606020202030204" pitchFamily="34" charset="0"/>
              </a:rPr>
              <a:t>recência</a:t>
            </a:r>
            <a:r>
              <a:rPr lang="pt-BR" sz="1600" dirty="0">
                <a:latin typeface="Arial Narrow" panose="020B0606020202030204" pitchFamily="34" charset="0"/>
              </a:rPr>
              <a:t> do comportamento”.</a:t>
            </a:r>
          </a:p>
          <a:p>
            <a:r>
              <a:rPr lang="pt-BR" sz="1600" dirty="0">
                <a:latin typeface="Arial Narrow" panose="020B0606020202030204" pitchFamily="34" charset="0"/>
              </a:rPr>
              <a:t>Isso permite simular um cenário real de generalização para dados futuros (OOT)</a:t>
            </a:r>
          </a:p>
        </p:txBody>
      </p:sp>
    </p:spTree>
    <p:extLst>
      <p:ext uri="{BB962C8B-B14F-4D97-AF65-F5344CB8AC3E}">
        <p14:creationId xmlns:p14="http://schemas.microsoft.com/office/powerpoint/2010/main" val="110920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Metodologia | Baseline | Regressão Logística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1EA297F-740A-4B79-BA93-C2B15A2985E4}"/>
              </a:ext>
            </a:extLst>
          </p:cNvPr>
          <p:cNvSpPr txBox="1"/>
          <p:nvPr/>
        </p:nvSpPr>
        <p:spPr>
          <a:xfrm>
            <a:off x="104172" y="990947"/>
            <a:ext cx="11859531" cy="6009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900" dirty="0">
                <a:latin typeface="Arial Narrow" panose="020B0606020202030204" pitchFamily="34" charset="0"/>
              </a:rPr>
              <a:t>O modelo </a:t>
            </a:r>
            <a:r>
              <a:rPr lang="pt-BR" sz="1900" b="1" dirty="0">
                <a:latin typeface="Arial Narrow" panose="020B0606020202030204" pitchFamily="34" charset="0"/>
              </a:rPr>
              <a:t>Baseline</a:t>
            </a:r>
            <a:r>
              <a:rPr lang="pt-BR" sz="1900" dirty="0">
                <a:latin typeface="Arial Narrow" panose="020B0606020202030204" pitchFamily="34" charset="0"/>
              </a:rPr>
              <a:t> utilizado em todos os modelos construídos no experimentos foi a </a:t>
            </a:r>
            <a:r>
              <a:rPr lang="pt-BR" sz="1900" b="1" dirty="0">
                <a:latin typeface="Arial Narrow" panose="020B0606020202030204" pitchFamily="34" charset="0"/>
              </a:rPr>
              <a:t>Regressão Logística </a:t>
            </a:r>
            <a:r>
              <a:rPr lang="pt-BR" sz="1900" dirty="0">
                <a:latin typeface="Arial Narrow" panose="020B0606020202030204" pitchFamily="34" charset="0"/>
              </a:rPr>
              <a:t>pela sua:</a:t>
            </a:r>
          </a:p>
          <a:p>
            <a:r>
              <a:rPr lang="pt-BR" sz="1050" dirty="0">
                <a:latin typeface="Arial Narrow" panose="020B0606020202030204" pitchFamily="34" charset="0"/>
              </a:rPr>
              <a:t>    </a:t>
            </a:r>
          </a:p>
          <a:p>
            <a:r>
              <a:rPr lang="pt-BR" sz="1900" b="1" dirty="0" err="1">
                <a:latin typeface="Arial Narrow" panose="020B0606020202030204" pitchFamily="34" charset="0"/>
              </a:rPr>
              <a:t>Interpretabilidade</a:t>
            </a:r>
            <a:r>
              <a:rPr lang="pt-BR" sz="1900" dirty="0">
                <a:latin typeface="Arial Narrow" panose="020B0606020202030204" pitchFamily="34" charset="0"/>
              </a:rPr>
              <a:t>: permite leitura direta do impacto das variáveis sobre o risco;</a:t>
            </a:r>
          </a:p>
          <a:p>
            <a:r>
              <a:rPr lang="pt-BR" sz="1900" b="1" dirty="0">
                <a:latin typeface="Arial Narrow" panose="020B0606020202030204" pitchFamily="34" charset="0"/>
              </a:rPr>
              <a:t>Consistência estatística: </a:t>
            </a:r>
            <a:r>
              <a:rPr lang="pt-BR" sz="1900" dirty="0">
                <a:latin typeface="Arial Narrow" panose="020B0606020202030204" pitchFamily="34" charset="0"/>
              </a:rPr>
              <a:t>estabilidade dos coeficientes e comportamento previsível em diferentes amostras;</a:t>
            </a:r>
          </a:p>
          <a:p>
            <a:r>
              <a:rPr lang="pt-BR" sz="1900" b="1" dirty="0">
                <a:latin typeface="Arial Narrow" panose="020B0606020202030204" pitchFamily="34" charset="0"/>
              </a:rPr>
              <a:t>Padrão de mercado: </a:t>
            </a:r>
            <a:r>
              <a:rPr lang="pt-BR" sz="1900" dirty="0">
                <a:latin typeface="Arial Narrow" panose="020B0606020202030204" pitchFamily="34" charset="0"/>
              </a:rPr>
              <a:t>amplamente utilizada como benchmark em modelos de crédito e </a:t>
            </a:r>
            <a:r>
              <a:rPr lang="pt-BR" sz="1900" dirty="0" err="1">
                <a:latin typeface="Arial Narrow" panose="020B0606020202030204" pitchFamily="34" charset="0"/>
              </a:rPr>
              <a:t>scorecards</a:t>
            </a:r>
            <a:endParaRPr lang="pt-BR" sz="1900" dirty="0">
              <a:latin typeface="Arial Narrow" panose="020B0606020202030204" pitchFamily="34" charset="0"/>
            </a:endParaRPr>
          </a:p>
          <a:p>
            <a:r>
              <a:rPr lang="pt-BR" sz="1000" dirty="0">
                <a:latin typeface="Arial Narrow" panose="020B0606020202030204" pitchFamily="34" charset="0"/>
              </a:rPr>
              <a:t>      </a:t>
            </a:r>
          </a:p>
          <a:p>
            <a:pPr marL="0" lvl="1"/>
            <a:r>
              <a:rPr lang="pt-BR" sz="1900" dirty="0">
                <a:latin typeface="Arial Narrow" panose="020B0606020202030204" pitchFamily="34" charset="0"/>
              </a:rPr>
              <a:t>E também pelo seu papel como </a:t>
            </a:r>
            <a:r>
              <a:rPr lang="pt-BR" sz="1900" b="1" dirty="0">
                <a:latin typeface="Arial Narrow" panose="020B0606020202030204" pitchFamily="34" charset="0"/>
              </a:rPr>
              <a:t>benchmark padrão em problemas de risco de crédito</a:t>
            </a:r>
            <a:r>
              <a:rPr lang="pt-BR" sz="1900" dirty="0">
                <a:latin typeface="Arial Narrow" panose="020B0606020202030204" pitchFamily="34" charset="0"/>
              </a:rPr>
              <a:t>, permitindo interpretar ganhos incrementais de forma controlada e comparável. </a:t>
            </a:r>
          </a:p>
          <a:p>
            <a:pPr marL="0" lvl="1"/>
            <a:r>
              <a:rPr lang="pt-BR" sz="1050" b="1" dirty="0">
                <a:latin typeface="Arial Narrow" panose="020B0606020202030204" pitchFamily="34" charset="0"/>
              </a:rPr>
              <a:t>   </a:t>
            </a:r>
          </a:p>
          <a:p>
            <a:pPr marL="0" lvl="1" algn="ctr"/>
            <a:r>
              <a:rPr lang="pt-BR" sz="1900" i="1" dirty="0">
                <a:latin typeface="Arial Narrow" panose="020B0606020202030204" pitchFamily="34" charset="0"/>
              </a:rPr>
              <a:t>Esse modelo será utilizado como benchmark para as etapas seguintes do projeto, permitindo avaliar o impacto da adoção de algoritmos mais complexos como o </a:t>
            </a:r>
            <a:r>
              <a:rPr lang="pt-BR" sz="1900" i="1" dirty="0" err="1">
                <a:latin typeface="Arial Narrow" panose="020B0606020202030204" pitchFamily="34" charset="0"/>
              </a:rPr>
              <a:t>XGBoost</a:t>
            </a:r>
            <a:r>
              <a:rPr lang="pt-BR" sz="1900" i="1" dirty="0">
                <a:latin typeface="Arial Narrow" panose="020B0606020202030204" pitchFamily="34" charset="0"/>
              </a:rPr>
              <a:t> sob uma mesma metodologia experimental de forma comparável e justa.</a:t>
            </a:r>
          </a:p>
          <a:p>
            <a:r>
              <a:rPr lang="pt-BR" sz="1050" dirty="0">
                <a:latin typeface="Arial Narrow" panose="020B0606020202030204" pitchFamily="34" charset="0"/>
              </a:rPr>
              <a:t>     </a:t>
            </a:r>
            <a:r>
              <a:rPr lang="pt-BR" sz="500" dirty="0">
                <a:latin typeface="Arial Narrow" panose="020B0606020202030204" pitchFamily="34" charset="0"/>
              </a:rPr>
              <a:t> </a:t>
            </a:r>
            <a:r>
              <a:rPr lang="pt-BR" sz="1050" dirty="0">
                <a:latin typeface="Arial Narrow" panose="020B0606020202030204" pitchFamily="34" charset="0"/>
              </a:rPr>
              <a:t>   </a:t>
            </a:r>
          </a:p>
          <a:p>
            <a:r>
              <a:rPr lang="pt-BR" sz="1900" dirty="0">
                <a:latin typeface="Arial Narrow" panose="020B0606020202030204" pitchFamily="34" charset="0"/>
              </a:rPr>
              <a:t>Para </a:t>
            </a:r>
            <a:r>
              <a:rPr lang="pt-BR" sz="1900" b="1" dirty="0">
                <a:latin typeface="Arial Narrow" panose="020B0606020202030204" pitchFamily="34" charset="0"/>
              </a:rPr>
              <a:t>garantir comparabilidade entre todos os cenários </a:t>
            </a:r>
            <a:r>
              <a:rPr lang="pt-BR" sz="1900" dirty="0">
                <a:latin typeface="Arial Narrow" panose="020B0606020202030204" pitchFamily="34" charset="0"/>
              </a:rPr>
              <a:t>foram mantidos</a:t>
            </a:r>
            <a:r>
              <a:rPr lang="pt-BR" sz="1900" b="1" dirty="0">
                <a:latin typeface="Arial Narrow" panose="020B0606020202030204" pitchFamily="34" charset="0"/>
              </a:rPr>
              <a:t> parâmetros fixos</a:t>
            </a:r>
            <a:r>
              <a:rPr lang="pt-BR" sz="1900" dirty="0">
                <a:latin typeface="Arial Narrow" panose="020B0606020202030204" pitchFamily="34" charset="0"/>
              </a:rPr>
              <a:t> (sem </a:t>
            </a:r>
            <a:r>
              <a:rPr lang="pt-BR" sz="1900" dirty="0" err="1">
                <a:latin typeface="Arial Narrow" panose="020B0606020202030204" pitchFamily="34" charset="0"/>
              </a:rPr>
              <a:t>tuning</a:t>
            </a:r>
            <a:r>
              <a:rPr lang="pt-BR" sz="1900" dirty="0">
                <a:latin typeface="Arial Narrow" panose="020B0606020202030204" pitchFamily="34" charset="0"/>
              </a:rPr>
              <a:t> entre experimentos):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900" dirty="0">
                <a:latin typeface="Arial Narrow" panose="020B0606020202030204" pitchFamily="34" charset="0"/>
              </a:rPr>
              <a:t>Usou-se o mesmo algoritmo em todas as etapas (</a:t>
            </a:r>
            <a:r>
              <a:rPr lang="pt-BR" sz="1900" dirty="0" err="1">
                <a:latin typeface="Arial Narrow" panose="020B0606020202030204" pitchFamily="34" charset="0"/>
              </a:rPr>
              <a:t>LogisticRegression</a:t>
            </a:r>
            <a:r>
              <a:rPr lang="pt-BR" sz="1900" dirty="0">
                <a:latin typeface="Arial Narrow" panose="020B0606020202030204" pitchFamily="34" charset="0"/>
              </a:rPr>
              <a:t> com solver </a:t>
            </a:r>
            <a:r>
              <a:rPr lang="pt-BR" sz="1900" dirty="0" err="1">
                <a:latin typeface="Arial Narrow" panose="020B0606020202030204" pitchFamily="34" charset="0"/>
              </a:rPr>
              <a:t>liblinear</a:t>
            </a:r>
            <a:r>
              <a:rPr lang="pt-BR" sz="1900" dirty="0">
                <a:latin typeface="Arial Narrow" panose="020B0606020202030204" pitchFamily="34" charset="0"/>
              </a:rPr>
              <a:t> e </a:t>
            </a:r>
            <a:r>
              <a:rPr lang="pt-BR" sz="1900" dirty="0" err="1">
                <a:latin typeface="Arial Narrow" panose="020B0606020202030204" pitchFamily="34" charset="0"/>
              </a:rPr>
              <a:t>max_iter</a:t>
            </a:r>
            <a:r>
              <a:rPr lang="pt-BR" sz="1900" dirty="0">
                <a:latin typeface="Arial Narrow" panose="020B0606020202030204" pitchFamily="34" charset="0"/>
              </a:rPr>
              <a:t> padronizado)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900" dirty="0">
                <a:latin typeface="Arial Narrow" panose="020B0606020202030204" pitchFamily="34" charset="0"/>
              </a:rPr>
              <a:t>O pipeline de pré-processamento: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900" dirty="0">
                <a:latin typeface="Arial Narrow" panose="020B0606020202030204" pitchFamily="34" charset="0"/>
              </a:rPr>
              <a:t>imputação de valores faltantes (mediana para numéricas, moda para categóricas)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900" dirty="0">
                <a:latin typeface="Arial Narrow" panose="020B0606020202030204" pitchFamily="34" charset="0"/>
              </a:rPr>
              <a:t>normalização (</a:t>
            </a:r>
            <a:r>
              <a:rPr lang="pt-BR" sz="1900" dirty="0" err="1">
                <a:latin typeface="Arial Narrow" panose="020B0606020202030204" pitchFamily="34" charset="0"/>
              </a:rPr>
              <a:t>StandardScaler</a:t>
            </a:r>
            <a:r>
              <a:rPr lang="pt-BR" sz="1900" dirty="0">
                <a:latin typeface="Arial Narrow" panose="020B0606020202030204" pitchFamily="34" charset="0"/>
              </a:rPr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900" dirty="0" err="1">
                <a:latin typeface="Arial Narrow" panose="020B0606020202030204" pitchFamily="34" charset="0"/>
              </a:rPr>
              <a:t>encoding</a:t>
            </a:r>
            <a:r>
              <a:rPr lang="pt-BR" sz="1900" dirty="0">
                <a:latin typeface="Arial Narrow" panose="020B0606020202030204" pitchFamily="34" charset="0"/>
              </a:rPr>
              <a:t> de variáveis categóricas (</a:t>
            </a:r>
            <a:r>
              <a:rPr lang="pt-BR" sz="1900" dirty="0" err="1">
                <a:latin typeface="Arial Narrow" panose="020B0606020202030204" pitchFamily="34" charset="0"/>
              </a:rPr>
              <a:t>OneHotEncoder</a:t>
            </a:r>
            <a:r>
              <a:rPr lang="pt-BR" sz="1900" dirty="0">
                <a:latin typeface="Arial Narrow" panose="020B0606020202030204" pitchFamily="34" charset="0"/>
              </a:rPr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900" dirty="0">
                <a:latin typeface="Arial Narrow" panose="020B0606020202030204" pitchFamily="34" charset="0"/>
              </a:rPr>
              <a:t>transformação logarítmica para variáveis previamente definidas (</a:t>
            </a:r>
            <a:r>
              <a:rPr lang="pt-BR" sz="1900" dirty="0" err="1">
                <a:latin typeface="Arial Narrow" panose="020B0606020202030204" pitchFamily="34" charset="0"/>
              </a:rPr>
              <a:t>log_vars</a:t>
            </a:r>
            <a:r>
              <a:rPr lang="pt-BR" sz="1900" dirty="0">
                <a:latin typeface="Arial Narrow" panose="020B0606020202030204" pitchFamily="34" charset="0"/>
              </a:rPr>
              <a:t>)</a:t>
            </a:r>
          </a:p>
          <a:p>
            <a:pPr lvl="1"/>
            <a:r>
              <a:rPr lang="pt-BR" sz="1000" dirty="0">
                <a:latin typeface="Arial Narrow" panose="020B0606020202030204" pitchFamily="34" charset="0"/>
              </a:rPr>
              <a:t>   </a:t>
            </a:r>
            <a:endParaRPr lang="pt-BR" sz="200" dirty="0">
              <a:latin typeface="Arial Narrow" panose="020B0606020202030204" pitchFamily="34" charset="0"/>
            </a:endParaRPr>
          </a:p>
          <a:p>
            <a:pPr marL="0" lvl="1"/>
            <a:r>
              <a:rPr lang="pt-BR" sz="1900" dirty="0">
                <a:latin typeface="Arial Narrow" panose="020B0606020202030204" pitchFamily="34" charset="0"/>
              </a:rPr>
              <a:t>A fim de garantir que qualquer variação de performance fosse atribuída </a:t>
            </a:r>
            <a:r>
              <a:rPr lang="pt-BR" sz="1900" b="1" dirty="0">
                <a:latin typeface="Arial Narrow" panose="020B0606020202030204" pitchFamily="34" charset="0"/>
              </a:rPr>
              <a:t>exclusivamente às variáveis e não ao modelo ou ao pipeline.</a:t>
            </a:r>
            <a:endParaRPr lang="pt-BR" sz="1900" dirty="0">
              <a:latin typeface="Arial Narrow" panose="020B0606020202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2D490E1-16B2-4F1A-8C42-B72FD73C7F93}"/>
              </a:ext>
            </a:extLst>
          </p:cNvPr>
          <p:cNvSpPr/>
          <p:nvPr/>
        </p:nvSpPr>
        <p:spPr>
          <a:xfrm>
            <a:off x="405114" y="3159889"/>
            <a:ext cx="11558589" cy="74077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5584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215840" y="964849"/>
            <a:ext cx="68632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Comparação Incremental Controlada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1EA297F-740A-4B79-BA93-C2B15A2985E4}"/>
              </a:ext>
            </a:extLst>
          </p:cNvPr>
          <p:cNvSpPr txBox="1"/>
          <p:nvPr/>
        </p:nvSpPr>
        <p:spPr>
          <a:xfrm>
            <a:off x="215840" y="1539394"/>
            <a:ext cx="113648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O processo consistiu em uma comparação incremental controlada com o objetivo de avaliar o ganho incremental das variáveis criadas via </a:t>
            </a:r>
            <a:r>
              <a:rPr lang="pt-BR" dirty="0" err="1">
                <a:latin typeface="Arial Narrow" panose="020B0606020202030204" pitchFamily="34" charset="0"/>
              </a:rPr>
              <a:t>feature</a:t>
            </a:r>
            <a:r>
              <a:rPr lang="pt-BR" dirty="0">
                <a:latin typeface="Arial Narrow" panose="020B0606020202030204" pitchFamily="34" charset="0"/>
              </a:rPr>
              <a:t> </a:t>
            </a:r>
            <a:r>
              <a:rPr lang="pt-BR" dirty="0" err="1">
                <a:latin typeface="Arial Narrow" panose="020B0606020202030204" pitchFamily="34" charset="0"/>
              </a:rPr>
              <a:t>engineering</a:t>
            </a:r>
            <a:r>
              <a:rPr lang="pt-BR" dirty="0">
                <a:latin typeface="Arial Narrow" panose="020B0606020202030204" pitchFamily="34" charset="0"/>
              </a:rPr>
              <a:t> sobre o modelo base (AUC-ROC).</a:t>
            </a:r>
          </a:p>
          <a:p>
            <a:pPr algn="just"/>
            <a:r>
              <a:rPr lang="pt-BR" dirty="0">
                <a:latin typeface="Arial Narrow" panose="020B0606020202030204" pitchFamily="34" charset="0"/>
              </a:rPr>
              <a:t>E a ideia é medir performance e captar o efeito marginal isolado de cada variável no poder preditivo do modelo.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1BF4D0B-5DE7-4762-B55C-FB96CAEC619C}"/>
              </a:ext>
            </a:extLst>
          </p:cNvPr>
          <p:cNvSpPr txBox="1"/>
          <p:nvPr/>
        </p:nvSpPr>
        <p:spPr>
          <a:xfrm>
            <a:off x="179293" y="2576533"/>
            <a:ext cx="865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Repetição do experimento em múltiplas amostras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F73F4B1-67CE-4D2D-ADE8-048D3467E618}"/>
              </a:ext>
            </a:extLst>
          </p:cNvPr>
          <p:cNvSpPr txBox="1"/>
          <p:nvPr/>
        </p:nvSpPr>
        <p:spPr>
          <a:xfrm>
            <a:off x="196531" y="3070233"/>
            <a:ext cx="114035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avaliação foi realizada utilizando Validação Cruzada Estratificada (10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).</a:t>
            </a:r>
          </a:p>
          <a:p>
            <a:pPr algn="just"/>
            <a:r>
              <a:rPr lang="pt-BR" dirty="0">
                <a:latin typeface="Arial Narrow" panose="020B0606020202030204" pitchFamily="34" charset="0"/>
              </a:rPr>
              <a:t>Em cada repetição, uma nova divisão treino/validação (</a:t>
            </a:r>
            <a:r>
              <a:rPr lang="pt-BR" sz="1800" dirty="0">
                <a:latin typeface="Arial Narrow" panose="020B0606020202030204" pitchFamily="34" charset="0"/>
              </a:rPr>
              <a:t>particionamentos da base</a:t>
            </a:r>
            <a:r>
              <a:rPr lang="pt-BR" dirty="0">
                <a:latin typeface="Arial Narrow" panose="020B0606020202030204" pitchFamily="34" charset="0"/>
              </a:rPr>
              <a:t>) era gerada preservando a </a:t>
            </a:r>
            <a:r>
              <a:rPr lang="pt-BR" sz="1800" dirty="0">
                <a:latin typeface="Arial Narrow" panose="020B0606020202030204" pitchFamily="34" charset="0"/>
              </a:rPr>
              <a:t>proporção entre as classes em todos os </a:t>
            </a:r>
            <a:r>
              <a:rPr lang="pt-BR" sz="1800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, reduzindo a influência de uma única amostra sobre os resultados.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5DD55F4-7118-4C70-B323-39851C74DAC4}"/>
              </a:ext>
            </a:extLst>
          </p:cNvPr>
          <p:cNvSpPr txBox="1"/>
          <p:nvPr/>
        </p:nvSpPr>
        <p:spPr>
          <a:xfrm>
            <a:off x="179293" y="4125733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Estimativa da contribuição da variável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B6488E4-D2FD-4AB0-8D32-5DBA4A1D5023}"/>
              </a:ext>
            </a:extLst>
          </p:cNvPr>
          <p:cNvSpPr txBox="1"/>
          <p:nvPr/>
        </p:nvSpPr>
        <p:spPr>
          <a:xfrm>
            <a:off x="215840" y="4557878"/>
            <a:ext cx="11550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repetição do experimento produziu, para cada variável, 10 estimativas independentes de desempenho.</a:t>
            </a:r>
          </a:p>
          <a:p>
            <a:pPr algn="just"/>
            <a:r>
              <a:rPr lang="pt-BR" dirty="0">
                <a:latin typeface="Arial Narrow" panose="020B0606020202030204" pitchFamily="34" charset="0"/>
              </a:rPr>
              <a:t>Essas estimativas permitiram calcular o ganho médio proporcionado pela variável e avaliar a consistência desse ganho entre diferentes amostras.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4EBBD-C2E2-4E0A-9B74-FF7DAD33EAFC}"/>
              </a:ext>
            </a:extLst>
          </p:cNvPr>
          <p:cNvSpPr txBox="1"/>
          <p:nvPr/>
        </p:nvSpPr>
        <p:spPr>
          <a:xfrm>
            <a:off x="179293" y="5522303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Inferência estatística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9896D9E-4DB4-4D20-9389-D85855D0DCE8}"/>
              </a:ext>
            </a:extLst>
          </p:cNvPr>
          <p:cNvSpPr txBox="1"/>
          <p:nvPr/>
        </p:nvSpPr>
        <p:spPr>
          <a:xfrm>
            <a:off x="215840" y="6014230"/>
            <a:ext cx="6099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Com base na distribuição dos resultados foram calculadas métricas para avaliar três dimensões da contribuição da variável: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24E2157-A952-4D22-89CF-C7171615E4CD}"/>
              </a:ext>
            </a:extLst>
          </p:cNvPr>
          <p:cNvSpPr txBox="1"/>
          <p:nvPr/>
        </p:nvSpPr>
        <p:spPr>
          <a:xfrm>
            <a:off x="6797711" y="5783913"/>
            <a:ext cx="49687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Arial Narrow" panose="020B0606020202030204" pitchFamily="34" charset="0"/>
              </a:rPr>
              <a:t>Performance: </a:t>
            </a:r>
            <a:r>
              <a:rPr lang="pt-BR" dirty="0">
                <a:latin typeface="Arial Narrow" panose="020B0606020202030204" pitchFamily="34" charset="0"/>
              </a:rPr>
              <a:t>ΔAUC e ΔKS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Arial Narrow" panose="020B0606020202030204" pitchFamily="34" charset="0"/>
              </a:rPr>
              <a:t>Estabilidade: </a:t>
            </a:r>
            <a:r>
              <a:rPr lang="pt-BR" dirty="0">
                <a:latin typeface="Arial Narrow" panose="020B0606020202030204" pitchFamily="34" charset="0"/>
              </a:rPr>
              <a:t>desvio padrão do ΔAUC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Arial Narrow" panose="020B0606020202030204" pitchFamily="34" charset="0"/>
              </a:rPr>
              <a:t>Significância estatística: </a:t>
            </a:r>
            <a:r>
              <a:rPr lang="pt-BR" dirty="0">
                <a:latin typeface="Arial Narrow" panose="020B0606020202030204" pitchFamily="34" charset="0"/>
              </a:rPr>
              <a:t>teste t pareado (p-valor)</a:t>
            </a:r>
          </a:p>
        </p:txBody>
      </p:sp>
    </p:spTree>
    <p:extLst>
      <p:ext uri="{BB962C8B-B14F-4D97-AF65-F5344CB8AC3E}">
        <p14:creationId xmlns:p14="http://schemas.microsoft.com/office/powerpoint/2010/main" val="16871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190721" y="914199"/>
            <a:ext cx="8782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Métricas de avaliação da contribuição das </a:t>
            </a:r>
            <a:r>
              <a:rPr lang="pt-BR" sz="28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features</a:t>
            </a:r>
            <a:endParaRPr lang="pt-BR" sz="2800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439036-C201-4F3E-8505-45FD01574EBD}"/>
              </a:ext>
            </a:extLst>
          </p:cNvPr>
          <p:cNvSpPr txBox="1"/>
          <p:nvPr/>
        </p:nvSpPr>
        <p:spPr>
          <a:xfrm>
            <a:off x="190721" y="1461718"/>
            <a:ext cx="11847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partir dos resultados obtidos pela análise de Validação Cruzada Estratificada (10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), foram calculadas métricas para quantificar diferentes aspectos da contribuição das variáveis.</a:t>
            </a:r>
          </a:p>
          <a:p>
            <a:pPr algn="just"/>
            <a:r>
              <a:rPr lang="pt-BR" dirty="0">
                <a:latin typeface="Arial Narrow" panose="020B0606020202030204" pitchFamily="34" charset="0"/>
              </a:rPr>
              <a:t>Em conjunto, essas métricas permitem verificar o quanto uma </a:t>
            </a:r>
            <a:r>
              <a:rPr lang="pt-BR" dirty="0" err="1">
                <a:latin typeface="Arial Narrow" panose="020B0606020202030204" pitchFamily="34" charset="0"/>
              </a:rPr>
              <a:t>feature</a:t>
            </a:r>
            <a:r>
              <a:rPr lang="pt-BR" dirty="0">
                <a:latin typeface="Arial Narrow" panose="020B0606020202030204" pitchFamily="34" charset="0"/>
              </a:rPr>
              <a:t> melhora o modelo, o quão consistente é esse ganho e qual a evidência estatística de sua contribuição.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604B500-A3BB-4543-97BB-F57D53CF01E3}"/>
              </a:ext>
            </a:extLst>
          </p:cNvPr>
          <p:cNvSpPr txBox="1"/>
          <p:nvPr/>
        </p:nvSpPr>
        <p:spPr>
          <a:xfrm>
            <a:off x="221743" y="2782669"/>
            <a:ext cx="11847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As métricas abaixo serviram de base para quantificar o ganho incremental das variáveis e fundamentar sua classificação no processo de seleção de </a:t>
            </a:r>
            <a:r>
              <a:rPr lang="pt-BR" dirty="0" err="1">
                <a:latin typeface="Arial Narrow" panose="020B0606020202030204" pitchFamily="34" charset="0"/>
              </a:rPr>
              <a:t>features</a:t>
            </a:r>
            <a:r>
              <a:rPr lang="pt-BR" dirty="0">
                <a:latin typeface="Arial Narrow" panose="020B0606020202030204" pitchFamily="34" charset="0"/>
              </a:rPr>
              <a:t>:</a:t>
            </a: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DA95042E-2BCB-43B8-8CB0-1E03C19DF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10682"/>
              </p:ext>
            </p:extLst>
          </p:nvPr>
        </p:nvGraphicFramePr>
        <p:xfrm>
          <a:off x="243447" y="3772379"/>
          <a:ext cx="11742057" cy="2239412"/>
        </p:xfrm>
        <a:graphic>
          <a:graphicData uri="http://schemas.openxmlformats.org/drawingml/2006/table">
            <a:tbl>
              <a:tblPr/>
              <a:tblGrid>
                <a:gridCol w="1914688">
                  <a:extLst>
                    <a:ext uri="{9D8B030D-6E8A-4147-A177-3AD203B41FA5}">
                      <a16:colId xmlns:a16="http://schemas.microsoft.com/office/drawing/2014/main" val="3477582486"/>
                    </a:ext>
                  </a:extLst>
                </a:gridCol>
                <a:gridCol w="2974312">
                  <a:extLst>
                    <a:ext uri="{9D8B030D-6E8A-4147-A177-3AD203B41FA5}">
                      <a16:colId xmlns:a16="http://schemas.microsoft.com/office/drawing/2014/main" val="591972121"/>
                    </a:ext>
                  </a:extLst>
                </a:gridCol>
                <a:gridCol w="6853057">
                  <a:extLst>
                    <a:ext uri="{9D8B030D-6E8A-4147-A177-3AD203B41FA5}">
                      <a16:colId xmlns:a16="http://schemas.microsoft.com/office/drawing/2014/main" val="41481860"/>
                    </a:ext>
                  </a:extLst>
                </a:gridCol>
              </a:tblGrid>
              <a:tr h="40042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Dimensão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Métrica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Objetivo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02431"/>
                  </a:ext>
                </a:extLst>
              </a:tr>
              <a:tr h="63888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Performance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6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Quantificar o ganho incremental de poder preditivo e de discriminação ao adicionar a variável 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91096"/>
                  </a:ext>
                </a:extLst>
              </a:tr>
              <a:tr h="40180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Medir a capacidade e o ganho na separação entre bons e maus clientes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609994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Estabilidade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Std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l-G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AUC)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Avaliar a consistência do ganho entre diferentes amostras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093230"/>
                  </a:ext>
                </a:extLst>
              </a:tr>
              <a:tr h="40945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Significância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p-valor (t-</a:t>
                      </a:r>
                      <a:r>
                        <a:rPr lang="pt-BR" sz="16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test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pareado)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Verificar se o ganho observado é estatisticamente significativo e não aleatório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7335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76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190721" y="914199"/>
            <a:ext cx="8782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Desvio Padrão dos ΔAUC obtidos nos 10 </a:t>
            </a:r>
            <a:r>
              <a:rPr lang="pt-BR" sz="28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folds</a:t>
            </a:r>
            <a:endParaRPr lang="pt-BR" sz="2800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439036-C201-4F3E-8505-45FD01574EBD}"/>
              </a:ext>
            </a:extLst>
          </p:cNvPr>
          <p:cNvSpPr txBox="1"/>
          <p:nvPr/>
        </p:nvSpPr>
        <p:spPr>
          <a:xfrm>
            <a:off x="190721" y="1461718"/>
            <a:ext cx="11847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O desvio padrão foi calculado sobre os valores de ΔAUC obtidos em cada um dos 10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da validação cruzada.</a:t>
            </a:r>
          </a:p>
          <a:p>
            <a:pPr algn="just"/>
            <a:r>
              <a:rPr lang="pt-BR" dirty="0">
                <a:latin typeface="Arial Narrow" panose="020B0606020202030204" pitchFamily="34" charset="0"/>
              </a:rPr>
              <a:t>Valores menores indicam maior consistência da contribuição da variável entre diferentes particionamentos da amostra.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8855907-F6BE-49FB-BD78-B5DFBC28D14B}"/>
              </a:ext>
            </a:extLst>
          </p:cNvPr>
          <p:cNvSpPr txBox="1"/>
          <p:nvPr/>
        </p:nvSpPr>
        <p:spPr>
          <a:xfrm>
            <a:off x="226877" y="2142863"/>
            <a:ext cx="117366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 objetivo foi de avaliar a estabilidade da contribuição da variável entre os diferentes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da validação cruzada e quantificar a variabilidade da contribuição da variável entre diferentes particionamentos da amostra.</a:t>
            </a:r>
          </a:p>
          <a:p>
            <a:endParaRPr lang="pt-BR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EED2A4D-AD84-40E6-89BA-9C7C05E5A33F}"/>
                  </a:ext>
                </a:extLst>
              </p:cNvPr>
              <p:cNvSpPr txBox="1"/>
              <p:nvPr/>
            </p:nvSpPr>
            <p:spPr>
              <a:xfrm>
                <a:off x="3446552" y="3305572"/>
                <a:ext cx="6261565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i="1" dirty="0">
                    <a:latin typeface="Cambria Math" panose="02040503050406030204" pitchFamily="18" charset="0"/>
                  </a:rPr>
                  <a:t>Std(</a:t>
                </a:r>
                <a:r>
                  <a:rPr lang="el-GR" i="1" dirty="0">
                    <a:latin typeface="Cambria Math" panose="02040503050406030204" pitchFamily="18" charset="0"/>
                  </a:rPr>
                  <a:t>Δ</a:t>
                </a:r>
                <a:r>
                  <a:rPr lang="pt-BR" i="1" dirty="0">
                    <a:latin typeface="Cambria Math" panose="02040503050406030204" pitchFamily="18" charset="0"/>
                  </a:rPr>
                  <a:t>AUC)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m:rPr>
                                    <m:nor/>
                                  </m:rPr>
                                  <a:rPr lang="pt-BR" i="1" dirty="0">
                                    <a:latin typeface="Cambria Math" panose="02040503050406030204" pitchFamily="18" charset="0"/>
                                  </a:rPr>
                                  <m:t>AUC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acc>
                              <m:accPr>
                                <m:chr m:val="̿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m:rPr>
                                    <m:nor/>
                                  </m:rPr>
                                  <a:rPr lang="pt-BR" i="1" dirty="0">
                                    <a:latin typeface="Cambria Math" panose="02040503050406030204" pitchFamily="18" charset="0"/>
                                  </a:rPr>
                                  <m:t>AUC</m:t>
                                </m:r>
                              </m:e>
                            </m:acc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)²</m:t>
                            </m:r>
                          </m:e>
                        </m:nary>
                      </m:e>
                    </m:rad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EED2A4D-AD84-40E6-89BA-9C7C05E5A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552" y="3305572"/>
                <a:ext cx="6261565" cy="656013"/>
              </a:xfrm>
              <a:prstGeom prst="rect">
                <a:avLst/>
              </a:prstGeom>
              <a:blipFill>
                <a:blip r:embed="rId3"/>
                <a:stretch>
                  <a:fillRect l="-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ixaDeTexto 21">
            <a:extLst>
              <a:ext uri="{FF2B5EF4-FFF2-40B4-BE49-F238E27FC236}">
                <a16:creationId xmlns:a16="http://schemas.microsoft.com/office/drawing/2014/main" id="{B97E3DF8-CFE5-4CA8-9E89-60DD9725D31D}"/>
              </a:ext>
            </a:extLst>
          </p:cNvPr>
          <p:cNvSpPr txBox="1"/>
          <p:nvPr/>
        </p:nvSpPr>
        <p:spPr>
          <a:xfrm>
            <a:off x="190721" y="5118735"/>
            <a:ext cx="11851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Menor </a:t>
            </a:r>
            <a:r>
              <a:rPr lang="pt-BR" i="1" dirty="0" err="1">
                <a:latin typeface="Cambria Math" panose="02040503050406030204" pitchFamily="18" charset="0"/>
              </a:rPr>
              <a:t>Std</a:t>
            </a:r>
            <a:r>
              <a:rPr lang="pt-BR" i="1" dirty="0">
                <a:latin typeface="Cambria Math" panose="02040503050406030204" pitchFamily="18" charset="0"/>
              </a:rPr>
              <a:t>(</a:t>
            </a:r>
            <a:r>
              <a:rPr lang="el-GR" i="1" dirty="0">
                <a:latin typeface="Cambria Math" panose="02040503050406030204" pitchFamily="18" charset="0"/>
              </a:rPr>
              <a:t>Δ</a:t>
            </a:r>
            <a:r>
              <a:rPr lang="pt-BR" i="1" dirty="0">
                <a:latin typeface="Cambria Math" panose="02040503050406030204" pitchFamily="18" charset="0"/>
              </a:rPr>
              <a:t>AUC): </a:t>
            </a:r>
            <a:r>
              <a:rPr lang="pt-BR" dirty="0">
                <a:latin typeface="Arial Narrow" panose="020B0606020202030204" pitchFamily="34" charset="0"/>
              </a:rPr>
              <a:t>maior consistência da contribuição da variável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. 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4BF5C5E-9B3B-45AF-9E13-DB12303FA667}"/>
              </a:ext>
            </a:extLst>
          </p:cNvPr>
          <p:cNvSpPr txBox="1"/>
          <p:nvPr/>
        </p:nvSpPr>
        <p:spPr>
          <a:xfrm>
            <a:off x="111222" y="4470279"/>
            <a:ext cx="6466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C590E27-F1B8-4997-A44B-A7DB38F22E7C}"/>
              </a:ext>
            </a:extLst>
          </p:cNvPr>
          <p:cNvSpPr txBox="1"/>
          <p:nvPr/>
        </p:nvSpPr>
        <p:spPr>
          <a:xfrm>
            <a:off x="190721" y="5548379"/>
            <a:ext cx="10896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Maior </a:t>
            </a:r>
            <a:r>
              <a:rPr lang="pt-BR" i="1" dirty="0" err="1">
                <a:latin typeface="Cambria Math" panose="02040503050406030204" pitchFamily="18" charset="0"/>
              </a:rPr>
              <a:t>Std</a:t>
            </a:r>
            <a:r>
              <a:rPr lang="pt-BR" i="1" dirty="0">
                <a:latin typeface="Cambria Math" panose="02040503050406030204" pitchFamily="18" charset="0"/>
              </a:rPr>
              <a:t>(</a:t>
            </a:r>
            <a:r>
              <a:rPr lang="el-GR" i="1" dirty="0">
                <a:latin typeface="Cambria Math" panose="02040503050406030204" pitchFamily="18" charset="0"/>
              </a:rPr>
              <a:t>Δ</a:t>
            </a:r>
            <a:r>
              <a:rPr lang="pt-BR" i="1" dirty="0">
                <a:latin typeface="Cambria Math" panose="02040503050406030204" pitchFamily="18" charset="0"/>
              </a:rPr>
              <a:t>AUC): </a:t>
            </a:r>
            <a:r>
              <a:rPr lang="pt-BR" dirty="0">
                <a:latin typeface="Arial Narrow" panose="020B0606020202030204" pitchFamily="34" charset="0"/>
              </a:rPr>
              <a:t>maior variabilidade da contribuição e maior dependência da amostra utilizada.</a:t>
            </a:r>
          </a:p>
        </p:txBody>
      </p:sp>
    </p:spTree>
    <p:extLst>
      <p:ext uri="{BB962C8B-B14F-4D97-AF65-F5344CB8AC3E}">
        <p14:creationId xmlns:p14="http://schemas.microsoft.com/office/powerpoint/2010/main" val="178662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190721" y="914199"/>
            <a:ext cx="8782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Verificação da Significância Estatística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439036-C201-4F3E-8505-45FD01574EBD}"/>
              </a:ext>
            </a:extLst>
          </p:cNvPr>
          <p:cNvSpPr txBox="1"/>
          <p:nvPr/>
        </p:nvSpPr>
        <p:spPr>
          <a:xfrm>
            <a:off x="190721" y="1461718"/>
            <a:ext cx="1184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ganho médio de desempenho observado após a inclusão de uma </a:t>
            </a:r>
            <a:r>
              <a:rPr lang="pt-BR" dirty="0" err="1">
                <a:latin typeface="Arial Narrow" panose="020B0606020202030204" pitchFamily="34" charset="0"/>
              </a:rPr>
              <a:t>feature</a:t>
            </a:r>
            <a:r>
              <a:rPr lang="pt-BR" dirty="0">
                <a:latin typeface="Arial Narrow" panose="020B0606020202030204" pitchFamily="34" charset="0"/>
              </a:rPr>
              <a:t> não é, por si só, evidência suficiente de contribuição preditiva.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É necessário verificar se esse ganho se mantém de forma consistente nas diferentes partições da amostra, reduzindo a influência da variabilidade introduzida pelo processo de validação cruzada.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Por esse motivo foi aplicado um </a:t>
            </a:r>
            <a:r>
              <a:rPr lang="pt-BR" b="1" i="1" dirty="0">
                <a:latin typeface="Arial Narrow" panose="020B0606020202030204" pitchFamily="34" charset="0"/>
              </a:rPr>
              <a:t>teste t pareado </a:t>
            </a:r>
            <a:r>
              <a:rPr lang="pt-BR" dirty="0">
                <a:latin typeface="Arial Narrow" panose="020B0606020202030204" pitchFamily="34" charset="0"/>
              </a:rPr>
              <a:t>sobre os valores de </a:t>
            </a:r>
            <a:r>
              <a:rPr lang="pt-BR" b="1" i="1" dirty="0">
                <a:latin typeface="Arial Narrow" panose="020B0606020202030204" pitchFamily="34" charset="0"/>
              </a:rPr>
              <a:t>ΔAUC </a:t>
            </a:r>
            <a:r>
              <a:rPr lang="pt-BR" dirty="0">
                <a:latin typeface="Arial Narrow" panose="020B0606020202030204" pitchFamily="34" charset="0"/>
              </a:rPr>
              <a:t>obtidos em cada um dos 10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, avaliando se o ganho médio observado é estatisticamente diferente de zero.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E556FFA-92F0-4F0B-B0FA-E04A3376E8D8}"/>
              </a:ext>
            </a:extLst>
          </p:cNvPr>
          <p:cNvSpPr txBox="1"/>
          <p:nvPr/>
        </p:nvSpPr>
        <p:spPr>
          <a:xfrm>
            <a:off x="371592" y="3341675"/>
            <a:ext cx="108572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O teste compara a média dos ganhos observados com a hipótese de ausência de ganho (ΔAUC =0) considerando também a variabilidade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: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20E1DB05-58FA-4C66-95A7-C5B6359150EF}"/>
              </a:ext>
            </a:extLst>
          </p:cNvPr>
          <p:cNvGrpSpPr/>
          <p:nvPr/>
        </p:nvGrpSpPr>
        <p:grpSpPr>
          <a:xfrm>
            <a:off x="2456822" y="4074996"/>
            <a:ext cx="6099348" cy="811769"/>
            <a:chOff x="2436725" y="4510182"/>
            <a:chExt cx="6099348" cy="81176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3B47AF99-5BD8-4307-813B-E7CDB42697D1}"/>
                </a:ext>
              </a:extLst>
            </p:cNvPr>
            <p:cNvSpPr txBox="1"/>
            <p:nvPr/>
          </p:nvSpPr>
          <p:spPr>
            <a:xfrm>
              <a:off x="2436725" y="4611807"/>
              <a:ext cx="609934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600" dirty="0">
                  <a:latin typeface="Arial Narrow" panose="020B0606020202030204" pitchFamily="34" charset="0"/>
                </a:rPr>
                <a:t>H₀: ΔAUC = 0 (a variável não adiciona ganho preditivo)</a:t>
              </a:r>
            </a:p>
            <a:p>
              <a:pPr algn="ctr"/>
              <a:r>
                <a:rPr lang="pt-BR" sz="1600" dirty="0">
                  <a:latin typeface="Arial Narrow" panose="020B0606020202030204" pitchFamily="34" charset="0"/>
                </a:rPr>
                <a:t>H₁: ΔAUC ≠ 0 (a variável adiciona ganho preditivo)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7DC69E2-56A5-45BE-95BF-04DEAD1306F9}"/>
                </a:ext>
              </a:extLst>
            </p:cNvPr>
            <p:cNvSpPr/>
            <p:nvPr/>
          </p:nvSpPr>
          <p:spPr>
            <a:xfrm>
              <a:off x="3114989" y="4510182"/>
              <a:ext cx="4662436" cy="81176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3BB35D6-C4E9-4689-BFEA-5849F8DCA477}"/>
              </a:ext>
            </a:extLst>
          </p:cNvPr>
          <p:cNvSpPr txBox="1"/>
          <p:nvPr/>
        </p:nvSpPr>
        <p:spPr>
          <a:xfrm>
            <a:off x="190721" y="6024315"/>
            <a:ext cx="11636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Quanto menor o p-valor, maior a evidência de que o ganho observado representa uma contribuição consistente da variável e não apenas uma flutuação amostral.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CC277A4-BE54-4F47-B56A-E11854F7ED2D}"/>
              </a:ext>
            </a:extLst>
          </p:cNvPr>
          <p:cNvSpPr txBox="1"/>
          <p:nvPr/>
        </p:nvSpPr>
        <p:spPr>
          <a:xfrm>
            <a:off x="190721" y="4988390"/>
            <a:ext cx="116361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O p-valor corresponde ao resultado do teste de hipótese e quantifica a evidência estatística contra a hipótese nula (H₀).</a:t>
            </a:r>
          </a:p>
          <a:p>
            <a:pPr algn="just"/>
            <a:r>
              <a:rPr lang="pt-BR" dirty="0">
                <a:latin typeface="Arial Narrow" panose="020B0606020202030204" pitchFamily="34" charset="0"/>
              </a:rPr>
              <a:t>Valores inferiores ao nível de significância adotado (α=0,05) indicam evidências de que o ganho observado não é compatível com variações amostrais aleatórias, sugerindo uma contribuição incremental da variável para o modelo.</a:t>
            </a:r>
          </a:p>
        </p:txBody>
      </p:sp>
    </p:spTree>
    <p:extLst>
      <p:ext uri="{BB962C8B-B14F-4D97-AF65-F5344CB8AC3E}">
        <p14:creationId xmlns:p14="http://schemas.microsoft.com/office/powerpoint/2010/main" val="848304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442ABEF-0115-418E-A27E-E4E7446AF349}"/>
              </a:ext>
            </a:extLst>
          </p:cNvPr>
          <p:cNvSpPr txBox="1"/>
          <p:nvPr/>
        </p:nvSpPr>
        <p:spPr>
          <a:xfrm>
            <a:off x="200770" y="1015971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Incremental das Variáveis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D23E3C-0460-4F22-9131-FEBC262BFFCA}"/>
              </a:ext>
            </a:extLst>
          </p:cNvPr>
          <p:cNvSpPr txBox="1"/>
          <p:nvPr/>
        </p:nvSpPr>
        <p:spPr>
          <a:xfrm>
            <a:off x="200770" y="1543301"/>
            <a:ext cx="11575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aplicação da metodologia descrita anteriormente resultou em um conjunto de métricas para cada variável candidata, permitindo quantificar seu impacto incremental sobre o modelo baseline e fundamentar sua classificação segundo critérios de desempenho, estabilidade e significância estatística.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5AFBA99-38EC-455C-BED2-E3D65A3F3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799921"/>
              </p:ext>
            </p:extLst>
          </p:nvPr>
        </p:nvGraphicFramePr>
        <p:xfrm>
          <a:off x="301253" y="2685144"/>
          <a:ext cx="11656285" cy="3746658"/>
        </p:xfrm>
        <a:graphic>
          <a:graphicData uri="http://schemas.openxmlformats.org/drawingml/2006/table">
            <a:tbl>
              <a:tblPr/>
              <a:tblGrid>
                <a:gridCol w="1367718">
                  <a:extLst>
                    <a:ext uri="{9D8B030D-6E8A-4147-A177-3AD203B41FA5}">
                      <a16:colId xmlns:a16="http://schemas.microsoft.com/office/drawing/2014/main" val="1969697117"/>
                    </a:ext>
                  </a:extLst>
                </a:gridCol>
                <a:gridCol w="10288567">
                  <a:extLst>
                    <a:ext uri="{9D8B030D-6E8A-4147-A177-3AD203B41FA5}">
                      <a16:colId xmlns:a16="http://schemas.microsoft.com/office/drawing/2014/main" val="3846292922"/>
                    </a:ext>
                  </a:extLst>
                </a:gridCol>
              </a:tblGrid>
              <a:tr h="34945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Coluna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Descrição metodológica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5337"/>
                  </a:ext>
                </a:extLst>
              </a:tr>
              <a:tr h="5829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Variável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Feature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candidata avaliada individualmente quanto à sua contribuição incremental ao modelo baseline.</a:t>
                      </a:r>
                    </a:p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Em cada experimento, apenas essa variável foi adicionada ao conjunto de variáveis baseline.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934244"/>
                  </a:ext>
                </a:extLst>
              </a:tr>
              <a:tr h="54285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 Base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Média da AUC-ROC obtida pelo modelo composto exclusivamente pelas variáveis baseline, calculada a partir dos 10 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folds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da validação cruzada estratificada (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np.mean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auc_base_list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)).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558926"/>
                  </a:ext>
                </a:extLst>
              </a:tr>
              <a:tr h="54301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 + Var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Média da AUC-ROC obtida pelo modelo composto pelas variáveis baseline acrescidas da 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feature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candidata, também calculada sobre os 10 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folds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np.mean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auc_full_list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)).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211023"/>
                  </a:ext>
                </a:extLst>
              </a:tr>
              <a:tr h="541962"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6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Δ</a:t>
                      </a: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Ganho incremental médio de discriminação proporcionado pela inclusão da variável, calculado em cada 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fold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como </a:t>
                      </a:r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 + Var − AUC Base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e posteriormente agregado pela média (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np.mean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delta_auc_list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)).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384248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Std(</a:t>
                      </a:r>
                      <a:r>
                        <a:rPr lang="el-GR" sz="16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Δ</a:t>
                      </a: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AUC)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Desvio-padrão dos ganhos de ΔAUC observados entre os 10 folds (np.std(delta_auc_list)), utilizado para avaliar a estabilidade da contribuição da variável em diferentes particionamentos da amostra.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077106"/>
                  </a:ext>
                </a:extLst>
              </a:tr>
              <a:tr h="66395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p-valor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Resultado do teste </a:t>
                      </a:r>
                      <a:r>
                        <a:rPr lang="pt-BR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pareado aplicado aos pares de AUC obtidos pelo modelo baseline e pelo modelo com a variável em cada 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fold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ttest_rel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auc_full_list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auc_base_list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)), utilizado para verificar se o ganho médio de ΔAUC difere estatisticamente de zero.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2697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85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442ABEF-0115-418E-A27E-E4E7446AF349}"/>
              </a:ext>
            </a:extLst>
          </p:cNvPr>
          <p:cNvSpPr txBox="1"/>
          <p:nvPr/>
        </p:nvSpPr>
        <p:spPr>
          <a:xfrm>
            <a:off x="200770" y="1015971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Incremental das Variáveis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D23E3C-0460-4F22-9131-FEBC262BFFCA}"/>
              </a:ext>
            </a:extLst>
          </p:cNvPr>
          <p:cNvSpPr txBox="1"/>
          <p:nvPr/>
        </p:nvSpPr>
        <p:spPr>
          <a:xfrm>
            <a:off x="200770" y="1543301"/>
            <a:ext cx="11575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aplicação da metodologia descrita anteriormente resultou em um conjunto de métricas para cada variável candidata, permitindo quantificar seu impacto incremental sobre o modelo baseline e fundamentar sua classificação segundo critérios de desempenho, estabilidade e significância estatística.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F05ABE4-AF7A-47AF-95C0-2749A2E10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223805"/>
              </p:ext>
            </p:extLst>
          </p:nvPr>
        </p:nvGraphicFramePr>
        <p:xfrm>
          <a:off x="267071" y="3218903"/>
          <a:ext cx="11656285" cy="2344934"/>
        </p:xfrm>
        <a:graphic>
          <a:graphicData uri="http://schemas.openxmlformats.org/drawingml/2006/table">
            <a:tbl>
              <a:tblPr/>
              <a:tblGrid>
                <a:gridCol w="1367718">
                  <a:extLst>
                    <a:ext uri="{9D8B030D-6E8A-4147-A177-3AD203B41FA5}">
                      <a16:colId xmlns:a16="http://schemas.microsoft.com/office/drawing/2014/main" val="1969697117"/>
                    </a:ext>
                  </a:extLst>
                </a:gridCol>
                <a:gridCol w="10288567">
                  <a:extLst>
                    <a:ext uri="{9D8B030D-6E8A-4147-A177-3AD203B41FA5}">
                      <a16:colId xmlns:a16="http://schemas.microsoft.com/office/drawing/2014/main" val="3846292922"/>
                    </a:ext>
                  </a:extLst>
                </a:gridCol>
              </a:tblGrid>
              <a:tr h="34945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Coluna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Descrição metodológica</a:t>
                      </a:r>
                    </a:p>
                  </a:txBody>
                  <a:tcPr marL="4537" marR="4537" marT="45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5337"/>
                  </a:ext>
                </a:extLst>
              </a:tr>
              <a:tr h="58290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Base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Média da estatística KS obtida pelo modelo baseline nos 10 </a:t>
                      </a:r>
                      <a:r>
                        <a:rPr lang="pt-BR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folds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da validação cruzada (</a:t>
                      </a:r>
                      <a:r>
                        <a:rPr lang="pt-BR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np.mean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ks_base_list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)).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934244"/>
                  </a:ext>
                </a:extLst>
              </a:tr>
              <a:tr h="4219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+ Var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Média da estatística KS obtida após a inclusão da variável candidata (</a:t>
                      </a:r>
                      <a:r>
                        <a:rPr lang="pt-BR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np.mean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ks_full_list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)).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25851"/>
                  </a:ext>
                </a:extLst>
              </a:tr>
              <a:tr h="4219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Ganho incremental médio na capacidade de separação entre as classes, calculado em cada </a:t>
                      </a:r>
                      <a:r>
                        <a:rPr lang="pt-BR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fold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como KS + Var − KS Base e posteriormente agregado pela média (</a:t>
                      </a:r>
                      <a:r>
                        <a:rPr lang="pt-BR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np.mean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delta_ks_list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)).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27762"/>
                  </a:ext>
                </a:extLst>
              </a:tr>
              <a:tr h="4219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Classificação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Categoria atribuída automaticamente à variável a partir das regras implementadas na função classificar(), combinando direção do ganho (ΔAUC) e evidência estatística (p-valor).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594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08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190721" y="914199"/>
            <a:ext cx="8782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Critérios de Inclusão das Variáveis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439036-C201-4F3E-8505-45FD01574EBD}"/>
              </a:ext>
            </a:extLst>
          </p:cNvPr>
          <p:cNvSpPr txBox="1"/>
          <p:nvPr/>
        </p:nvSpPr>
        <p:spPr>
          <a:xfrm>
            <a:off x="171459" y="1473899"/>
            <a:ext cx="11847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Os resultados obtidos na avaliação incremental foram utilizados para classificar as variáveis segundo sua contribuição para o modelo.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2F0EDA6-CE77-4920-AC7E-43F5202EE388}"/>
              </a:ext>
            </a:extLst>
          </p:cNvPr>
          <p:cNvSpPr txBox="1"/>
          <p:nvPr/>
        </p:nvSpPr>
        <p:spPr>
          <a:xfrm>
            <a:off x="171459" y="2815694"/>
            <a:ext cx="101682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Arial Narrow" panose="020B0606020202030204" pitchFamily="34" charset="0"/>
              </a:rPr>
              <a:t>Ganho incremental de desempenho </a:t>
            </a:r>
            <a:r>
              <a:rPr lang="pt-BR" dirty="0">
                <a:latin typeface="Arial Narrow" panose="020B0606020202030204" pitchFamily="34" charset="0"/>
              </a:rPr>
              <a:t>(ΔAUC e ΔKS);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Arial Narrow" panose="020B0606020202030204" pitchFamily="34" charset="0"/>
              </a:rPr>
              <a:t>Estabilidade de efeitos e dos resultados entre os </a:t>
            </a:r>
            <a:r>
              <a:rPr lang="pt-BR" b="1" dirty="0" err="1">
                <a:latin typeface="Arial Narrow" panose="020B0606020202030204" pitchFamily="34" charset="0"/>
              </a:rPr>
              <a:t>folds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dirty="0">
                <a:latin typeface="Arial Narrow" panose="020B0606020202030204" pitchFamily="34" charset="0"/>
              </a:rPr>
              <a:t>(variabilidade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Arial Narrow" panose="020B0606020202030204" pitchFamily="34" charset="0"/>
              </a:rPr>
              <a:t>Significância estatística </a:t>
            </a:r>
            <a:r>
              <a:rPr lang="pt-BR" dirty="0">
                <a:latin typeface="Arial Narrow" panose="020B0606020202030204" pitchFamily="34" charset="0"/>
              </a:rPr>
              <a:t>(teste t pareado).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E48CED-2C2B-473A-9E06-62839D42EB57}"/>
              </a:ext>
            </a:extLst>
          </p:cNvPr>
          <p:cNvSpPr txBox="1"/>
          <p:nvPr/>
        </p:nvSpPr>
        <p:spPr>
          <a:xfrm>
            <a:off x="190720" y="1879711"/>
            <a:ext cx="11525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decisão de inclusão considerou a combinação entre performance preditiva, estabilidade e significância estatística, permitindo distinguir ganhos consistentes de melhorias ocasionais decorrentes da variabilidade amostral.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442ABEF-0115-418E-A27E-E4E7446AF349}"/>
              </a:ext>
            </a:extLst>
          </p:cNvPr>
          <p:cNvSpPr txBox="1"/>
          <p:nvPr/>
        </p:nvSpPr>
        <p:spPr>
          <a:xfrm>
            <a:off x="301253" y="3889941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Classificação das Variáveis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50CBFC16-559E-4722-B8FE-F1DE59B97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872162"/>
              </p:ext>
            </p:extLst>
          </p:nvPr>
        </p:nvGraphicFramePr>
        <p:xfrm>
          <a:off x="2737517" y="4564078"/>
          <a:ext cx="6432061" cy="2060857"/>
        </p:xfrm>
        <a:graphic>
          <a:graphicData uri="http://schemas.openxmlformats.org/drawingml/2006/table">
            <a:tbl>
              <a:tblPr/>
              <a:tblGrid>
                <a:gridCol w="2460263">
                  <a:extLst>
                    <a:ext uri="{9D8B030D-6E8A-4147-A177-3AD203B41FA5}">
                      <a16:colId xmlns:a16="http://schemas.microsoft.com/office/drawing/2014/main" val="3913253283"/>
                    </a:ext>
                  </a:extLst>
                </a:gridCol>
                <a:gridCol w="3971798">
                  <a:extLst>
                    <a:ext uri="{9D8B030D-6E8A-4147-A177-3AD203B41FA5}">
                      <a16:colId xmlns:a16="http://schemas.microsoft.com/office/drawing/2014/main" val="1317402971"/>
                    </a:ext>
                  </a:extLst>
                </a:gridCol>
              </a:tblGrid>
              <a:tr h="34364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Classificação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Regra utilizada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406946"/>
                  </a:ext>
                </a:extLst>
              </a:tr>
              <a:tr h="4293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&gt; 0 e p &lt; 0,05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785840"/>
                  </a:ext>
                </a:extLst>
              </a:tr>
              <a:tr h="4293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🟢 Positivas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6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&gt; 0 e p ≥ 0,05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189839"/>
                  </a:ext>
                </a:extLst>
              </a:tr>
              <a:tr h="4293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Negativas fracas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≤ 0 e p ≥ 0,05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530963"/>
                  </a:ext>
                </a:extLst>
              </a:tr>
              <a:tr h="4293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❌ Prejudiciais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≤ 0 e p &lt; 0,05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823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497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442ABEF-0115-418E-A27E-E4E7446AF349}"/>
              </a:ext>
            </a:extLst>
          </p:cNvPr>
          <p:cNvSpPr txBox="1"/>
          <p:nvPr/>
        </p:nvSpPr>
        <p:spPr>
          <a:xfrm>
            <a:off x="200770" y="1015971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Resultado da Classificação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D23E3C-0460-4F22-9131-FEBC262BFFCA}"/>
              </a:ext>
            </a:extLst>
          </p:cNvPr>
          <p:cNvSpPr txBox="1"/>
          <p:nvPr/>
        </p:nvSpPr>
        <p:spPr>
          <a:xfrm>
            <a:off x="200770" y="1543301"/>
            <a:ext cx="11575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avaliação incremental permitiu quantificar, para cada variável candidata, seu impacto sobre o desempenho do modelo baseline.</a:t>
            </a:r>
          </a:p>
          <a:p>
            <a:pPr algn="just"/>
            <a:r>
              <a:rPr lang="pt-BR" dirty="0">
                <a:latin typeface="Arial Narrow" panose="020B0606020202030204" pitchFamily="34" charset="0"/>
              </a:rPr>
              <a:t>A partir da combinação entre ganho incremental de discriminação, estabilidade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e evidência estatística, as variáveis foram classificadas segundo sua contribuição para o modelo.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6F6AE64-3923-40EF-A39D-0E05A61B67D6}"/>
              </a:ext>
            </a:extLst>
          </p:cNvPr>
          <p:cNvSpPr txBox="1"/>
          <p:nvPr/>
        </p:nvSpPr>
        <p:spPr>
          <a:xfrm>
            <a:off x="200770" y="2466631"/>
            <a:ext cx="11736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Para facilitar a interpretação dos resultados, as variáveis serão apresentadas de acordo com a classificação obtida no processo de avaliação incremental.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EEAAA94-6871-401C-94BB-8122ABFF8891}"/>
              </a:ext>
            </a:extLst>
          </p:cNvPr>
          <p:cNvSpPr txBox="1"/>
          <p:nvPr/>
        </p:nvSpPr>
        <p:spPr>
          <a:xfrm>
            <a:off x="200770" y="3112962"/>
            <a:ext cx="11344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Em cada grupo são apresentadas as métricas de desempenho, estabilidade e significância estatística que fundamentaram a decisão de classificação de cada </a:t>
            </a:r>
            <a:r>
              <a:rPr lang="pt-BR" dirty="0" err="1">
                <a:latin typeface="Arial Narrow" panose="020B0606020202030204" pitchFamily="34" charset="0"/>
              </a:rPr>
              <a:t>feature</a:t>
            </a:r>
            <a:r>
              <a:rPr lang="pt-BR" dirty="0">
                <a:latin typeface="Arial Narrow" panose="020B0606020202030204" pitchFamily="34" charset="0"/>
              </a:rPr>
              <a:t>.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B905AB2-0315-4CB4-BE52-2F690645A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016041"/>
              </p:ext>
            </p:extLst>
          </p:nvPr>
        </p:nvGraphicFramePr>
        <p:xfrm>
          <a:off x="123954" y="3886574"/>
          <a:ext cx="11813794" cy="2821706"/>
        </p:xfrm>
        <a:graphic>
          <a:graphicData uri="http://schemas.openxmlformats.org/drawingml/2006/table">
            <a:tbl>
              <a:tblPr/>
              <a:tblGrid>
                <a:gridCol w="2505254">
                  <a:extLst>
                    <a:ext uri="{9D8B030D-6E8A-4147-A177-3AD203B41FA5}">
                      <a16:colId xmlns:a16="http://schemas.microsoft.com/office/drawing/2014/main" val="2671047976"/>
                    </a:ext>
                  </a:extLst>
                </a:gridCol>
                <a:gridCol w="1022071">
                  <a:extLst>
                    <a:ext uri="{9D8B030D-6E8A-4147-A177-3AD203B41FA5}">
                      <a16:colId xmlns:a16="http://schemas.microsoft.com/office/drawing/2014/main" val="1616950738"/>
                    </a:ext>
                  </a:extLst>
                </a:gridCol>
                <a:gridCol w="930767">
                  <a:extLst>
                    <a:ext uri="{9D8B030D-6E8A-4147-A177-3AD203B41FA5}">
                      <a16:colId xmlns:a16="http://schemas.microsoft.com/office/drawing/2014/main" val="3602626898"/>
                    </a:ext>
                  </a:extLst>
                </a:gridCol>
                <a:gridCol w="741641">
                  <a:extLst>
                    <a:ext uri="{9D8B030D-6E8A-4147-A177-3AD203B41FA5}">
                      <a16:colId xmlns:a16="http://schemas.microsoft.com/office/drawing/2014/main" val="3373394295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851234203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1256436975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4017007451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3292998914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2605787463"/>
                    </a:ext>
                  </a:extLst>
                </a:gridCol>
                <a:gridCol w="1622316">
                  <a:extLst>
                    <a:ext uri="{9D8B030D-6E8A-4147-A177-3AD203B41FA5}">
                      <a16:colId xmlns:a16="http://schemas.microsoft.com/office/drawing/2014/main" val="1983119611"/>
                    </a:ext>
                  </a:extLst>
                </a:gridCol>
              </a:tblGrid>
              <a:tr h="2882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Variável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Base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+ Var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Std(</a:t>
                      </a:r>
                      <a:r>
                        <a:rPr lang="el-G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p-valor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Base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+ Var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Classificação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44467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ATRASOS_CONTAGEM_B3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0.0320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27,68%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4,09%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02863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ATRASO_MEDIO_B3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0.6841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0.0262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27,41%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09590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UTILIZACAO_6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0.6669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25,09%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1,50%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61813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ENDIVIDAMENTO_6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0.6669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25,09%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1,50%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42018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MEDIA_ENDIVIDAMENTO_B3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0.6665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25,08%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1,49%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06538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0.6665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25,08%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1,49%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23271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UTILIZACAO_5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0.6652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24,83%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1,24%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66328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ENDIVIDAMENTO_5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0.6652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24,83%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1,24%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486444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ATRASO_VOLATIL_B3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0.6603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23,95%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0,36%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830462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UTIL_ZERO_B3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23,78%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🔥 Relevante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698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783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442ABEF-0115-418E-A27E-E4E7446AF349}"/>
              </a:ext>
            </a:extLst>
          </p:cNvPr>
          <p:cNvSpPr txBox="1"/>
          <p:nvPr/>
        </p:nvSpPr>
        <p:spPr>
          <a:xfrm>
            <a:off x="200770" y="1015971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Resultado da Classificação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D23E3C-0460-4F22-9131-FEBC262BFFCA}"/>
              </a:ext>
            </a:extLst>
          </p:cNvPr>
          <p:cNvSpPr txBox="1"/>
          <p:nvPr/>
        </p:nvSpPr>
        <p:spPr>
          <a:xfrm>
            <a:off x="200770" y="1543301"/>
            <a:ext cx="11575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avaliação incremental permitiu quantificar, para cada variável candidata, seu impacto sobre o desempenho do modelo baseline. A partir da combinação entre ganho incremental de discriminação, estabilidade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e evidência estatística, as variáveis foram classificadas segundo sua contribuição para o modelo.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6F6AE64-3923-40EF-A39D-0E05A61B67D6}"/>
              </a:ext>
            </a:extLst>
          </p:cNvPr>
          <p:cNvSpPr txBox="1"/>
          <p:nvPr/>
        </p:nvSpPr>
        <p:spPr>
          <a:xfrm>
            <a:off x="200770" y="2466631"/>
            <a:ext cx="11736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Para facilitar a interpretação dos resultados, as variáveis serão apresentadas de acordo com a classificação obtida no processo de avaliação incremental.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EEAAA94-6871-401C-94BB-8122ABFF8891}"/>
              </a:ext>
            </a:extLst>
          </p:cNvPr>
          <p:cNvSpPr txBox="1"/>
          <p:nvPr/>
        </p:nvSpPr>
        <p:spPr>
          <a:xfrm>
            <a:off x="200770" y="3112962"/>
            <a:ext cx="11344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Em cada grupo são apresentadas as métricas de desempenho, estabilidade e significância estatística que fundamentaram a decisão de classificação de cada </a:t>
            </a:r>
            <a:r>
              <a:rPr lang="pt-BR" dirty="0" err="1">
                <a:latin typeface="Arial Narrow" panose="020B0606020202030204" pitchFamily="34" charset="0"/>
              </a:rPr>
              <a:t>feature</a:t>
            </a:r>
            <a:r>
              <a:rPr lang="pt-BR" dirty="0">
                <a:latin typeface="Arial Narrow" panose="020B0606020202030204" pitchFamily="34" charset="0"/>
              </a:rPr>
              <a:t>.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B905AB2-0315-4CB4-BE52-2F690645A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432609"/>
              </p:ext>
            </p:extLst>
          </p:nvPr>
        </p:nvGraphicFramePr>
        <p:xfrm>
          <a:off x="188317" y="4036292"/>
          <a:ext cx="11813794" cy="2315022"/>
        </p:xfrm>
        <a:graphic>
          <a:graphicData uri="http://schemas.openxmlformats.org/drawingml/2006/table">
            <a:tbl>
              <a:tblPr/>
              <a:tblGrid>
                <a:gridCol w="2505254">
                  <a:extLst>
                    <a:ext uri="{9D8B030D-6E8A-4147-A177-3AD203B41FA5}">
                      <a16:colId xmlns:a16="http://schemas.microsoft.com/office/drawing/2014/main" val="2671047976"/>
                    </a:ext>
                  </a:extLst>
                </a:gridCol>
                <a:gridCol w="1022071">
                  <a:extLst>
                    <a:ext uri="{9D8B030D-6E8A-4147-A177-3AD203B41FA5}">
                      <a16:colId xmlns:a16="http://schemas.microsoft.com/office/drawing/2014/main" val="1616950738"/>
                    </a:ext>
                  </a:extLst>
                </a:gridCol>
                <a:gridCol w="930767">
                  <a:extLst>
                    <a:ext uri="{9D8B030D-6E8A-4147-A177-3AD203B41FA5}">
                      <a16:colId xmlns:a16="http://schemas.microsoft.com/office/drawing/2014/main" val="3602626898"/>
                    </a:ext>
                  </a:extLst>
                </a:gridCol>
                <a:gridCol w="741641">
                  <a:extLst>
                    <a:ext uri="{9D8B030D-6E8A-4147-A177-3AD203B41FA5}">
                      <a16:colId xmlns:a16="http://schemas.microsoft.com/office/drawing/2014/main" val="3373394295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851234203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1256436975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4017007451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3292998914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2605787463"/>
                    </a:ext>
                  </a:extLst>
                </a:gridCol>
                <a:gridCol w="1622316">
                  <a:extLst>
                    <a:ext uri="{9D8B030D-6E8A-4147-A177-3AD203B41FA5}">
                      <a16:colId xmlns:a16="http://schemas.microsoft.com/office/drawing/2014/main" val="1983119611"/>
                    </a:ext>
                  </a:extLst>
                </a:gridCol>
              </a:tblGrid>
              <a:tr h="2882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Variável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Base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+ Var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Std(</a:t>
                      </a:r>
                      <a:r>
                        <a:rPr lang="el-G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p-valor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Base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+ Var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Classificação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44467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CONCENTRACAO_UTIL_B3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23,60%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🟢 Positiva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02863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0.3350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23,72%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🟢 Positiva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09590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PROP_NEGATIVA_FLAG_6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0.5780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🟢 Positiva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61813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TENDENCIA_UTIL_B3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0.8383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23,68%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🟢 Positiva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42018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TEND_ENDIVIDAMENTO_B3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0.8383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23,68%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🟢 Positiva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06538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VOL_PROP_PAGAMENTO_B3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0.7710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23,65%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🟢 Positiva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23271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MEDIA_PROP_PAGAMENTO_B3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0.8117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23,69%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🟢 Positiva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66328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PROP_NEGATIVA_FLAG_5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0.3331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🟢 Positiva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48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890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442ABEF-0115-418E-A27E-E4E7446AF349}"/>
              </a:ext>
            </a:extLst>
          </p:cNvPr>
          <p:cNvSpPr txBox="1"/>
          <p:nvPr/>
        </p:nvSpPr>
        <p:spPr>
          <a:xfrm>
            <a:off x="200770" y="1015971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Resultado da Classificação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D23E3C-0460-4F22-9131-FEBC262BFFCA}"/>
              </a:ext>
            </a:extLst>
          </p:cNvPr>
          <p:cNvSpPr txBox="1"/>
          <p:nvPr/>
        </p:nvSpPr>
        <p:spPr>
          <a:xfrm>
            <a:off x="200770" y="1543301"/>
            <a:ext cx="11575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avaliação incremental permitiu quantificar, para cada variável candidata, seu impacto sobre o desempenho do modelo baseline. A partir da combinação entre ganho incremental de discriminação, estabilidade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e evidência estatística, as variáveis foram classificadas segundo sua contribuição para o modelo.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6F6AE64-3923-40EF-A39D-0E05A61B67D6}"/>
              </a:ext>
            </a:extLst>
          </p:cNvPr>
          <p:cNvSpPr txBox="1"/>
          <p:nvPr/>
        </p:nvSpPr>
        <p:spPr>
          <a:xfrm>
            <a:off x="200770" y="2466631"/>
            <a:ext cx="11736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Para facilitar a interpretação dos resultados, as variáveis serão apresentadas de acordo com a classificação obtida no processo de avaliação incremental.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EEAAA94-6871-401C-94BB-8122ABFF8891}"/>
              </a:ext>
            </a:extLst>
          </p:cNvPr>
          <p:cNvSpPr txBox="1"/>
          <p:nvPr/>
        </p:nvSpPr>
        <p:spPr>
          <a:xfrm>
            <a:off x="200770" y="3112962"/>
            <a:ext cx="11344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Em cada grupo são apresentadas as métricas de desempenho, estabilidade e significância estatística que fundamentaram a decisão de classificação de cada </a:t>
            </a:r>
            <a:r>
              <a:rPr lang="pt-BR" dirty="0" err="1">
                <a:latin typeface="Arial Narrow" panose="020B0606020202030204" pitchFamily="34" charset="0"/>
              </a:rPr>
              <a:t>feature</a:t>
            </a:r>
            <a:r>
              <a:rPr lang="pt-BR" dirty="0">
                <a:latin typeface="Arial Narrow" panose="020B0606020202030204" pitchFamily="34" charset="0"/>
              </a:rPr>
              <a:t>.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B905AB2-0315-4CB4-BE52-2F690645A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240721"/>
              </p:ext>
            </p:extLst>
          </p:nvPr>
        </p:nvGraphicFramePr>
        <p:xfrm>
          <a:off x="162362" y="4019738"/>
          <a:ext cx="11813794" cy="2242678"/>
        </p:xfrm>
        <a:graphic>
          <a:graphicData uri="http://schemas.openxmlformats.org/drawingml/2006/table">
            <a:tbl>
              <a:tblPr/>
              <a:tblGrid>
                <a:gridCol w="2505254">
                  <a:extLst>
                    <a:ext uri="{9D8B030D-6E8A-4147-A177-3AD203B41FA5}">
                      <a16:colId xmlns:a16="http://schemas.microsoft.com/office/drawing/2014/main" val="2671047976"/>
                    </a:ext>
                  </a:extLst>
                </a:gridCol>
                <a:gridCol w="1022071">
                  <a:extLst>
                    <a:ext uri="{9D8B030D-6E8A-4147-A177-3AD203B41FA5}">
                      <a16:colId xmlns:a16="http://schemas.microsoft.com/office/drawing/2014/main" val="1616950738"/>
                    </a:ext>
                  </a:extLst>
                </a:gridCol>
                <a:gridCol w="930767">
                  <a:extLst>
                    <a:ext uri="{9D8B030D-6E8A-4147-A177-3AD203B41FA5}">
                      <a16:colId xmlns:a16="http://schemas.microsoft.com/office/drawing/2014/main" val="3602626898"/>
                    </a:ext>
                  </a:extLst>
                </a:gridCol>
                <a:gridCol w="741641">
                  <a:extLst>
                    <a:ext uri="{9D8B030D-6E8A-4147-A177-3AD203B41FA5}">
                      <a16:colId xmlns:a16="http://schemas.microsoft.com/office/drawing/2014/main" val="3373394295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851234203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1256436975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4017007451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3292998914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2605787463"/>
                    </a:ext>
                  </a:extLst>
                </a:gridCol>
                <a:gridCol w="1622316">
                  <a:extLst>
                    <a:ext uri="{9D8B030D-6E8A-4147-A177-3AD203B41FA5}">
                      <a16:colId xmlns:a16="http://schemas.microsoft.com/office/drawing/2014/main" val="1983119611"/>
                    </a:ext>
                  </a:extLst>
                </a:gridCol>
              </a:tblGrid>
              <a:tr h="2882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Variável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Base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+ Var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Std(</a:t>
                      </a:r>
                      <a:r>
                        <a:rPr lang="el-G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p-valor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Base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+ Var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Classificação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44467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it-IT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PROP_PAGAMENTO_VOLATIL_LOG_B3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0.7248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02863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PROP_PAGAMENTO_VOLATIL_B3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0.0913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09590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PROP_NEGATIVA_FLAG_B3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0.4821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61813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PROP_SUPERIOR_FLAG_5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0.5339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23,61%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42018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UTIL_VOLATIL_B3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0.8408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06538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PROP_SUPERIOR_FLAG_6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0.2426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23,62%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23271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PROP_SUPERIOR_FLAG_B3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0.6128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23,67%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66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98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442ABEF-0115-418E-A27E-E4E7446AF349}"/>
              </a:ext>
            </a:extLst>
          </p:cNvPr>
          <p:cNvSpPr txBox="1"/>
          <p:nvPr/>
        </p:nvSpPr>
        <p:spPr>
          <a:xfrm>
            <a:off x="200770" y="1015971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Resultado da Classificação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D23E3C-0460-4F22-9131-FEBC262BFFCA}"/>
              </a:ext>
            </a:extLst>
          </p:cNvPr>
          <p:cNvSpPr txBox="1"/>
          <p:nvPr/>
        </p:nvSpPr>
        <p:spPr>
          <a:xfrm>
            <a:off x="200770" y="1543301"/>
            <a:ext cx="11575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avaliação incremental permitiu quantificar, para cada variável candidata, seu impacto sobre o desempenho do modelo baseline. A partir da combinação entre ganho incremental de discriminação, estabilidade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e evidência estatística, as variáveis foram classificadas segundo sua contribuição para o modelo.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6F6AE64-3923-40EF-A39D-0E05A61B67D6}"/>
              </a:ext>
            </a:extLst>
          </p:cNvPr>
          <p:cNvSpPr txBox="1"/>
          <p:nvPr/>
        </p:nvSpPr>
        <p:spPr>
          <a:xfrm>
            <a:off x="200770" y="2466631"/>
            <a:ext cx="11736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Para facilitar a interpretação dos resultados, as variáveis serão apresentadas de acordo com a classificação obtida no processo de avaliação incremental.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EEAAA94-6871-401C-94BB-8122ABFF8891}"/>
              </a:ext>
            </a:extLst>
          </p:cNvPr>
          <p:cNvSpPr txBox="1"/>
          <p:nvPr/>
        </p:nvSpPr>
        <p:spPr>
          <a:xfrm>
            <a:off x="200770" y="3112962"/>
            <a:ext cx="11344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Em cada grupo são apresentadas as métricas de desempenho, estabilidade e significância estatística que fundamentaram a decisão de classificação de cada </a:t>
            </a:r>
            <a:r>
              <a:rPr lang="pt-BR" dirty="0" err="1">
                <a:latin typeface="Arial Narrow" panose="020B0606020202030204" pitchFamily="34" charset="0"/>
              </a:rPr>
              <a:t>feature</a:t>
            </a:r>
            <a:r>
              <a:rPr lang="pt-BR" dirty="0">
                <a:latin typeface="Arial Narrow" panose="020B0606020202030204" pitchFamily="34" charset="0"/>
              </a:rPr>
              <a:t>.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B905AB2-0315-4CB4-BE52-2F690645A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466611"/>
              </p:ext>
            </p:extLst>
          </p:nvPr>
        </p:nvGraphicFramePr>
        <p:xfrm>
          <a:off x="200770" y="4540375"/>
          <a:ext cx="11813794" cy="1301654"/>
        </p:xfrm>
        <a:graphic>
          <a:graphicData uri="http://schemas.openxmlformats.org/drawingml/2006/table">
            <a:tbl>
              <a:tblPr/>
              <a:tblGrid>
                <a:gridCol w="2505254">
                  <a:extLst>
                    <a:ext uri="{9D8B030D-6E8A-4147-A177-3AD203B41FA5}">
                      <a16:colId xmlns:a16="http://schemas.microsoft.com/office/drawing/2014/main" val="2671047976"/>
                    </a:ext>
                  </a:extLst>
                </a:gridCol>
                <a:gridCol w="1022071">
                  <a:extLst>
                    <a:ext uri="{9D8B030D-6E8A-4147-A177-3AD203B41FA5}">
                      <a16:colId xmlns:a16="http://schemas.microsoft.com/office/drawing/2014/main" val="1616950738"/>
                    </a:ext>
                  </a:extLst>
                </a:gridCol>
                <a:gridCol w="930767">
                  <a:extLst>
                    <a:ext uri="{9D8B030D-6E8A-4147-A177-3AD203B41FA5}">
                      <a16:colId xmlns:a16="http://schemas.microsoft.com/office/drawing/2014/main" val="3602626898"/>
                    </a:ext>
                  </a:extLst>
                </a:gridCol>
                <a:gridCol w="741641">
                  <a:extLst>
                    <a:ext uri="{9D8B030D-6E8A-4147-A177-3AD203B41FA5}">
                      <a16:colId xmlns:a16="http://schemas.microsoft.com/office/drawing/2014/main" val="3373394295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851234203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1256436975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4017007451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3292998914"/>
                    </a:ext>
                  </a:extLst>
                </a:gridCol>
                <a:gridCol w="998349">
                  <a:extLst>
                    <a:ext uri="{9D8B030D-6E8A-4147-A177-3AD203B41FA5}">
                      <a16:colId xmlns:a16="http://schemas.microsoft.com/office/drawing/2014/main" val="2605787463"/>
                    </a:ext>
                  </a:extLst>
                </a:gridCol>
                <a:gridCol w="1622316">
                  <a:extLst>
                    <a:ext uri="{9D8B030D-6E8A-4147-A177-3AD203B41FA5}">
                      <a16:colId xmlns:a16="http://schemas.microsoft.com/office/drawing/2014/main" val="1983119611"/>
                    </a:ext>
                  </a:extLst>
                </a:gridCol>
              </a:tblGrid>
              <a:tr h="2882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Variável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Base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 + Var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Std(</a:t>
                      </a:r>
                      <a:r>
                        <a:rPr lang="el-G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p-valor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Base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 + Var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l-G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Classificação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44467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AGE_SQ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0.1109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02863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PROP_PAGAMENTO_TRAT_5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0.0742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09590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PROP_PAGAMENTO_TRAT_6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0.0719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🟡 Negativa fraca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61813"/>
                  </a:ext>
                </a:extLst>
              </a:tr>
              <a:tr h="2533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0.6578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-0.0002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0.0121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23,57%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❌ Prejudicial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42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352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442ABEF-0115-418E-A27E-E4E7446AF349}"/>
              </a:ext>
            </a:extLst>
          </p:cNvPr>
          <p:cNvSpPr txBox="1"/>
          <p:nvPr/>
        </p:nvSpPr>
        <p:spPr>
          <a:xfrm>
            <a:off x="200770" y="1015971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Definição dos Conjuntos de Modelagem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0887301-4720-4DC0-A3D6-CB55E3FE0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798607"/>
              </p:ext>
            </p:extLst>
          </p:nvPr>
        </p:nvGraphicFramePr>
        <p:xfrm>
          <a:off x="301253" y="2974548"/>
          <a:ext cx="10706627" cy="1674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5284">
                  <a:extLst>
                    <a:ext uri="{9D8B030D-6E8A-4147-A177-3AD203B41FA5}">
                      <a16:colId xmlns:a16="http://schemas.microsoft.com/office/drawing/2014/main" val="361907484"/>
                    </a:ext>
                  </a:extLst>
                </a:gridCol>
                <a:gridCol w="6611343">
                  <a:extLst>
                    <a:ext uri="{9D8B030D-6E8A-4147-A177-3AD203B41FA5}">
                      <a16:colId xmlns:a16="http://schemas.microsoft.com/office/drawing/2014/main" val="3574819874"/>
                    </a:ext>
                  </a:extLst>
                </a:gridCol>
              </a:tblGrid>
              <a:tr h="3349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Modelo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Composição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195071"/>
                  </a:ext>
                </a:extLst>
              </a:tr>
              <a:tr h="3349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Variáveis originais da base de estudo e análise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801460"/>
                  </a:ext>
                </a:extLst>
              </a:tr>
              <a:tr h="3349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Lean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Baseline (variáveis originais)+ variáveis classificadas como Relevantes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579599"/>
                  </a:ext>
                </a:extLst>
              </a:tr>
              <a:tr h="3349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Clean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Baseline (variáveis originais) + Relevantes + Positivas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390099"/>
                  </a:ext>
                </a:extLst>
              </a:tr>
              <a:tr h="3349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Full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Baseline (variáveis originais)+ todas as variáveis avaliadas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713917"/>
                  </a:ext>
                </a:extLst>
              </a:tr>
            </a:tbl>
          </a:graphicData>
        </a:graphic>
      </p:graphicFrame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D23E3C-0460-4F22-9131-FEBC262BFFCA}"/>
              </a:ext>
            </a:extLst>
          </p:cNvPr>
          <p:cNvSpPr txBox="1"/>
          <p:nvPr/>
        </p:nvSpPr>
        <p:spPr>
          <a:xfrm>
            <a:off x="200770" y="1543301"/>
            <a:ext cx="115758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 classificação das variáveis foi utilizada para organizar diferentes conjuntos de entrada (</a:t>
            </a:r>
            <a:r>
              <a:rPr lang="pt-BR" dirty="0" err="1">
                <a:latin typeface="Arial Narrow" panose="020B0606020202030204" pitchFamily="34" charset="0"/>
              </a:rPr>
              <a:t>feature</a:t>
            </a:r>
            <a:r>
              <a:rPr lang="pt-BR" dirty="0">
                <a:latin typeface="Arial Narrow" panose="020B0606020202030204" pitchFamily="34" charset="0"/>
              </a:rPr>
              <a:t> sets), permitindo avaliar o impacto da incorporação progressiva das variáveis de </a:t>
            </a:r>
            <a:r>
              <a:rPr lang="pt-BR" dirty="0" err="1">
                <a:latin typeface="Arial Narrow" panose="020B0606020202030204" pitchFamily="34" charset="0"/>
              </a:rPr>
              <a:t>feature</a:t>
            </a:r>
            <a:r>
              <a:rPr lang="pt-BR" dirty="0">
                <a:latin typeface="Arial Narrow" panose="020B0606020202030204" pitchFamily="34" charset="0"/>
              </a:rPr>
              <a:t> </a:t>
            </a:r>
            <a:r>
              <a:rPr lang="pt-BR" dirty="0" err="1">
                <a:latin typeface="Arial Narrow" panose="020B0606020202030204" pitchFamily="34" charset="0"/>
              </a:rPr>
              <a:t>engineering</a:t>
            </a:r>
            <a:r>
              <a:rPr lang="pt-BR" dirty="0">
                <a:latin typeface="Arial Narrow" panose="020B0606020202030204" pitchFamily="34" charset="0"/>
              </a:rPr>
              <a:t> sobre o desempenho do modelo.</a:t>
            </a:r>
          </a:p>
          <a:p>
            <a:pPr algn="just"/>
            <a:r>
              <a:rPr lang="pt-BR" dirty="0">
                <a:latin typeface="Arial Narrow" panose="020B0606020202030204" pitchFamily="34" charset="0"/>
              </a:rPr>
              <a:t>Cada conjunto representa uma especificação distinta da Regressão Logística, construída a partir de critérios crescentes de inclusão das variáveis: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2A51472-92E6-4932-91D0-85FFC987CF99}"/>
              </a:ext>
            </a:extLst>
          </p:cNvPr>
          <p:cNvSpPr txBox="1"/>
          <p:nvPr/>
        </p:nvSpPr>
        <p:spPr>
          <a:xfrm>
            <a:off x="301253" y="4880441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Objetivo 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C0461CF-96FE-43C7-A288-B77F7CF4C549}"/>
              </a:ext>
            </a:extLst>
          </p:cNvPr>
          <p:cNvSpPr txBox="1"/>
          <p:nvPr/>
        </p:nvSpPr>
        <p:spPr>
          <a:xfrm>
            <a:off x="301253" y="5518863"/>
            <a:ext cx="11194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Comparar diferentes níveis de enriquecimento do conjunto de variáveis, avaliando o impacto da inclusão progressiva de </a:t>
            </a:r>
            <a:r>
              <a:rPr lang="pt-BR" dirty="0" err="1">
                <a:latin typeface="Arial Narrow" panose="020B0606020202030204" pitchFamily="34" charset="0"/>
              </a:rPr>
              <a:t>features</a:t>
            </a:r>
            <a:r>
              <a:rPr lang="pt-BR" dirty="0">
                <a:latin typeface="Arial Narrow" panose="020B0606020202030204" pitchFamily="34" charset="0"/>
              </a:rPr>
              <a:t> sobre a performance, a estabilidade e a capacidade de generalização do modelo.</a:t>
            </a:r>
          </a:p>
        </p:txBody>
      </p:sp>
    </p:spTree>
    <p:extLst>
      <p:ext uri="{BB962C8B-B14F-4D97-AF65-F5344CB8AC3E}">
        <p14:creationId xmlns:p14="http://schemas.microsoft.com/office/powerpoint/2010/main" val="3998761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Metodologia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442ABEF-0115-418E-A27E-E4E7446AF349}"/>
              </a:ext>
            </a:extLst>
          </p:cNvPr>
          <p:cNvSpPr txBox="1"/>
          <p:nvPr/>
        </p:nvSpPr>
        <p:spPr>
          <a:xfrm>
            <a:off x="138435" y="966060"/>
            <a:ext cx="8732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Comparação dos Modelos Sem Balanceamento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D23E3C-0460-4F22-9131-FEBC262BFFCA}"/>
              </a:ext>
            </a:extLst>
          </p:cNvPr>
          <p:cNvSpPr txBox="1"/>
          <p:nvPr/>
        </p:nvSpPr>
        <p:spPr>
          <a:xfrm>
            <a:off x="145233" y="1432294"/>
            <a:ext cx="11575899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00" dirty="0">
                <a:latin typeface="Arial Narrow" panose="020B0606020202030204" pitchFamily="34" charset="0"/>
              </a:rPr>
              <a:t>Antes da aplicação de técnicas de balanceamento, os diferentes conjuntos de variáveis foram comparados diretamente em termos de performance e estabilidade, permitindo analisar o desempenho dos modelos em sua forma original, sem aplicação de técnicas de balanceamento.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2A51472-92E6-4932-91D0-85FFC987CF99}"/>
              </a:ext>
            </a:extLst>
          </p:cNvPr>
          <p:cNvSpPr txBox="1"/>
          <p:nvPr/>
        </p:nvSpPr>
        <p:spPr>
          <a:xfrm>
            <a:off x="145233" y="2811647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Estrutura de Avaliação dos Modelos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ECAFCBF-D83D-49CE-BE4B-CE6611FB9466}"/>
              </a:ext>
            </a:extLst>
          </p:cNvPr>
          <p:cNvSpPr txBox="1"/>
          <p:nvPr/>
        </p:nvSpPr>
        <p:spPr>
          <a:xfrm>
            <a:off x="131638" y="2196720"/>
            <a:ext cx="1158949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>
                <a:latin typeface="Arial Narrow" panose="020B0606020202030204" pitchFamily="34" charset="0"/>
              </a:rPr>
              <a:t>Essa análise tem como objetivo verificar se o enriquecimento progressivo das variáveis (Baseline → Lean → Clean → Full) se traduz em ganhos consistentes de modelagem.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5DE83A2-8862-49BE-B682-6531FE3E5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905497"/>
              </p:ext>
            </p:extLst>
          </p:nvPr>
        </p:nvGraphicFramePr>
        <p:xfrm>
          <a:off x="204605" y="3501172"/>
          <a:ext cx="11782789" cy="3128172"/>
        </p:xfrm>
        <a:graphic>
          <a:graphicData uri="http://schemas.openxmlformats.org/drawingml/2006/table">
            <a:tbl>
              <a:tblPr/>
              <a:tblGrid>
                <a:gridCol w="2186615">
                  <a:extLst>
                    <a:ext uri="{9D8B030D-6E8A-4147-A177-3AD203B41FA5}">
                      <a16:colId xmlns:a16="http://schemas.microsoft.com/office/drawing/2014/main" val="4173268865"/>
                    </a:ext>
                  </a:extLst>
                </a:gridCol>
                <a:gridCol w="4263382">
                  <a:extLst>
                    <a:ext uri="{9D8B030D-6E8A-4147-A177-3AD203B41FA5}">
                      <a16:colId xmlns:a16="http://schemas.microsoft.com/office/drawing/2014/main" val="3097200164"/>
                    </a:ext>
                  </a:extLst>
                </a:gridCol>
                <a:gridCol w="1243114">
                  <a:extLst>
                    <a:ext uri="{9D8B030D-6E8A-4147-A177-3AD203B41FA5}">
                      <a16:colId xmlns:a16="http://schemas.microsoft.com/office/drawing/2014/main" val="3029298095"/>
                    </a:ext>
                  </a:extLst>
                </a:gridCol>
                <a:gridCol w="4089678">
                  <a:extLst>
                    <a:ext uri="{9D8B030D-6E8A-4147-A177-3AD203B41FA5}">
                      <a16:colId xmlns:a16="http://schemas.microsoft.com/office/drawing/2014/main" val="1112051349"/>
                    </a:ext>
                  </a:extLst>
                </a:gridCol>
              </a:tblGrid>
              <a:tr h="2305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Dimensão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 que avalia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Métrica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Pergunta do experimento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216009"/>
                  </a:ext>
                </a:extLst>
              </a:tr>
              <a:tr h="3612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Capacidade preditiva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Poder do modelo em ordenar corretamente risco de crédito (bons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vs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maus)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AUC, KS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Ele separa corretamente clientes bons e maus em termos de risco?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000080"/>
                  </a:ext>
                </a:extLst>
              </a:tr>
              <a:tr h="3612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Ajuste em treino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Grau de aprendizado do modelo sobre o conjunto de treinamento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AUC_TREINO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 modelo está capturando adequadamente os padrões do treino?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68081"/>
                  </a:ext>
                </a:extLst>
              </a:tr>
              <a:tr h="3612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Validação (CV)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Desempenho médio do modelo em validação cruzada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 desempenho se mantém fora do conjunto de treino?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193352"/>
                  </a:ext>
                </a:extLst>
              </a:tr>
              <a:tr h="53873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Generalização em </a:t>
                      </a:r>
                      <a:r>
                        <a:rPr lang="pt-BR" sz="1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holdout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Capacidade de manter performance em base fora do período/amostra de modelagem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AUC_B2 / AUC_B1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 modelo mantém poder preditivo em dados realmente fora da amostra de desenvolvimento?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499879"/>
                  </a:ext>
                </a:extLst>
              </a:tr>
              <a:tr h="3612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Estabilidade amostral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Consistência das métricas entre diferentes amostras e janelas temporais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CV </a:t>
                      </a:r>
                      <a:r>
                        <a:rPr lang="pt-BR" sz="1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vs</a:t>
                      </a: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pt-BR" sz="1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holdout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 modelo se comporta de forma consistente entre diferentes bases?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193791"/>
                  </a:ext>
                </a:extLst>
              </a:tr>
              <a:tr h="3612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Estabilidade populacional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Mudança na distribuição dos scores entre bases ao longo do tempo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PSI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 distribuição do modelo permanece estável entre períodos/amostras?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988757"/>
                  </a:ext>
                </a:extLst>
              </a:tr>
              <a:tr h="3612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Overfitting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Diferença excessiva entre performance de treino e validação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OVERFIT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 modelo está excessivamente ajustado ao treino, perdendo capacidade de generalização?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461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260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46D1EEB6-A333-4CF8-9B5A-4BAC394F108D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Análise de Variância | Critérios para a Escolha do Modelo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EC7500D-8BDD-4398-BEAD-D00BEE1A0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812" y="1764560"/>
            <a:ext cx="5282434" cy="314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60865537-2FC9-4C56-811D-1DEB52765056}"/>
              </a:ext>
            </a:extLst>
          </p:cNvPr>
          <p:cNvSpPr txBox="1"/>
          <p:nvPr/>
        </p:nvSpPr>
        <p:spPr>
          <a:xfrm>
            <a:off x="94533" y="4903238"/>
            <a:ext cx="1200136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00" dirty="0">
                <a:latin typeface="Arial Narrow" panose="020B0606020202030204" pitchFamily="34" charset="0"/>
              </a:rPr>
              <a:t>Verificou-se a estabilidade dos modelos candidatos a partir da análise de variância por: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r>
              <a:rPr lang="pt-BR" sz="1700" b="1" dirty="0">
                <a:latin typeface="Arial Narrow" panose="020B0606020202030204" pitchFamily="34" charset="0"/>
              </a:rPr>
              <a:t>STD_CV (desvio-padrão da validação cruzada): </a:t>
            </a:r>
            <a:r>
              <a:rPr lang="pt-BR" sz="1700" dirty="0">
                <a:latin typeface="Arial Narrow" panose="020B0606020202030204" pitchFamily="34" charset="0"/>
              </a:rPr>
              <a:t>Mede diretamente a variabilidade do AUC entre os </a:t>
            </a:r>
            <a:r>
              <a:rPr lang="pt-BR" sz="1700" dirty="0" err="1">
                <a:latin typeface="Arial Narrow" panose="020B0606020202030204" pitchFamily="34" charset="0"/>
              </a:rPr>
              <a:t>folds</a:t>
            </a:r>
            <a:r>
              <a:rPr lang="pt-BR" sz="1700" dirty="0">
                <a:latin typeface="Arial Narrow" panose="020B0606020202030204" pitchFamily="34" charset="0"/>
              </a:rPr>
              <a:t> da validação cruzada. Se o </a:t>
            </a:r>
            <a:r>
              <a:rPr lang="pt-BR" sz="1700" b="1" dirty="0">
                <a:latin typeface="Arial Narrow" panose="020B0606020202030204" pitchFamily="34" charset="0"/>
              </a:rPr>
              <a:t>STD</a:t>
            </a:r>
            <a:r>
              <a:rPr lang="pt-BR" sz="1700" dirty="0">
                <a:latin typeface="Arial Narrow" panose="020B0606020202030204" pitchFamily="34" charset="0"/>
              </a:rPr>
              <a:t> é baixo, significa que o modelo é estável e consistente. Se o </a:t>
            </a:r>
            <a:r>
              <a:rPr lang="pt-BR" sz="1700" b="1" dirty="0">
                <a:latin typeface="Arial Narrow" panose="020B0606020202030204" pitchFamily="34" charset="0"/>
              </a:rPr>
              <a:t>STD</a:t>
            </a:r>
            <a:r>
              <a:rPr lang="pt-BR" sz="1700" dirty="0">
                <a:latin typeface="Arial Narrow" panose="020B0606020202030204" pitchFamily="34" charset="0"/>
              </a:rPr>
              <a:t> é alto, indica que o modelo oscila muito entre amostras, comprometendo a previsibilidade. </a:t>
            </a:r>
            <a:r>
              <a:rPr lang="pt-BR" sz="1700" b="1" dirty="0">
                <a:latin typeface="Arial Narrow" panose="020B0606020202030204" pitchFamily="34" charset="0"/>
              </a:rPr>
              <a:t>STD baixo → </a:t>
            </a:r>
            <a:r>
              <a:rPr lang="pt-BR" sz="1700" dirty="0">
                <a:latin typeface="Arial Narrow" panose="020B0606020202030204" pitchFamily="34" charset="0"/>
              </a:rPr>
              <a:t>modelo estável e </a:t>
            </a:r>
            <a:r>
              <a:rPr lang="pt-BR" sz="1700" b="1" dirty="0">
                <a:latin typeface="Arial Narrow" panose="020B0606020202030204" pitchFamily="34" charset="0"/>
              </a:rPr>
              <a:t>STD alto → </a:t>
            </a:r>
            <a:r>
              <a:rPr lang="pt-BR" sz="1700" dirty="0">
                <a:latin typeface="Arial Narrow" panose="020B0606020202030204" pitchFamily="34" charset="0"/>
              </a:rPr>
              <a:t>modelo instável.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r>
              <a:rPr lang="pt-BR" sz="1700" b="1" dirty="0">
                <a:latin typeface="Arial Narrow" panose="020B0606020202030204" pitchFamily="34" charset="0"/>
              </a:rPr>
              <a:t>AUC_CV </a:t>
            </a:r>
            <a:r>
              <a:rPr lang="pt-BR" sz="1700" b="1" dirty="0" err="1">
                <a:latin typeface="Arial Narrow" panose="020B0606020202030204" pitchFamily="34" charset="0"/>
              </a:rPr>
              <a:t>vs</a:t>
            </a:r>
            <a:r>
              <a:rPr lang="pt-BR" sz="1700" b="1" dirty="0">
                <a:latin typeface="Arial Narrow" panose="020B0606020202030204" pitchFamily="34" charset="0"/>
              </a:rPr>
              <a:t> AUC_TREINO: </a:t>
            </a:r>
            <a:r>
              <a:rPr lang="pt-BR" sz="1700" dirty="0">
                <a:latin typeface="Arial Narrow" panose="020B0606020202030204" pitchFamily="34" charset="0"/>
              </a:rPr>
              <a:t>Indica a diferença na capacidade dos modelos de discriminar as classes (bons e maus) dado o AUC usada para avaliar a capacidade do modelo de separar corretamente as classes. Compara o desempenho médio da validação cruzada desempenho médio do modelo medido na validação cruzada (em diferentes </a:t>
            </a:r>
            <a:r>
              <a:rPr lang="pt-BR" sz="1700" dirty="0" err="1">
                <a:latin typeface="Arial Narrow" panose="020B0606020202030204" pitchFamily="34" charset="0"/>
              </a:rPr>
              <a:t>folds</a:t>
            </a:r>
            <a:r>
              <a:rPr lang="pt-BR" sz="1700" dirty="0">
                <a:latin typeface="Arial Narrow" panose="020B0606020202030204" pitchFamily="34" charset="0"/>
              </a:rPr>
              <a:t>) com o desempenho em treino (desempenho do modelo medido nos dados de treino.)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36A9779-86BD-4B45-A724-E9EF83325E00}"/>
              </a:ext>
            </a:extLst>
          </p:cNvPr>
          <p:cNvSpPr txBox="1"/>
          <p:nvPr/>
        </p:nvSpPr>
        <p:spPr>
          <a:xfrm>
            <a:off x="94533" y="893036"/>
            <a:ext cx="12001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</a:t>
            </a:r>
            <a:r>
              <a:rPr lang="pt-BR" b="1" dirty="0">
                <a:latin typeface="Arial Narrow" panose="020B0606020202030204" pitchFamily="34" charset="0"/>
              </a:rPr>
              <a:t>análise de variância </a:t>
            </a:r>
            <a:r>
              <a:rPr lang="pt-BR" dirty="0">
                <a:latin typeface="Arial Narrow" panose="020B0606020202030204" pitchFamily="34" charset="0"/>
              </a:rPr>
              <a:t>mostra quanto o desempenho do modelo oscila entre diferentes amostras (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da validação cruzada).</a:t>
            </a:r>
          </a:p>
          <a:p>
            <a:r>
              <a:rPr lang="pt-BR" dirty="0">
                <a:latin typeface="Arial Narrow" panose="020B0606020202030204" pitchFamily="34" charset="0"/>
              </a:rPr>
              <a:t>Se a </a:t>
            </a:r>
            <a:r>
              <a:rPr lang="pt-BR" b="1" dirty="0">
                <a:latin typeface="Arial Narrow" panose="020B0606020202030204" pitchFamily="34" charset="0"/>
              </a:rPr>
              <a:t>variância é alta </a:t>
            </a:r>
            <a:r>
              <a:rPr lang="pt-BR" dirty="0">
                <a:latin typeface="Arial Narrow" panose="020B0606020202030204" pitchFamily="34" charset="0"/>
              </a:rPr>
              <a:t>→ o modelo é instável, depende muito de qual amostra foi usada, </a:t>
            </a:r>
            <a:r>
              <a:rPr lang="pt-BR" sz="1800" dirty="0">
                <a:latin typeface="Arial Narrow" panose="020B0606020202030204" pitchFamily="34" charset="0"/>
              </a:rPr>
              <a:t>não é consistente entre treino e validação.</a:t>
            </a:r>
            <a:endParaRPr lang="pt-BR" dirty="0">
              <a:latin typeface="Arial Narrow" panose="020B0606020202030204" pitchFamily="34" charset="0"/>
            </a:endParaRPr>
          </a:p>
          <a:p>
            <a:r>
              <a:rPr lang="pt-BR" dirty="0">
                <a:latin typeface="Arial Narrow" panose="020B0606020202030204" pitchFamily="34" charset="0"/>
              </a:rPr>
              <a:t>Se a </a:t>
            </a:r>
            <a:r>
              <a:rPr lang="pt-BR" b="1" dirty="0">
                <a:latin typeface="Arial Narrow" panose="020B0606020202030204" pitchFamily="34" charset="0"/>
              </a:rPr>
              <a:t>variância é baixa </a:t>
            </a:r>
            <a:r>
              <a:rPr lang="pt-BR" dirty="0">
                <a:latin typeface="Arial Narrow" panose="020B0606020202030204" pitchFamily="34" charset="0"/>
              </a:rPr>
              <a:t>→ o modelo é estável, consistente e confiável. </a:t>
            </a:r>
            <a:r>
              <a:rPr lang="pt-BR" sz="1800" dirty="0">
                <a:latin typeface="Arial Narrow" panose="020B0606020202030204" pitchFamily="34" charset="0"/>
              </a:rPr>
              <a:t>baixa variância e boa generalização</a:t>
            </a:r>
            <a:endParaRPr lang="pt-B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080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46D1EEB6-A333-4CF8-9B5A-4BAC394F108D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Análise de Viés | Critérios para a Escolha do Modelo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EC7500D-8BDD-4398-BEAD-D00BEE1A0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523" y="1572940"/>
            <a:ext cx="5282434" cy="314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60865537-2FC9-4C56-811D-1DEB52765056}"/>
              </a:ext>
            </a:extLst>
          </p:cNvPr>
          <p:cNvSpPr txBox="1"/>
          <p:nvPr/>
        </p:nvSpPr>
        <p:spPr>
          <a:xfrm>
            <a:off x="171025" y="4603476"/>
            <a:ext cx="118483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50" dirty="0">
                <a:latin typeface="Arial Narrow" panose="020B0606020202030204" pitchFamily="34" charset="0"/>
              </a:rPr>
              <a:t>Verificou-se a estabilidade dos modelos candidatos a partir da análise de viés por: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750" b="1" dirty="0" err="1">
                <a:latin typeface="Arial Narrow" panose="020B0606020202030204" pitchFamily="34" charset="0"/>
              </a:rPr>
              <a:t>Overfit</a:t>
            </a:r>
            <a:r>
              <a:rPr lang="pt-BR" sz="1750" b="1" dirty="0">
                <a:latin typeface="Arial Narrow" panose="020B0606020202030204" pitchFamily="34" charset="0"/>
              </a:rPr>
              <a:t>:  </a:t>
            </a:r>
            <a:r>
              <a:rPr lang="pt-BR" sz="1750" dirty="0">
                <a:latin typeface="Arial Narrow" panose="020B0606020202030204" pitchFamily="34" charset="0"/>
              </a:rPr>
              <a:t>mostra se o modelo está enviesado para os dados de treino (se aprendeu demais sob dados e padrões específicos e não generaliza).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750" b="1" dirty="0">
                <a:latin typeface="Arial Narrow" panose="020B0606020202030204" pitchFamily="34" charset="0"/>
              </a:rPr>
              <a:t>DROP_B3_B</a:t>
            </a:r>
            <a:r>
              <a:rPr lang="pt-BR" sz="1750" dirty="0">
                <a:latin typeface="Arial Narrow" panose="020B0606020202030204" pitchFamily="34" charset="0"/>
              </a:rPr>
              <a:t>: indica diferença na capacidade dos modelos de discriminar as classes (bons e maus) dado AUC (métrica usada para avaliar a capacidade do modelo de discriminar entre). Se o </a:t>
            </a:r>
            <a:r>
              <a:rPr lang="pt-BR" sz="1750" dirty="0" err="1">
                <a:latin typeface="Arial Narrow" panose="020B0606020202030204" pitchFamily="34" charset="0"/>
              </a:rPr>
              <a:t>drop</a:t>
            </a:r>
            <a:r>
              <a:rPr lang="pt-BR" sz="1750" dirty="0">
                <a:latin typeface="Arial Narrow" panose="020B0606020202030204" pitchFamily="34" charset="0"/>
              </a:rPr>
              <a:t> é grande, pode sinalizar viés do modelo para uma população específica.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750" b="1" dirty="0">
                <a:latin typeface="Arial Narrow" panose="020B0606020202030204" pitchFamily="34" charset="0"/>
              </a:rPr>
              <a:t>PSI (</a:t>
            </a:r>
            <a:r>
              <a:rPr lang="pt-BR" sz="1750" b="1" dirty="0" err="1">
                <a:latin typeface="Arial Narrow" panose="020B0606020202030204" pitchFamily="34" charset="0"/>
              </a:rPr>
              <a:t>Population</a:t>
            </a:r>
            <a:r>
              <a:rPr lang="pt-BR" sz="1750" b="1" dirty="0">
                <a:latin typeface="Arial Narrow" panose="020B0606020202030204" pitchFamily="34" charset="0"/>
              </a:rPr>
              <a:t> </a:t>
            </a:r>
            <a:r>
              <a:rPr lang="pt-BR" sz="1750" b="1" dirty="0" err="1">
                <a:latin typeface="Arial Narrow" panose="020B0606020202030204" pitchFamily="34" charset="0"/>
              </a:rPr>
              <a:t>Stability</a:t>
            </a:r>
            <a:r>
              <a:rPr lang="pt-BR" sz="1750" b="1" dirty="0">
                <a:latin typeface="Arial Narrow" panose="020B0606020202030204" pitchFamily="34" charset="0"/>
              </a:rPr>
              <a:t> Index</a:t>
            </a:r>
            <a:r>
              <a:rPr lang="pt-BR" sz="1750" dirty="0">
                <a:latin typeface="Arial Narrow" panose="020B0606020202030204" pitchFamily="34" charset="0"/>
              </a:rPr>
              <a:t>): É calculado sobre os scores (probabilidades) que derivam de </a:t>
            </a:r>
            <a:r>
              <a:rPr lang="pt-BR" sz="1750" dirty="0" err="1">
                <a:latin typeface="Arial Narrow" panose="020B0606020202030204" pitchFamily="34" charset="0"/>
              </a:rPr>
              <a:t>logit</a:t>
            </a:r>
            <a:r>
              <a:rPr lang="pt-BR" sz="1750" dirty="0">
                <a:latin typeface="Arial Narrow" panose="020B0606020202030204" pitchFamily="34" charset="0"/>
              </a:rPr>
              <a:t>. Compara-se as distribuição das probabilidades previstas resultado da transformação do </a:t>
            </a:r>
            <a:r>
              <a:rPr lang="pt-BR" sz="1750" dirty="0" err="1">
                <a:latin typeface="Arial Narrow" panose="020B0606020202030204" pitchFamily="34" charset="0"/>
              </a:rPr>
              <a:t>logit</a:t>
            </a:r>
            <a:r>
              <a:rPr lang="pt-BR" sz="1750" dirty="0">
                <a:latin typeface="Arial Narrow" panose="020B0606020202030204" pitchFamily="34" charset="0"/>
              </a:rPr>
              <a:t>. Se a distribuição dos scores muda muito entre bases, significa que o modelo (via </a:t>
            </a:r>
            <a:r>
              <a:rPr lang="pt-BR" sz="1750" dirty="0" err="1">
                <a:latin typeface="Arial Narrow" panose="020B0606020202030204" pitchFamily="34" charset="0"/>
              </a:rPr>
              <a:t>logit</a:t>
            </a:r>
            <a:r>
              <a:rPr lang="pt-BR" sz="1750" dirty="0">
                <a:latin typeface="Arial Narrow" panose="020B0606020202030204" pitchFamily="34" charset="0"/>
              </a:rPr>
              <a:t>) está captando padrões diferentes → sinal de instabilidade populacional/temporal capturada pelo PSI.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36A9779-86BD-4B45-A724-E9EF83325E00}"/>
              </a:ext>
            </a:extLst>
          </p:cNvPr>
          <p:cNvSpPr txBox="1"/>
          <p:nvPr/>
        </p:nvSpPr>
        <p:spPr>
          <a:xfrm>
            <a:off x="189854" y="944640"/>
            <a:ext cx="12001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</a:t>
            </a:r>
            <a:r>
              <a:rPr lang="pt-BR" b="1" dirty="0">
                <a:latin typeface="Arial Narrow" panose="020B0606020202030204" pitchFamily="34" charset="0"/>
              </a:rPr>
              <a:t>análise de viés </a:t>
            </a:r>
            <a:r>
              <a:rPr lang="pt-BR" dirty="0">
                <a:latin typeface="Arial Narrow" panose="020B0606020202030204" pitchFamily="34" charset="0"/>
              </a:rPr>
              <a:t>mostra se o modelo tende a funcionar melhor apenas em um grupo, período ou amostra específica.</a:t>
            </a:r>
          </a:p>
          <a:p>
            <a:r>
              <a:rPr lang="pt-BR" dirty="0">
                <a:latin typeface="Arial Narrow" panose="020B0606020202030204" pitchFamily="34" charset="0"/>
              </a:rPr>
              <a:t>E evitar que o modelo aprenda padrões que não se repetem fora da amostra (</a:t>
            </a:r>
            <a:r>
              <a:rPr lang="pt-BR" b="1" dirty="0" err="1">
                <a:latin typeface="Arial Narrow" panose="020B0606020202030204" pitchFamily="34" charset="0"/>
              </a:rPr>
              <a:t>overfit</a:t>
            </a:r>
            <a:r>
              <a:rPr lang="pt-BR" dirty="0">
                <a:latin typeface="Arial Narrow" panose="020B0606020202030204" pitchFamily="34" charset="0"/>
              </a:rPr>
              <a:t> em algum grupo de dados) e evita que o modelo perca validade quando a distribuição dos dados muda.</a:t>
            </a:r>
          </a:p>
        </p:txBody>
      </p:sp>
    </p:spTree>
    <p:extLst>
      <p:ext uri="{BB962C8B-B14F-4D97-AF65-F5344CB8AC3E}">
        <p14:creationId xmlns:p14="http://schemas.microsoft.com/office/powerpoint/2010/main" val="2592631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C5DB5920-E00B-4F76-87FB-954263E6CAEE}"/>
              </a:ext>
            </a:extLst>
          </p:cNvPr>
          <p:cNvSpPr txBox="1"/>
          <p:nvPr/>
        </p:nvSpPr>
        <p:spPr>
          <a:xfrm>
            <a:off x="97257" y="1010172"/>
            <a:ext cx="11995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escolha do modelo se deu após avaliação de qual modelo conseguiu melhor </a:t>
            </a:r>
            <a:r>
              <a:rPr lang="pt-BR" b="1" dirty="0">
                <a:latin typeface="Arial Narrow" panose="020B0606020202030204" pitchFamily="34" charset="0"/>
              </a:rPr>
              <a:t>discriminar inadimplência </a:t>
            </a:r>
            <a:r>
              <a:rPr lang="pt-BR" dirty="0">
                <a:latin typeface="Arial Narrow" panose="020B0606020202030204" pitchFamily="34" charset="0"/>
              </a:rPr>
              <a:t>mantendo de equilíbrio e controle de viés e variância, estabilidade temporal, generalização, robustez, </a:t>
            </a:r>
            <a:r>
              <a:rPr lang="pt-BR" dirty="0" err="1">
                <a:latin typeface="Arial Narrow" panose="020B0606020202030204" pitchFamily="34" charset="0"/>
              </a:rPr>
              <a:t>interpretabilidade</a:t>
            </a:r>
            <a:r>
              <a:rPr lang="pt-BR" dirty="0">
                <a:latin typeface="Arial Narrow" panose="020B0606020202030204" pitchFamily="34" charset="0"/>
              </a:rPr>
              <a:t> e complexidade dos três modelos (Full, Clean, Lean) candidatos.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2EAB7805-E23B-43B9-A638-9935B5705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6" y="127375"/>
            <a:ext cx="8529043" cy="755970"/>
          </a:xfrm>
          <a:prstGeom prst="rect">
            <a:avLst/>
          </a:prstGeom>
        </p:spPr>
      </p:pic>
      <p:sp>
        <p:nvSpPr>
          <p:cNvPr id="40" name="CaixaDeTexto 39">
            <a:extLst>
              <a:ext uri="{FF2B5EF4-FFF2-40B4-BE49-F238E27FC236}">
                <a16:creationId xmlns:a16="http://schemas.microsoft.com/office/drawing/2014/main" id="{9FF21D59-1AAE-4145-9FD5-E4D015A7C865}"/>
              </a:ext>
            </a:extLst>
          </p:cNvPr>
          <p:cNvSpPr txBox="1"/>
          <p:nvPr/>
        </p:nvSpPr>
        <p:spPr>
          <a:xfrm>
            <a:off x="97256" y="4022072"/>
            <a:ext cx="3438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Critérios de Avaliação:</a:t>
            </a:r>
            <a:endParaRPr lang="pt-BR" sz="1750" dirty="0">
              <a:latin typeface="Arial Narrow" panose="020B0606020202030204" pitchFamily="34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5F97350-330C-4AFB-8557-5F7E14AB1C6F}"/>
              </a:ext>
            </a:extLst>
          </p:cNvPr>
          <p:cNvSpPr txBox="1"/>
          <p:nvPr/>
        </p:nvSpPr>
        <p:spPr>
          <a:xfrm>
            <a:off x="97256" y="4343683"/>
            <a:ext cx="8589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>
                <a:latin typeface="Arial Narrow" panose="020B0606020202030204" pitchFamily="34" charset="0"/>
              </a:rPr>
              <a:t>Capacidade de discriminação:</a:t>
            </a:r>
          </a:p>
          <a:p>
            <a:r>
              <a:rPr lang="pt-BR" dirty="0">
                <a:latin typeface="Arial Narrow" panose="020B0606020202030204" pitchFamily="34" charset="0"/>
              </a:rPr>
              <a:t>AUC e KS se mostraram superior no </a:t>
            </a:r>
            <a:r>
              <a:rPr lang="pt-BR" b="1" dirty="0">
                <a:latin typeface="Arial Narrow" panose="020B0606020202030204" pitchFamily="34" charset="0"/>
              </a:rPr>
              <a:t>modelo Full </a:t>
            </a:r>
            <a:r>
              <a:rPr lang="pt-BR" dirty="0">
                <a:latin typeface="Arial Narrow" panose="020B0606020202030204" pitchFamily="34" charset="0"/>
              </a:rPr>
              <a:t>no conjunto de treino e fora da amostra;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188D632-C93F-49F8-8AEE-BAE3885F83C5}"/>
              </a:ext>
            </a:extLst>
          </p:cNvPr>
          <p:cNvSpPr txBox="1"/>
          <p:nvPr/>
        </p:nvSpPr>
        <p:spPr>
          <a:xfrm>
            <a:off x="97256" y="5024227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>
                <a:latin typeface="Arial Narrow" panose="020B0606020202030204" pitchFamily="34" charset="0"/>
              </a:rPr>
              <a:t>Capacidade de Generalização:</a:t>
            </a:r>
          </a:p>
          <a:p>
            <a:r>
              <a:rPr lang="pt-BR" dirty="0">
                <a:latin typeface="Arial Narrow" panose="020B0606020202030204" pitchFamily="34" charset="0"/>
              </a:rPr>
              <a:t>Os três modelos avaliados demonstraram poder de generalização e muito controle de </a:t>
            </a:r>
            <a:r>
              <a:rPr lang="pt-BR" dirty="0" err="1">
                <a:latin typeface="Arial Narrow" panose="020B0606020202030204" pitchFamily="34" charset="0"/>
              </a:rPr>
              <a:t>overfit</a:t>
            </a:r>
            <a:r>
              <a:rPr lang="pt-BR" dirty="0">
                <a:latin typeface="Arial Narrow" panose="020B0606020202030204" pitchFamily="34" charset="0"/>
              </a:rPr>
              <a:t>, mas em comparação o resultado obtido pelo modelo Lean apresentou a menor taxa de 0,11%. 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1C483C7-34D0-40C4-B010-3E01224DB2BA}"/>
              </a:ext>
            </a:extLst>
          </p:cNvPr>
          <p:cNvSpPr txBox="1"/>
          <p:nvPr/>
        </p:nvSpPr>
        <p:spPr>
          <a:xfrm>
            <a:off x="97256" y="5887954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>
                <a:latin typeface="Arial Narrow" panose="020B0606020202030204" pitchFamily="34" charset="0"/>
              </a:rPr>
              <a:t>Estabilidade estatística (variância):</a:t>
            </a:r>
          </a:p>
          <a:p>
            <a:r>
              <a:rPr lang="pt-BR" dirty="0">
                <a:latin typeface="Arial Narrow" panose="020B0606020202030204" pitchFamily="34" charset="0"/>
              </a:rPr>
              <a:t>O</a:t>
            </a:r>
            <a:r>
              <a:rPr lang="pt-BR" b="1" dirty="0">
                <a:latin typeface="Arial Narrow" panose="020B0606020202030204" pitchFamily="34" charset="0"/>
              </a:rPr>
              <a:t> modelo Full </a:t>
            </a:r>
            <a:r>
              <a:rPr lang="pt-BR" dirty="0">
                <a:latin typeface="Arial Narrow" panose="020B0606020202030204" pitchFamily="34" charset="0"/>
              </a:rPr>
              <a:t>apresentou a maior estabilidade entre os modelos avaliados. Com menor oscilação (variância) e maior consistência e robustez entre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de </a:t>
            </a:r>
            <a:r>
              <a:rPr lang="pt-BR" dirty="0" err="1">
                <a:latin typeface="Arial Narrow" panose="020B0606020202030204" pitchFamily="34" charset="0"/>
              </a:rPr>
              <a:t>cross</a:t>
            </a:r>
            <a:r>
              <a:rPr lang="pt-BR" dirty="0">
                <a:latin typeface="Arial Narrow" panose="020B0606020202030204" pitchFamily="34" charset="0"/>
              </a:rPr>
              <a:t> </a:t>
            </a:r>
            <a:r>
              <a:rPr lang="pt-BR" dirty="0" err="1">
                <a:latin typeface="Arial Narrow" panose="020B0606020202030204" pitchFamily="34" charset="0"/>
              </a:rPr>
              <a:t>validation</a:t>
            </a:r>
            <a:r>
              <a:rPr lang="pt-BR" dirty="0">
                <a:latin typeface="Arial Narrow" panose="020B0606020202030204" pitchFamily="34" charset="0"/>
              </a:rPr>
              <a:t> e menor dependência da amostra de treino.</a:t>
            </a: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3275D2B8-B097-442B-B169-67F1B6827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564177"/>
              </p:ext>
            </p:extLst>
          </p:nvPr>
        </p:nvGraphicFramePr>
        <p:xfrm>
          <a:off x="165011" y="2016472"/>
          <a:ext cx="11861978" cy="1930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0106">
                  <a:extLst>
                    <a:ext uri="{9D8B030D-6E8A-4147-A177-3AD203B41FA5}">
                      <a16:colId xmlns:a16="http://schemas.microsoft.com/office/drawing/2014/main" val="557365536"/>
                    </a:ext>
                  </a:extLst>
                </a:gridCol>
                <a:gridCol w="787429">
                  <a:extLst>
                    <a:ext uri="{9D8B030D-6E8A-4147-A177-3AD203B41FA5}">
                      <a16:colId xmlns:a16="http://schemas.microsoft.com/office/drawing/2014/main" val="2209417148"/>
                    </a:ext>
                  </a:extLst>
                </a:gridCol>
                <a:gridCol w="889231">
                  <a:extLst>
                    <a:ext uri="{9D8B030D-6E8A-4147-A177-3AD203B41FA5}">
                      <a16:colId xmlns:a16="http://schemas.microsoft.com/office/drawing/2014/main" val="579814833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102416796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405509555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3459637595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59090510"/>
                    </a:ext>
                  </a:extLst>
                </a:gridCol>
                <a:gridCol w="940183">
                  <a:extLst>
                    <a:ext uri="{9D8B030D-6E8A-4147-A177-3AD203B41FA5}">
                      <a16:colId xmlns:a16="http://schemas.microsoft.com/office/drawing/2014/main" val="167109736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376359441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4184282113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1376689928"/>
                    </a:ext>
                  </a:extLst>
                </a:gridCol>
              </a:tblGrid>
              <a:tr h="4153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Descricao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AUC_TREINO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AUC_B2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DROP_B3_B1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OVERFIT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KS_B1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01473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Modelo 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somente com variáveis </a:t>
                      </a:r>
                      <a:r>
                        <a:rPr lang="pt-BR" sz="1400" u="none" strike="noStrike" dirty="0">
                          <a:effectLst/>
                        </a:rPr>
                        <a:t>baseline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Baseline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0,6586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0,658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0,6708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0,6875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0,0078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0,0295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0,0006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27,26%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0,0107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252976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Modelo com variáveis baseline e relevantes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Lean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0,6975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0,6964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0,716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0,7478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0,0073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0,0513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0,0011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38,29%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0,0727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294578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Modelo com variáveis baseline, relevantes e positivas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Clean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0,6985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0,6970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0,716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0,749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0,0063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0,052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38,50%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0,0730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876270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Modelo com todas as variáveis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Full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0,7003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0,6975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0,717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0,7514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0,0056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0,0539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0,0028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38,49%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0,0686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05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190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C5DB5920-E00B-4F76-87FB-954263E6CAEE}"/>
              </a:ext>
            </a:extLst>
          </p:cNvPr>
          <p:cNvSpPr txBox="1"/>
          <p:nvPr/>
        </p:nvSpPr>
        <p:spPr>
          <a:xfrm>
            <a:off x="97257" y="1010172"/>
            <a:ext cx="11995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escolha do modelo se deu após avaliação de qual modelo conseguiu melhor </a:t>
            </a:r>
            <a:r>
              <a:rPr lang="pt-BR" b="1" dirty="0">
                <a:latin typeface="Arial Narrow" panose="020B0606020202030204" pitchFamily="34" charset="0"/>
              </a:rPr>
              <a:t>discriminar inadimplência </a:t>
            </a:r>
            <a:r>
              <a:rPr lang="pt-BR" dirty="0">
                <a:latin typeface="Arial Narrow" panose="020B0606020202030204" pitchFamily="34" charset="0"/>
              </a:rPr>
              <a:t>mantendo de equilíbrio e controle de viés e variância, estabilidade temporal, generalização, robustez, </a:t>
            </a:r>
            <a:r>
              <a:rPr lang="pt-BR" dirty="0" err="1">
                <a:latin typeface="Arial Narrow" panose="020B0606020202030204" pitchFamily="34" charset="0"/>
              </a:rPr>
              <a:t>interpretabilidade</a:t>
            </a:r>
            <a:r>
              <a:rPr lang="pt-BR" dirty="0">
                <a:latin typeface="Arial Narrow" panose="020B0606020202030204" pitchFamily="34" charset="0"/>
              </a:rPr>
              <a:t> e complexidade dos três modelos (Full, Clean, Lean) candidatos.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2EAB7805-E23B-43B9-A638-9935B5705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6" y="127375"/>
            <a:ext cx="8529043" cy="755970"/>
          </a:xfrm>
          <a:prstGeom prst="rect">
            <a:avLst/>
          </a:prstGeom>
        </p:spPr>
      </p:pic>
      <p:sp>
        <p:nvSpPr>
          <p:cNvPr id="40" name="CaixaDeTexto 39">
            <a:extLst>
              <a:ext uri="{FF2B5EF4-FFF2-40B4-BE49-F238E27FC236}">
                <a16:creationId xmlns:a16="http://schemas.microsoft.com/office/drawing/2014/main" id="{9FF21D59-1AAE-4145-9FD5-E4D015A7C865}"/>
              </a:ext>
            </a:extLst>
          </p:cNvPr>
          <p:cNvSpPr txBox="1"/>
          <p:nvPr/>
        </p:nvSpPr>
        <p:spPr>
          <a:xfrm>
            <a:off x="136695" y="4072434"/>
            <a:ext cx="3438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Critérios de Avaliação:</a:t>
            </a:r>
            <a:endParaRPr lang="pt-BR" sz="1750" dirty="0">
              <a:latin typeface="Arial Narrow" panose="020B0606020202030204" pitchFamily="34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5F97350-330C-4AFB-8557-5F7E14AB1C6F}"/>
              </a:ext>
            </a:extLst>
          </p:cNvPr>
          <p:cNvSpPr txBox="1"/>
          <p:nvPr/>
        </p:nvSpPr>
        <p:spPr>
          <a:xfrm>
            <a:off x="96470" y="4391813"/>
            <a:ext cx="120947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>
                <a:latin typeface="Arial Narrow" panose="020B0606020202030204" pitchFamily="34" charset="0"/>
              </a:rPr>
              <a:t>Estabilidade e Robustez temporal/populacional</a:t>
            </a:r>
          </a:p>
          <a:p>
            <a:r>
              <a:rPr lang="pt-BR" dirty="0">
                <a:latin typeface="Arial Narrow" panose="020B0606020202030204" pitchFamily="34" charset="0"/>
              </a:rPr>
              <a:t>Avaliou-se o trade-off entre </a:t>
            </a:r>
            <a:r>
              <a:rPr lang="pt-BR" b="1" dirty="0">
                <a:latin typeface="Arial Narrow" panose="020B0606020202030204" pitchFamily="34" charset="0"/>
              </a:rPr>
              <a:t>DROP_B3_B1 </a:t>
            </a:r>
            <a:r>
              <a:rPr lang="pt-BR" dirty="0">
                <a:latin typeface="Arial Narrow" panose="020B0606020202030204" pitchFamily="34" charset="0"/>
              </a:rPr>
              <a:t>(perda da capacidade dos modelos separarem bons e maus pagadores entre períodos/populações) e </a:t>
            </a:r>
            <a:r>
              <a:rPr lang="pt-BR" b="1" dirty="0">
                <a:latin typeface="Arial Narrow" panose="020B0606020202030204" pitchFamily="34" charset="0"/>
              </a:rPr>
              <a:t>PSI </a:t>
            </a:r>
            <a:r>
              <a:rPr lang="pt-BR" dirty="0">
                <a:latin typeface="Arial Narrow" panose="020B0606020202030204" pitchFamily="34" charset="0"/>
              </a:rPr>
              <a:t>que avalia a estabilidade da distribuição dos scores previstos entre as populações de desenvolvimento e teste e possíveis mudanças de perfil da carteira (</a:t>
            </a:r>
            <a:r>
              <a:rPr lang="pt-BR" dirty="0" err="1">
                <a:latin typeface="Arial Narrow" panose="020B0606020202030204" pitchFamily="34" charset="0"/>
              </a:rPr>
              <a:t>population</a:t>
            </a:r>
            <a:r>
              <a:rPr lang="pt-BR" dirty="0">
                <a:latin typeface="Arial Narrow" panose="020B0606020202030204" pitchFamily="34" charset="0"/>
              </a:rPr>
              <a:t> </a:t>
            </a:r>
            <a:r>
              <a:rPr lang="pt-BR" dirty="0" err="1">
                <a:latin typeface="Arial Narrow" panose="020B0606020202030204" pitchFamily="34" charset="0"/>
              </a:rPr>
              <a:t>drift</a:t>
            </a:r>
            <a:r>
              <a:rPr lang="pt-BR" dirty="0">
                <a:latin typeface="Arial Narrow" panose="020B0606020202030204" pitchFamily="34" charset="0"/>
              </a:rPr>
              <a:t>) envolvido na escolha do modelo Full ou Clean . Considerando também o </a:t>
            </a:r>
            <a:r>
              <a:rPr lang="pt-BR" b="1" dirty="0">
                <a:latin typeface="Arial Narrow" panose="020B0606020202030204" pitchFamily="34" charset="0"/>
              </a:rPr>
              <a:t>menor DROP_B3_B1 </a:t>
            </a:r>
            <a:r>
              <a:rPr lang="pt-BR" dirty="0">
                <a:latin typeface="Arial Narrow" panose="020B0606020202030204" pitchFamily="34" charset="0"/>
              </a:rPr>
              <a:t>entre os modelos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dirty="0">
                <a:latin typeface="Arial Narrow" panose="020B0606020202030204" pitchFamily="34" charset="0"/>
              </a:rPr>
              <a:t>que indica o modelo Clean como melhor candidato, versus o controle de </a:t>
            </a:r>
            <a:r>
              <a:rPr lang="pt-BR" b="1" dirty="0">
                <a:latin typeface="Arial Narrow" panose="020B0606020202030204" pitchFamily="34" charset="0"/>
              </a:rPr>
              <a:t>PSI</a:t>
            </a:r>
            <a:r>
              <a:rPr lang="pt-BR" dirty="0">
                <a:latin typeface="Arial Narrow" panose="020B0606020202030204" pitchFamily="34" charset="0"/>
              </a:rPr>
              <a:t> considera a mudança de scores da população..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188D632-C93F-49F8-8AEE-BAE3885F83C5}"/>
              </a:ext>
            </a:extLst>
          </p:cNvPr>
          <p:cNvSpPr txBox="1"/>
          <p:nvPr/>
        </p:nvSpPr>
        <p:spPr>
          <a:xfrm>
            <a:off x="47842" y="5869141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>
                <a:latin typeface="Arial Narrow" panose="020B0606020202030204" pitchFamily="34" charset="0"/>
              </a:rPr>
              <a:t>Complexidade número/relevância das variáveis.</a:t>
            </a:r>
          </a:p>
          <a:p>
            <a:r>
              <a:rPr lang="pt-BR" dirty="0">
                <a:latin typeface="Arial Narrow" panose="020B0606020202030204" pitchFamily="34" charset="0"/>
              </a:rPr>
              <a:t>Considera o número de variáveis nos três modelos e se o aumento de complexidade se justifica pela existência de significância estatística de cada uma delas no modelo e contribuição da variável para discriminação (KS);</a:t>
            </a:r>
          </a:p>
        </p:txBody>
      </p:sp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FFB14849-3992-4A9B-BE3E-B8B6263C1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285257"/>
              </p:ext>
            </p:extLst>
          </p:nvPr>
        </p:nvGraphicFramePr>
        <p:xfrm>
          <a:off x="165011" y="2016472"/>
          <a:ext cx="11861978" cy="1930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0106">
                  <a:extLst>
                    <a:ext uri="{9D8B030D-6E8A-4147-A177-3AD203B41FA5}">
                      <a16:colId xmlns:a16="http://schemas.microsoft.com/office/drawing/2014/main" val="557365536"/>
                    </a:ext>
                  </a:extLst>
                </a:gridCol>
                <a:gridCol w="787429">
                  <a:extLst>
                    <a:ext uri="{9D8B030D-6E8A-4147-A177-3AD203B41FA5}">
                      <a16:colId xmlns:a16="http://schemas.microsoft.com/office/drawing/2014/main" val="2209417148"/>
                    </a:ext>
                  </a:extLst>
                </a:gridCol>
                <a:gridCol w="889231">
                  <a:extLst>
                    <a:ext uri="{9D8B030D-6E8A-4147-A177-3AD203B41FA5}">
                      <a16:colId xmlns:a16="http://schemas.microsoft.com/office/drawing/2014/main" val="579814833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102416796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405509555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3459637595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59090510"/>
                    </a:ext>
                  </a:extLst>
                </a:gridCol>
                <a:gridCol w="940183">
                  <a:extLst>
                    <a:ext uri="{9D8B030D-6E8A-4147-A177-3AD203B41FA5}">
                      <a16:colId xmlns:a16="http://schemas.microsoft.com/office/drawing/2014/main" val="167109736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376359441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4184282113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1376689928"/>
                    </a:ext>
                  </a:extLst>
                </a:gridCol>
              </a:tblGrid>
              <a:tr h="4153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Descricao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AUC_TREINO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AUC_B2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DROP_B3_B1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OVERFIT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KS_B1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01473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Modelo 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somente com variáveis </a:t>
                      </a:r>
                      <a:r>
                        <a:rPr lang="pt-BR" sz="1400" u="none" strike="noStrike" dirty="0">
                          <a:effectLst/>
                        </a:rPr>
                        <a:t>baseline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Baseline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0,6586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0,658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0,6708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0,6875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0,0078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0,0295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0,0006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27,26%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0,0107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252976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Modelo com variáveis baseline e relevantes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Lean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0,6975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0,6964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0,716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0,7478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0,0073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0,0513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0,0011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38,29%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0,0727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294578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Modelo com variáveis baseline, relevantes e positivas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Clean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0,6985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0,6970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0,716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0,749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0,0063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0,052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38,50%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0,0730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876270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Modelo com todas as variáveis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Full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0,7003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0,6975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0,717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0,7514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0,0056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0,0539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0,0028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38,49%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0,0686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05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706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C5DB5920-E00B-4F76-87FB-954263E6CAEE}"/>
              </a:ext>
            </a:extLst>
          </p:cNvPr>
          <p:cNvSpPr txBox="1"/>
          <p:nvPr/>
        </p:nvSpPr>
        <p:spPr>
          <a:xfrm>
            <a:off x="97257" y="1010172"/>
            <a:ext cx="11995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escolha do modelo se deu após avaliação de qual modelo conseguiu melhor </a:t>
            </a:r>
            <a:r>
              <a:rPr lang="pt-BR" b="1" dirty="0">
                <a:latin typeface="Arial Narrow" panose="020B0606020202030204" pitchFamily="34" charset="0"/>
              </a:rPr>
              <a:t>discriminar inadimplência </a:t>
            </a:r>
            <a:r>
              <a:rPr lang="pt-BR" dirty="0">
                <a:latin typeface="Arial Narrow" panose="020B0606020202030204" pitchFamily="34" charset="0"/>
              </a:rPr>
              <a:t>mantendo de equilíbrio e controle de viés e variância, estabilidade temporal, generalização, robustez, </a:t>
            </a:r>
            <a:r>
              <a:rPr lang="pt-BR" dirty="0" err="1">
                <a:latin typeface="Arial Narrow" panose="020B0606020202030204" pitchFamily="34" charset="0"/>
              </a:rPr>
              <a:t>interpretabilidade</a:t>
            </a:r>
            <a:r>
              <a:rPr lang="pt-BR" dirty="0">
                <a:latin typeface="Arial Narrow" panose="020B0606020202030204" pitchFamily="34" charset="0"/>
              </a:rPr>
              <a:t> e complexidade dos três modelos (Full, Clean, Lean) candidatos.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2EAB7805-E23B-43B9-A638-9935B5705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6" y="127375"/>
            <a:ext cx="8529043" cy="755970"/>
          </a:xfrm>
          <a:prstGeom prst="rect">
            <a:avLst/>
          </a:prstGeom>
        </p:spPr>
      </p:pic>
      <p:sp>
        <p:nvSpPr>
          <p:cNvPr id="40" name="CaixaDeTexto 39">
            <a:extLst>
              <a:ext uri="{FF2B5EF4-FFF2-40B4-BE49-F238E27FC236}">
                <a16:creationId xmlns:a16="http://schemas.microsoft.com/office/drawing/2014/main" id="{9FF21D59-1AAE-4145-9FD5-E4D015A7C865}"/>
              </a:ext>
            </a:extLst>
          </p:cNvPr>
          <p:cNvSpPr txBox="1"/>
          <p:nvPr/>
        </p:nvSpPr>
        <p:spPr>
          <a:xfrm>
            <a:off x="97255" y="3991250"/>
            <a:ext cx="3438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Critérios de Avaliação:</a:t>
            </a:r>
            <a:endParaRPr lang="pt-BR" sz="1750" dirty="0">
              <a:latin typeface="Arial Narrow" panose="020B0606020202030204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8DBE0F5-0594-4F1F-B5CD-9F0B6D10799F}"/>
              </a:ext>
            </a:extLst>
          </p:cNvPr>
          <p:cNvSpPr txBox="1"/>
          <p:nvPr/>
        </p:nvSpPr>
        <p:spPr>
          <a:xfrm>
            <a:off x="97255" y="4420036"/>
            <a:ext cx="119959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>
                <a:latin typeface="Arial Narrow" panose="020B0606020202030204" pitchFamily="34" charset="0"/>
              </a:rPr>
              <a:t>Viés/amostra (estabilidade entre </a:t>
            </a:r>
            <a:r>
              <a:rPr lang="pt-BR" b="1" dirty="0" err="1">
                <a:latin typeface="Arial Narrow" panose="020B0606020202030204" pitchFamily="34" charset="0"/>
              </a:rPr>
              <a:t>folds</a:t>
            </a:r>
            <a:r>
              <a:rPr lang="pt-BR" b="1" dirty="0">
                <a:latin typeface="Arial Narrow" panose="020B0606020202030204" pitchFamily="34" charset="0"/>
              </a:rPr>
              <a:t> e PSI)</a:t>
            </a:r>
          </a:p>
          <a:p>
            <a:r>
              <a:rPr lang="pt-BR" sz="1200" b="1" dirty="0">
                <a:latin typeface="Arial Narrow" panose="020B0606020202030204" pitchFamily="34" charset="0"/>
              </a:rPr>
              <a:t> </a:t>
            </a:r>
          </a:p>
          <a:p>
            <a:r>
              <a:rPr lang="pt-BR" dirty="0">
                <a:latin typeface="Arial Narrow" panose="020B0606020202030204" pitchFamily="34" charset="0"/>
              </a:rPr>
              <a:t>A avaliação de </a:t>
            </a:r>
            <a:r>
              <a:rPr lang="pt-BR" b="1" dirty="0">
                <a:latin typeface="Arial Narrow" panose="020B0606020202030204" pitchFamily="34" charset="0"/>
              </a:rPr>
              <a:t>STD_CV </a:t>
            </a:r>
            <a:r>
              <a:rPr lang="pt-BR" dirty="0">
                <a:latin typeface="Arial Narrow" panose="020B0606020202030204" pitchFamily="34" charset="0"/>
              </a:rPr>
              <a:t>representa o desvio-padrão do AUC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e foi usado para avaliar a estabilidade e dependência da amostra ao realizarmos a validação cruzada com 10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para treino e validação. </a:t>
            </a:r>
          </a:p>
          <a:p>
            <a:r>
              <a:rPr lang="pt-BR" dirty="0">
                <a:latin typeface="Arial Narrow" panose="020B0606020202030204" pitchFamily="34" charset="0"/>
              </a:rPr>
              <a:t>O </a:t>
            </a:r>
            <a:r>
              <a:rPr lang="pt-BR" b="1" dirty="0">
                <a:latin typeface="Arial Narrow" panose="020B0606020202030204" pitchFamily="34" charset="0"/>
              </a:rPr>
              <a:t>modelo Full </a:t>
            </a:r>
            <a:r>
              <a:rPr lang="pt-BR" dirty="0">
                <a:latin typeface="Arial Narrow" panose="020B0606020202030204" pitchFamily="34" charset="0"/>
              </a:rPr>
              <a:t>apresentou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dirty="0">
                <a:latin typeface="Arial Narrow" panose="020B0606020202030204" pitchFamily="34" charset="0"/>
              </a:rPr>
              <a:t>o menor valor de </a:t>
            </a:r>
            <a:r>
              <a:rPr lang="pt-BR" b="1" dirty="0">
                <a:latin typeface="Arial Narrow" panose="020B0606020202030204" pitchFamily="34" charset="0"/>
              </a:rPr>
              <a:t>STD_CV</a:t>
            </a:r>
            <a:r>
              <a:rPr lang="pt-BR" dirty="0">
                <a:latin typeface="Arial Narrow" panose="020B0606020202030204" pitchFamily="34" charset="0"/>
              </a:rPr>
              <a:t> e entendeu-se que ele apresenta a maior consistência e menor dependência de uma amostra específica e uma menor variabilidade do desempenho entre os </a:t>
            </a:r>
            <a:r>
              <a:rPr lang="pt-BR" dirty="0" err="1">
                <a:latin typeface="Arial Narrow" panose="020B0606020202030204" pitchFamily="34" charset="0"/>
              </a:rPr>
              <a:t>folds</a:t>
            </a:r>
            <a:r>
              <a:rPr lang="pt-BR" dirty="0">
                <a:latin typeface="Arial Narrow" panose="020B0606020202030204" pitchFamily="34" charset="0"/>
              </a:rPr>
              <a:t> da validação cruzada, sugerindo maior consistência, robustez e menor dependência de uma amostra específica.</a:t>
            </a: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C0750CD7-EAAB-4AD5-9F0B-C5EF147E3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285257"/>
              </p:ext>
            </p:extLst>
          </p:nvPr>
        </p:nvGraphicFramePr>
        <p:xfrm>
          <a:off x="165011" y="2016472"/>
          <a:ext cx="11861978" cy="1930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0106">
                  <a:extLst>
                    <a:ext uri="{9D8B030D-6E8A-4147-A177-3AD203B41FA5}">
                      <a16:colId xmlns:a16="http://schemas.microsoft.com/office/drawing/2014/main" val="557365536"/>
                    </a:ext>
                  </a:extLst>
                </a:gridCol>
                <a:gridCol w="787429">
                  <a:extLst>
                    <a:ext uri="{9D8B030D-6E8A-4147-A177-3AD203B41FA5}">
                      <a16:colId xmlns:a16="http://schemas.microsoft.com/office/drawing/2014/main" val="2209417148"/>
                    </a:ext>
                  </a:extLst>
                </a:gridCol>
                <a:gridCol w="889231">
                  <a:extLst>
                    <a:ext uri="{9D8B030D-6E8A-4147-A177-3AD203B41FA5}">
                      <a16:colId xmlns:a16="http://schemas.microsoft.com/office/drawing/2014/main" val="579814833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102416796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405509555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3459637595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59090510"/>
                    </a:ext>
                  </a:extLst>
                </a:gridCol>
                <a:gridCol w="940183">
                  <a:extLst>
                    <a:ext uri="{9D8B030D-6E8A-4147-A177-3AD203B41FA5}">
                      <a16:colId xmlns:a16="http://schemas.microsoft.com/office/drawing/2014/main" val="167109736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376359441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4184282113"/>
                    </a:ext>
                  </a:extLst>
                </a:gridCol>
                <a:gridCol w="752147">
                  <a:extLst>
                    <a:ext uri="{9D8B030D-6E8A-4147-A177-3AD203B41FA5}">
                      <a16:colId xmlns:a16="http://schemas.microsoft.com/office/drawing/2014/main" val="1376689928"/>
                    </a:ext>
                  </a:extLst>
                </a:gridCol>
              </a:tblGrid>
              <a:tr h="4153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Descricao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AUC_TREINO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AUC_B2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DROP_B3_B1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OVERFIT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KS_B1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01473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Modelo </a:t>
                      </a:r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somente com variáveis </a:t>
                      </a:r>
                      <a:r>
                        <a:rPr lang="pt-BR" sz="1400" u="none" strike="noStrike" dirty="0">
                          <a:effectLst/>
                        </a:rPr>
                        <a:t>baseline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Baseline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0,6586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0,658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0,6708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0,6875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0,0078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0,0295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0,0006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27,26%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0,0107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252976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Modelo com variáveis baseline e relevantes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Lean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0,6975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0,6964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0,716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0,7478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0,0073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0,0513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0,0011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38,29%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0,0727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294578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Modelo com variáveis baseline, relevantes e positivas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Clean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0,6985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0,6970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0,716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0,749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0,0063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0,052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38,50%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0,0730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876270"/>
                  </a:ext>
                </a:extLst>
              </a:tr>
              <a:tr h="3787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Modelo com todas as variáveis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Full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0,7003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0,6975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0,717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0,7514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0,0056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0,0539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0,0028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38,49%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0,0686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05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954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Escolha Final do Modelo Baseline de Regressão Logística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78E372F-0677-4F8E-94DC-38A438FA3003}"/>
              </a:ext>
            </a:extLst>
          </p:cNvPr>
          <p:cNvSpPr txBox="1"/>
          <p:nvPr/>
        </p:nvSpPr>
        <p:spPr>
          <a:xfrm>
            <a:off x="97258" y="1452738"/>
            <a:ext cx="11995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comparação entre os modelos Baseline, Lean, Clean e Full foi conduzida a partir de uma avaliação multidimensional, considerando não apenas o desempenho preditivo, mas também critérios relacionados à robustez estatística, estabilidade e capacidade de generalização.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F703468-720F-4DCB-9E52-B3F26227B252}"/>
              </a:ext>
            </a:extLst>
          </p:cNvPr>
          <p:cNvSpPr txBox="1"/>
          <p:nvPr/>
        </p:nvSpPr>
        <p:spPr>
          <a:xfrm>
            <a:off x="97258" y="2121405"/>
            <a:ext cx="9857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decisão buscou selecionar o modelo que apresentasse o melhor equilíbrio entre: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3F9EDB3-8A55-4365-91F1-03939EEC9374}"/>
              </a:ext>
            </a:extLst>
          </p:cNvPr>
          <p:cNvSpPr txBox="1"/>
          <p:nvPr/>
        </p:nvSpPr>
        <p:spPr>
          <a:xfrm>
            <a:off x="103213" y="989428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Estrutura de Avaliação dos Modelos 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5D8ED9B-7470-4B69-BBE6-74977461E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58490"/>
              </p:ext>
            </p:extLst>
          </p:nvPr>
        </p:nvGraphicFramePr>
        <p:xfrm>
          <a:off x="387699" y="2562379"/>
          <a:ext cx="11519598" cy="4203770"/>
        </p:xfrm>
        <a:graphic>
          <a:graphicData uri="http://schemas.openxmlformats.org/drawingml/2006/table">
            <a:tbl>
              <a:tblPr/>
              <a:tblGrid>
                <a:gridCol w="3647873">
                  <a:extLst>
                    <a:ext uri="{9D8B030D-6E8A-4147-A177-3AD203B41FA5}">
                      <a16:colId xmlns:a16="http://schemas.microsoft.com/office/drawing/2014/main" val="1115566463"/>
                    </a:ext>
                  </a:extLst>
                </a:gridCol>
                <a:gridCol w="4712562">
                  <a:extLst>
                    <a:ext uri="{9D8B030D-6E8A-4147-A177-3AD203B41FA5}">
                      <a16:colId xmlns:a16="http://schemas.microsoft.com/office/drawing/2014/main" val="3651656014"/>
                    </a:ext>
                  </a:extLst>
                </a:gridCol>
                <a:gridCol w="3159163">
                  <a:extLst>
                    <a:ext uri="{9D8B030D-6E8A-4147-A177-3AD203B41FA5}">
                      <a16:colId xmlns:a16="http://schemas.microsoft.com/office/drawing/2014/main" val="3997233401"/>
                    </a:ext>
                  </a:extLst>
                </a:gridCol>
              </a:tblGrid>
              <a:tr h="3114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Dimensão avaliada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 que foi avaliado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Métricas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41414"/>
                  </a:ext>
                </a:extLst>
              </a:tr>
              <a:tr h="7784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Capacidade de discriminação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Capacidade do modelo de distinguir corretamente clientes adimplentes e inadimplentes, maximizando a separação entre as distribuições de risco das duas classes.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AUC_B1 e KS_B1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531115"/>
                  </a:ext>
                </a:extLst>
              </a:tr>
              <a:tr h="7784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Capacidade de generalização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Preservação do desempenho em dados não utilizados no treinamento, indicando ausência de </a:t>
                      </a:r>
                      <a:r>
                        <a:rPr lang="pt-BR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sobreajuste</a:t>
                      </a: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pt-BR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overfitting</a:t>
                      </a: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) e boa capacidade de extrapolação.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AUC_TREINO, AUC_CV e OVERFIT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318506"/>
                  </a:ext>
                </a:extLst>
              </a:tr>
              <a:tr h="7784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Estabilidade estatística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Consistência do desempenho do modelo sob diferentes particionamentos da amostra, reduzindo a dependência de uma divisão específica dos dados.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STD_CV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377070"/>
                  </a:ext>
                </a:extLst>
              </a:tr>
              <a:tr h="7784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Robustez temporal e populacional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Manutenção do desempenho e da distribuição dos scores quando o modelo é aplicado em uma população e período distintos daqueles utilizados no treinamento.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DROP_B3_B1 e PSI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867248"/>
                  </a:ext>
                </a:extLst>
              </a:tr>
              <a:tr h="7784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Complexidade do modelo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Relação entre o ganho incremental de desempenho e o aumento da complexidade decorrente da incorporação de novas variáveis ao modelo.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Número de variáveis, AUC_B1, KS_B1 e resultados da etapa de seleção de </a:t>
                      </a:r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309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244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Escolha Final do Modelo Baseline de Regressão Logística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78E372F-0677-4F8E-94DC-38A438FA3003}"/>
              </a:ext>
            </a:extLst>
          </p:cNvPr>
          <p:cNvSpPr txBox="1"/>
          <p:nvPr/>
        </p:nvSpPr>
        <p:spPr>
          <a:xfrm>
            <a:off x="97258" y="1452738"/>
            <a:ext cx="11995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comparação entre os modelos Baseline, Lean, Clean e Full foi conduzida a partir de uma avaliação multidimensional, considerando não apenas o desempenho preditivo, mas também critérios relacionados à robustez estatística, estabilidade e capacidade de generalização.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F703468-720F-4DCB-9E52-B3F26227B252}"/>
              </a:ext>
            </a:extLst>
          </p:cNvPr>
          <p:cNvSpPr txBox="1"/>
          <p:nvPr/>
        </p:nvSpPr>
        <p:spPr>
          <a:xfrm>
            <a:off x="97258" y="2121405"/>
            <a:ext cx="9857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decisão buscou selecionar o modelo que apresentasse o melhor equilíbrio entre: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3F9EDB3-8A55-4365-91F1-03939EEC9374}"/>
              </a:ext>
            </a:extLst>
          </p:cNvPr>
          <p:cNvSpPr txBox="1"/>
          <p:nvPr/>
        </p:nvSpPr>
        <p:spPr>
          <a:xfrm>
            <a:off x="103213" y="989428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Estrutura de Avaliação dos Modelos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4DE8B4-5AA2-4EF1-BEEA-F3117A17D69E}"/>
              </a:ext>
            </a:extLst>
          </p:cNvPr>
          <p:cNvSpPr txBox="1"/>
          <p:nvPr/>
        </p:nvSpPr>
        <p:spPr>
          <a:xfrm>
            <a:off x="97258" y="2535534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Capacidade de Discriminação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372105-A127-4B58-BB27-C9A02595C9AD}"/>
              </a:ext>
            </a:extLst>
          </p:cNvPr>
          <p:cNvSpPr txBox="1"/>
          <p:nvPr/>
        </p:nvSpPr>
        <p:spPr>
          <a:xfrm>
            <a:off x="97258" y="2976231"/>
            <a:ext cx="11639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 enriquecimento progressivo do conjunto de variáveis promoveu ganhos consistentes na capacidade de discriminar clientes adimplentes e inadimplentes.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DEA5DF9-EF3B-4249-AD3B-9AC4B42D2B16}"/>
              </a:ext>
            </a:extLst>
          </p:cNvPr>
          <p:cNvSpPr txBox="1"/>
          <p:nvPr/>
        </p:nvSpPr>
        <p:spPr>
          <a:xfrm>
            <a:off x="97258" y="3579856"/>
            <a:ext cx="11786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Em comparação ao modelo Baseline, os modelos </a:t>
            </a:r>
            <a:r>
              <a:rPr lang="pt-BR" b="1" dirty="0">
                <a:latin typeface="Arial Narrow" panose="020B0606020202030204" pitchFamily="34" charset="0"/>
              </a:rPr>
              <a:t>Lean, Clean e Full </a:t>
            </a:r>
            <a:r>
              <a:rPr lang="pt-BR" dirty="0">
                <a:latin typeface="Arial Narrow" panose="020B0606020202030204" pitchFamily="34" charset="0"/>
              </a:rPr>
              <a:t>apresentaram aumentos sucessivos em </a:t>
            </a:r>
            <a:r>
              <a:rPr lang="pt-BR" b="1" i="1" dirty="0">
                <a:latin typeface="Arial Narrow" panose="020B0606020202030204" pitchFamily="34" charset="0"/>
              </a:rPr>
              <a:t>AUC e KS, indicando que as variáveis provenientes do processo de </a:t>
            </a:r>
            <a:r>
              <a:rPr lang="pt-BR" b="1" i="1" dirty="0" err="1">
                <a:latin typeface="Arial Narrow" panose="020B0606020202030204" pitchFamily="34" charset="0"/>
              </a:rPr>
              <a:t>feature</a:t>
            </a:r>
            <a:r>
              <a:rPr lang="pt-BR" b="1" i="1" dirty="0">
                <a:latin typeface="Arial Narrow" panose="020B0606020202030204" pitchFamily="34" charset="0"/>
              </a:rPr>
              <a:t> </a:t>
            </a:r>
            <a:r>
              <a:rPr lang="pt-BR" b="1" i="1" dirty="0" err="1">
                <a:latin typeface="Arial Narrow" panose="020B0606020202030204" pitchFamily="34" charset="0"/>
              </a:rPr>
              <a:t>engineering</a:t>
            </a:r>
            <a:r>
              <a:rPr lang="pt-BR" b="1" i="1" dirty="0">
                <a:latin typeface="Arial Narrow" panose="020B0606020202030204" pitchFamily="34" charset="0"/>
              </a:rPr>
              <a:t> agregaram informação preditiva ao modelo.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6BCE078-4744-4183-9401-95A157787B09}"/>
              </a:ext>
            </a:extLst>
          </p:cNvPr>
          <p:cNvSpPr txBox="1"/>
          <p:nvPr/>
        </p:nvSpPr>
        <p:spPr>
          <a:xfrm>
            <a:off x="115937" y="4219070"/>
            <a:ext cx="11533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 </a:t>
            </a:r>
            <a:r>
              <a:rPr lang="pt-BR" b="1" dirty="0">
                <a:latin typeface="Arial Narrow" panose="020B0606020202030204" pitchFamily="34" charset="0"/>
              </a:rPr>
              <a:t>modelo Full </a:t>
            </a:r>
            <a:r>
              <a:rPr lang="pt-BR" dirty="0">
                <a:latin typeface="Arial Narrow" panose="020B0606020202030204" pitchFamily="34" charset="0"/>
              </a:rPr>
              <a:t>apresentou o maior desempenho tanto em </a:t>
            </a:r>
            <a:r>
              <a:rPr lang="pt-BR" b="1" dirty="0">
                <a:latin typeface="Arial Narrow" panose="020B0606020202030204" pitchFamily="34" charset="0"/>
              </a:rPr>
              <a:t>validação</a:t>
            </a:r>
            <a:r>
              <a:rPr lang="pt-BR" dirty="0">
                <a:latin typeface="Arial Narrow" panose="020B0606020202030204" pitchFamily="34" charset="0"/>
              </a:rPr>
              <a:t> quanto na </a:t>
            </a:r>
            <a:r>
              <a:rPr lang="pt-BR" b="1" i="1" dirty="0">
                <a:latin typeface="Arial Narrow" panose="020B0606020202030204" pitchFamily="34" charset="0"/>
              </a:rPr>
              <a:t>base out-</a:t>
            </a:r>
            <a:r>
              <a:rPr lang="pt-BR" b="1" i="1" dirty="0" err="1">
                <a:latin typeface="Arial Narrow" panose="020B0606020202030204" pitchFamily="34" charset="0"/>
              </a:rPr>
              <a:t>of</a:t>
            </a:r>
            <a:r>
              <a:rPr lang="pt-BR" b="1" i="1" dirty="0">
                <a:latin typeface="Arial Narrow" panose="020B0606020202030204" pitchFamily="34" charset="0"/>
              </a:rPr>
              <a:t>-time (AUC_B1 = 0,7514; KS = 38,49%).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D54A32F-706F-4D4B-92FF-6F55B75368A6}"/>
              </a:ext>
            </a:extLst>
          </p:cNvPr>
          <p:cNvSpPr txBox="1"/>
          <p:nvPr/>
        </p:nvSpPr>
        <p:spPr>
          <a:xfrm>
            <a:off x="115937" y="4639773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Capacidade de Generalização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07F89CF-7F9D-473E-803D-B9F291CE3FAE}"/>
              </a:ext>
            </a:extLst>
          </p:cNvPr>
          <p:cNvSpPr txBox="1"/>
          <p:nvPr/>
        </p:nvSpPr>
        <p:spPr>
          <a:xfrm>
            <a:off x="97258" y="6350536"/>
            <a:ext cx="11680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Embora o modelo Lean apresente o menor OVERFIT absoluto, os quatro modelos demonstram excelente capacidade de generalização.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090F9A5-055B-4694-B159-69C7BFEF1D71}"/>
              </a:ext>
            </a:extLst>
          </p:cNvPr>
          <p:cNvSpPr txBox="1"/>
          <p:nvPr/>
        </p:nvSpPr>
        <p:spPr>
          <a:xfrm>
            <a:off x="97260" y="5128268"/>
            <a:ext cx="11847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comparação entre </a:t>
            </a:r>
            <a:r>
              <a:rPr lang="pt-BR" b="1" i="1" dirty="0">
                <a:latin typeface="Arial Narrow" panose="020B0606020202030204" pitchFamily="34" charset="0"/>
              </a:rPr>
              <a:t>AUC_TREINO e AUC_CV </a:t>
            </a:r>
            <a:r>
              <a:rPr lang="pt-BR" dirty="0">
                <a:latin typeface="Arial Narrow" panose="020B0606020202030204" pitchFamily="34" charset="0"/>
              </a:rPr>
              <a:t>demonstrou que </a:t>
            </a:r>
            <a:r>
              <a:rPr lang="pt-BR" b="1" dirty="0">
                <a:latin typeface="Arial Narrow" panose="020B0606020202030204" pitchFamily="34" charset="0"/>
              </a:rPr>
              <a:t>todos os modelos mantiveram desempenho semelhante entre treino e validação.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088B46D-B7F2-4DCE-B37C-4AA94EDC0E9C}"/>
              </a:ext>
            </a:extLst>
          </p:cNvPr>
          <p:cNvSpPr txBox="1"/>
          <p:nvPr/>
        </p:nvSpPr>
        <p:spPr>
          <a:xfrm>
            <a:off x="97259" y="5725335"/>
            <a:ext cx="11847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Os valores reduzidos de OVERFIT indicam ausência de </a:t>
            </a:r>
            <a:r>
              <a:rPr lang="pt-BR" dirty="0" err="1">
                <a:latin typeface="Arial Narrow" panose="020B0606020202030204" pitchFamily="34" charset="0"/>
              </a:rPr>
              <a:t>sobreajuste</a:t>
            </a:r>
            <a:r>
              <a:rPr lang="pt-BR" dirty="0">
                <a:latin typeface="Arial Narrow" panose="020B0606020202030204" pitchFamily="34" charset="0"/>
              </a:rPr>
              <a:t> relevante, evidenciando que o ganho obtido não ficou restrito aos dados utilizados no treinamento.</a:t>
            </a:r>
          </a:p>
        </p:txBody>
      </p:sp>
    </p:spTree>
    <p:extLst>
      <p:ext uri="{BB962C8B-B14F-4D97-AF65-F5344CB8AC3E}">
        <p14:creationId xmlns:p14="http://schemas.microsoft.com/office/powerpoint/2010/main" val="2303226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Escolha Final do Modelo Baseline de Regressão Logística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78E372F-0677-4F8E-94DC-38A438FA3003}"/>
              </a:ext>
            </a:extLst>
          </p:cNvPr>
          <p:cNvSpPr txBox="1"/>
          <p:nvPr/>
        </p:nvSpPr>
        <p:spPr>
          <a:xfrm>
            <a:off x="97258" y="1452738"/>
            <a:ext cx="11995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comparação entre os modelos Baseline, Lean, Clean e Full foi conduzida a partir de uma avaliação multidimensional, considerando não apenas o desempenho preditivo, mas também critérios relacionados à robustez estatística, estabilidade e capacidade de generalização.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F703468-720F-4DCB-9E52-B3F26227B252}"/>
              </a:ext>
            </a:extLst>
          </p:cNvPr>
          <p:cNvSpPr txBox="1"/>
          <p:nvPr/>
        </p:nvSpPr>
        <p:spPr>
          <a:xfrm>
            <a:off x="97258" y="2121405"/>
            <a:ext cx="9857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decisão buscou selecionar o modelo que apresentasse o melhor equilíbrio entre: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3F9EDB3-8A55-4365-91F1-03939EEC9374}"/>
              </a:ext>
            </a:extLst>
          </p:cNvPr>
          <p:cNvSpPr txBox="1"/>
          <p:nvPr/>
        </p:nvSpPr>
        <p:spPr>
          <a:xfrm>
            <a:off x="103213" y="989428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Estrutura de Avaliação dos Modelos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4DE8B4-5AA2-4EF1-BEEA-F3117A17D69E}"/>
              </a:ext>
            </a:extLst>
          </p:cNvPr>
          <p:cNvSpPr txBox="1"/>
          <p:nvPr/>
        </p:nvSpPr>
        <p:spPr>
          <a:xfrm>
            <a:off x="97258" y="2535534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Estabilidade Estatística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D54A32F-706F-4D4B-92FF-6F55B75368A6}"/>
              </a:ext>
            </a:extLst>
          </p:cNvPr>
          <p:cNvSpPr txBox="1"/>
          <p:nvPr/>
        </p:nvSpPr>
        <p:spPr>
          <a:xfrm>
            <a:off x="115937" y="4639773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Robustez Temporal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D6EE7A5-FC9A-4634-9AAA-D793083B6131}"/>
              </a:ext>
            </a:extLst>
          </p:cNvPr>
          <p:cNvSpPr txBox="1"/>
          <p:nvPr/>
        </p:nvSpPr>
        <p:spPr>
          <a:xfrm>
            <a:off x="134358" y="3988648"/>
            <a:ext cx="11847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Esse resultado sugere que o </a:t>
            </a:r>
            <a:r>
              <a:rPr lang="pt-BR" b="1" i="1" dirty="0">
                <a:latin typeface="Arial Narrow" panose="020B0606020202030204" pitchFamily="34" charset="0"/>
              </a:rPr>
              <a:t>modelo Full </a:t>
            </a:r>
            <a:r>
              <a:rPr lang="pt-BR" dirty="0">
                <a:latin typeface="Arial Narrow" panose="020B0606020202030204" pitchFamily="34" charset="0"/>
              </a:rPr>
              <a:t>apresenta </a:t>
            </a:r>
            <a:r>
              <a:rPr lang="pt-BR" b="1" dirty="0">
                <a:latin typeface="Arial Narrow" panose="020B0606020202030204" pitchFamily="34" charset="0"/>
              </a:rPr>
              <a:t>maior robustez estatística e menor dependência da partição </a:t>
            </a:r>
            <a:r>
              <a:rPr lang="pt-BR" dirty="0">
                <a:latin typeface="Arial Narrow" panose="020B0606020202030204" pitchFamily="34" charset="0"/>
              </a:rPr>
              <a:t>utilizada durante a validação cruzada.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2F94B2A-8517-4CD7-8523-779C54AB34C9}"/>
              </a:ext>
            </a:extLst>
          </p:cNvPr>
          <p:cNvSpPr txBox="1"/>
          <p:nvPr/>
        </p:nvSpPr>
        <p:spPr>
          <a:xfrm>
            <a:off x="97257" y="3002887"/>
            <a:ext cx="11680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estabilidade foi avaliada pelo desvio-padrão da </a:t>
            </a:r>
            <a:r>
              <a:rPr lang="pt-BR" b="1" i="1" dirty="0">
                <a:latin typeface="Arial Narrow" panose="020B0606020202030204" pitchFamily="34" charset="0"/>
              </a:rPr>
              <a:t>AUC</a:t>
            </a:r>
            <a:r>
              <a:rPr lang="pt-BR" dirty="0">
                <a:latin typeface="Arial Narrow" panose="020B0606020202030204" pitchFamily="34" charset="0"/>
              </a:rPr>
              <a:t> na </a:t>
            </a:r>
            <a:r>
              <a:rPr lang="pt-BR" b="1" dirty="0">
                <a:latin typeface="Arial Narrow" panose="020B0606020202030204" pitchFamily="34" charset="0"/>
              </a:rPr>
              <a:t>validação cruzada (STD_CV).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0C9FDA6-D23A-4A90-857C-3AF48DB6FDB5}"/>
              </a:ext>
            </a:extLst>
          </p:cNvPr>
          <p:cNvSpPr txBox="1"/>
          <p:nvPr/>
        </p:nvSpPr>
        <p:spPr>
          <a:xfrm>
            <a:off x="132202" y="3374944"/>
            <a:ext cx="11926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redução progressiva do </a:t>
            </a:r>
            <a:r>
              <a:rPr lang="pt-BR" b="1" i="1" dirty="0">
                <a:latin typeface="Arial Narrow" panose="020B0606020202030204" pitchFamily="34" charset="0"/>
              </a:rPr>
              <a:t>STD_CV </a:t>
            </a:r>
            <a:r>
              <a:rPr lang="pt-BR" dirty="0">
                <a:latin typeface="Arial Narrow" panose="020B0606020202030204" pitchFamily="34" charset="0"/>
              </a:rPr>
              <a:t>entre Baseline (0,0078) e Full (0,0056) indica diminuição da variabilidade do desempenho entre diferentes amostras.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FB8C302-D638-45B7-81F7-939A47183AD3}"/>
              </a:ext>
            </a:extLst>
          </p:cNvPr>
          <p:cNvSpPr txBox="1"/>
          <p:nvPr/>
        </p:nvSpPr>
        <p:spPr>
          <a:xfrm>
            <a:off x="132202" y="5143493"/>
            <a:ext cx="11645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</a:t>
            </a:r>
            <a:r>
              <a:rPr lang="pt-BR" b="1" dirty="0">
                <a:latin typeface="Arial Narrow" panose="020B0606020202030204" pitchFamily="34" charset="0"/>
              </a:rPr>
              <a:t> capacidade de manter desempenho fora da amostra </a:t>
            </a:r>
            <a:r>
              <a:rPr lang="pt-BR" dirty="0">
                <a:latin typeface="Arial Narrow" panose="020B0606020202030204" pitchFamily="34" charset="0"/>
              </a:rPr>
              <a:t>foi avaliada pelo indicador DROP_B3_B1.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22F96A8-B2FA-43E9-8849-076A53E397C5}"/>
              </a:ext>
            </a:extLst>
          </p:cNvPr>
          <p:cNvSpPr txBox="1"/>
          <p:nvPr/>
        </p:nvSpPr>
        <p:spPr>
          <a:xfrm>
            <a:off x="132202" y="549182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Os modelos Lean, Clean e Full apresentaram comportamento semelhante, indicando que o ganho obtido durante o treinamento permaneceu consistente quando aplicado em uma população temporalmente distinta.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6DF5A04-BE8D-43C1-9D1A-BCD9CA469D5D}"/>
              </a:ext>
            </a:extLst>
          </p:cNvPr>
          <p:cNvSpPr txBox="1"/>
          <p:nvPr/>
        </p:nvSpPr>
        <p:spPr>
          <a:xfrm>
            <a:off x="132201" y="6126729"/>
            <a:ext cx="11282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Esse resultado evidencia adequada capacidade de generalização temporal.</a:t>
            </a:r>
          </a:p>
        </p:txBody>
      </p:sp>
    </p:spTree>
    <p:extLst>
      <p:ext uri="{BB962C8B-B14F-4D97-AF65-F5344CB8AC3E}">
        <p14:creationId xmlns:p14="http://schemas.microsoft.com/office/powerpoint/2010/main" val="575104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Escolha Final do Modelo Baseline de Regressão Logística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78E372F-0677-4F8E-94DC-38A438FA3003}"/>
              </a:ext>
            </a:extLst>
          </p:cNvPr>
          <p:cNvSpPr txBox="1"/>
          <p:nvPr/>
        </p:nvSpPr>
        <p:spPr>
          <a:xfrm>
            <a:off x="97258" y="1452738"/>
            <a:ext cx="11995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comparação entre os modelos Baseline, Lean, Clean e Full foi conduzida a partir de uma avaliação multidimensional, considerando não apenas o desempenho preditivo, mas também critérios relacionados à robustez estatística, estabilidade e capacidade de generalização.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F703468-720F-4DCB-9E52-B3F26227B252}"/>
              </a:ext>
            </a:extLst>
          </p:cNvPr>
          <p:cNvSpPr txBox="1"/>
          <p:nvPr/>
        </p:nvSpPr>
        <p:spPr>
          <a:xfrm>
            <a:off x="97258" y="2121405"/>
            <a:ext cx="9857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decisão buscou selecionar o modelo que apresentasse o melhor equilíbrio entre: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3F9EDB3-8A55-4365-91F1-03939EEC9374}"/>
              </a:ext>
            </a:extLst>
          </p:cNvPr>
          <p:cNvSpPr txBox="1"/>
          <p:nvPr/>
        </p:nvSpPr>
        <p:spPr>
          <a:xfrm>
            <a:off x="103213" y="989428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Estrutura de Avaliação dos Modelos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4DE8B4-5AA2-4EF1-BEEA-F3117A17D69E}"/>
              </a:ext>
            </a:extLst>
          </p:cNvPr>
          <p:cNvSpPr txBox="1"/>
          <p:nvPr/>
        </p:nvSpPr>
        <p:spPr>
          <a:xfrm>
            <a:off x="97258" y="2535534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Estabilidade Populacional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D54A32F-706F-4D4B-92FF-6F55B75368A6}"/>
              </a:ext>
            </a:extLst>
          </p:cNvPr>
          <p:cNvSpPr txBox="1"/>
          <p:nvPr/>
        </p:nvSpPr>
        <p:spPr>
          <a:xfrm>
            <a:off x="115937" y="4639773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Complexidade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A6519D7-2E6D-46ED-ADDD-D6C4DC5F6A28}"/>
              </a:ext>
            </a:extLst>
          </p:cNvPr>
          <p:cNvSpPr txBox="1"/>
          <p:nvPr/>
        </p:nvSpPr>
        <p:spPr>
          <a:xfrm>
            <a:off x="132200" y="2978859"/>
            <a:ext cx="11849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 PSI foi utilizado para verificar possíveis alterações na distribuição dos scores produzidos pelo modelo entre treino e teste.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72C4559-2FCF-47B5-A793-E3C1ACEFBC69}"/>
              </a:ext>
            </a:extLst>
          </p:cNvPr>
          <p:cNvSpPr txBox="1"/>
          <p:nvPr/>
        </p:nvSpPr>
        <p:spPr>
          <a:xfrm>
            <a:off x="169385" y="3292371"/>
            <a:ext cx="11775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Todos os modelos permaneceram dentro de faixas compatíveis com estabilidade populacional.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5CBB667-A1FE-4E2C-94BC-84392A36874D}"/>
              </a:ext>
            </a:extLst>
          </p:cNvPr>
          <p:cNvSpPr txBox="1"/>
          <p:nvPr/>
        </p:nvSpPr>
        <p:spPr>
          <a:xfrm>
            <a:off x="169385" y="3678671"/>
            <a:ext cx="11849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Embora o </a:t>
            </a:r>
            <a:r>
              <a:rPr lang="pt-BR" b="1" dirty="0">
                <a:latin typeface="Arial Narrow" panose="020B0606020202030204" pitchFamily="34" charset="0"/>
              </a:rPr>
              <a:t>modelo Clean apresente o maior PSI (0,0730), </a:t>
            </a:r>
            <a:r>
              <a:rPr lang="pt-BR" dirty="0">
                <a:latin typeface="Arial Narrow" panose="020B0606020202030204" pitchFamily="34" charset="0"/>
              </a:rPr>
              <a:t>a diferença em relação ao </a:t>
            </a:r>
            <a:r>
              <a:rPr lang="pt-BR" b="1" dirty="0">
                <a:latin typeface="Arial Narrow" panose="020B0606020202030204" pitchFamily="34" charset="0"/>
              </a:rPr>
              <a:t>modelo Full (0,0686) </a:t>
            </a:r>
            <a:r>
              <a:rPr lang="pt-BR" dirty="0">
                <a:latin typeface="Arial Narrow" panose="020B0606020202030204" pitchFamily="34" charset="0"/>
              </a:rPr>
              <a:t>é pequena e não altera substancialmente a interpretação sobre estabilidade dos modelos.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4617100-F76A-4702-9A2E-6D0CFECD6343}"/>
              </a:ext>
            </a:extLst>
          </p:cNvPr>
          <p:cNvSpPr txBox="1"/>
          <p:nvPr/>
        </p:nvSpPr>
        <p:spPr>
          <a:xfrm>
            <a:off x="169384" y="5090413"/>
            <a:ext cx="11775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 aumento do número de variáveis foi acompanhado de ganhos sucessivos de desempenho</a:t>
            </a:r>
            <a:r>
              <a:rPr lang="pt-BR" dirty="0"/>
              <a:t>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8B52040-8E6B-49B4-B803-B4A45D0A99F1}"/>
              </a:ext>
            </a:extLst>
          </p:cNvPr>
          <p:cNvSpPr txBox="1"/>
          <p:nvPr/>
        </p:nvSpPr>
        <p:spPr>
          <a:xfrm>
            <a:off x="169384" y="5459745"/>
            <a:ext cx="11775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Como as variáveis adicionadas já haviam sido previamente avaliadas quanto à sua contribuição incremental e significância estatística, o acréscimo de complexidade mostrou-se justificado pelos ganhos observados em discriminação e estabilidade.</a:t>
            </a:r>
          </a:p>
        </p:txBody>
      </p:sp>
    </p:spTree>
    <p:extLst>
      <p:ext uri="{BB962C8B-B14F-4D97-AF65-F5344CB8AC3E}">
        <p14:creationId xmlns:p14="http://schemas.microsoft.com/office/powerpoint/2010/main" val="2840161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Escolha Final do Modelo Baseline de Regressão Logística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3F9EDB3-8A55-4365-91F1-03939EEC9374}"/>
              </a:ext>
            </a:extLst>
          </p:cNvPr>
          <p:cNvSpPr txBox="1"/>
          <p:nvPr/>
        </p:nvSpPr>
        <p:spPr>
          <a:xfrm>
            <a:off x="103213" y="989428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Seleção do Modelo Candidato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8B52040-8E6B-49B4-B803-B4A45D0A99F1}"/>
              </a:ext>
            </a:extLst>
          </p:cNvPr>
          <p:cNvSpPr txBox="1"/>
          <p:nvPr/>
        </p:nvSpPr>
        <p:spPr>
          <a:xfrm>
            <a:off x="275713" y="6034700"/>
            <a:ext cx="11775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O modelo Full apresentou o conjunto mais equilibrado de resultados entre todas as dimensões avaliadas, sendo selecionado como modelo candidato para a etapa de avaliação das estratégias de tratamento do desbalanceamento das classes.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7BF7A3C-E94D-4B76-924F-EC15A89971AF}"/>
              </a:ext>
            </a:extLst>
          </p:cNvPr>
          <p:cNvSpPr txBox="1"/>
          <p:nvPr/>
        </p:nvSpPr>
        <p:spPr>
          <a:xfrm>
            <a:off x="164099" y="1459394"/>
            <a:ext cx="11812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O processo de seleção considerou simultaneamente desempenho preditivo, capacidade de generalização, estabilidade estatística, robustez temporal e populacional e complexidade do modelo.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4673863-5093-44BB-9C5D-3950BF05644C}"/>
              </a:ext>
            </a:extLst>
          </p:cNvPr>
          <p:cNvSpPr txBox="1"/>
          <p:nvPr/>
        </p:nvSpPr>
        <p:spPr>
          <a:xfrm>
            <a:off x="190650" y="2106704"/>
            <a:ext cx="1192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Embora os modelos Lean, Clean e Full tenham apresentado desempenho competitivo, a comparação conjunta das métricas </a:t>
            </a:r>
            <a:r>
              <a:rPr lang="pt-BR" b="1" dirty="0">
                <a:latin typeface="Arial Narrow" panose="020B0606020202030204" pitchFamily="34" charset="0"/>
              </a:rPr>
              <a:t>evidenciou superioridade do modelo Full no equilíbrio entre discriminação, robustez e estabilidade.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5283742-03BF-45CC-8657-15AD1FCD328C}"/>
              </a:ext>
            </a:extLst>
          </p:cNvPr>
          <p:cNvSpPr txBox="1"/>
          <p:nvPr/>
        </p:nvSpPr>
        <p:spPr>
          <a:xfrm>
            <a:off x="220176" y="2806128"/>
            <a:ext cx="6189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" defTabSz="914400" rtl="0" eaLnBrk="1" fontAlgn="ctr" latinLnBrk="0" hangingPunct="1"/>
            <a:r>
              <a:rPr lang="pt-BR" sz="1800" b="1" kern="1200" dirty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rPr>
              <a:t>Capacidade de Discriminação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55CA32B-685A-421A-866B-E1F32F525C97}"/>
              </a:ext>
            </a:extLst>
          </p:cNvPr>
          <p:cNvSpPr txBox="1"/>
          <p:nvPr/>
        </p:nvSpPr>
        <p:spPr>
          <a:xfrm>
            <a:off x="229230" y="3082065"/>
            <a:ext cx="11812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ctr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Maior AUC em validação cruzada (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0,6975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) e na base out-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of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-time (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0,7514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), mantendo KS de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38,49%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, superior ao Baseline (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27,26%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).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AA6EF35-BF30-4CF3-A8ED-16F2749D6CF5}"/>
              </a:ext>
            </a:extLst>
          </p:cNvPr>
          <p:cNvSpPr txBox="1"/>
          <p:nvPr/>
        </p:nvSpPr>
        <p:spPr>
          <a:xfrm>
            <a:off x="176069" y="3525395"/>
            <a:ext cx="6189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0" eaLnBrk="1" fontAlgn="ctr" latinLnBrk="0" hangingPunct="1"/>
            <a:r>
              <a:rPr lang="pt-BR" sz="1800" b="1" kern="1200" dirty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rPr>
              <a:t>Capacidade de Generalização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BF5811D-30B2-49C7-8A95-B8E5AF80A69E}"/>
              </a:ext>
            </a:extLst>
          </p:cNvPr>
          <p:cNvSpPr txBox="1"/>
          <p:nvPr/>
        </p:nvSpPr>
        <p:spPr>
          <a:xfrm>
            <a:off x="208456" y="3860031"/>
            <a:ext cx="117554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ctr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Diferença entre treino e validação cruzada de apenas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0,0028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, indicando baixo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overfitting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e manutenção do desempenho fora da amostra de treinamento.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99C0CA8-6A9F-41CF-9D61-BBEA66A2914A}"/>
              </a:ext>
            </a:extLst>
          </p:cNvPr>
          <p:cNvSpPr txBox="1"/>
          <p:nvPr/>
        </p:nvSpPr>
        <p:spPr>
          <a:xfrm>
            <a:off x="207965" y="4614414"/>
            <a:ext cx="6189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0" eaLnBrk="1" fontAlgn="ctr" latinLnBrk="0" hangingPunct="1"/>
            <a:r>
              <a:rPr lang="pt-BR" sz="1800" b="1" kern="1200" dirty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rPr>
              <a:t>Estabilidade Estatística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B0FF928-EB7F-4347-9294-1D52CCEAB6DC}"/>
              </a:ext>
            </a:extLst>
          </p:cNvPr>
          <p:cNvSpPr txBox="1"/>
          <p:nvPr/>
        </p:nvSpPr>
        <p:spPr>
          <a:xfrm>
            <a:off x="220177" y="4917464"/>
            <a:ext cx="11755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Menor variabilidade entre os modelos avaliados (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STD_CV = 0,0056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), indicando maior consistência entre os diferentes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folds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da validação cruzada.</a:t>
            </a:r>
            <a:endParaRPr lang="pt-BR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6A2532C-D21A-448F-8DD9-7C0FA68B56D0}"/>
              </a:ext>
            </a:extLst>
          </p:cNvPr>
          <p:cNvSpPr txBox="1"/>
          <p:nvPr/>
        </p:nvSpPr>
        <p:spPr>
          <a:xfrm>
            <a:off x="211915" y="5563795"/>
            <a:ext cx="6189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3461659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de Estratégias de Balanceamento das Classes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086FBAD-2CBB-431C-9E83-A6EBF1C4C77D}"/>
              </a:ext>
            </a:extLst>
          </p:cNvPr>
          <p:cNvSpPr txBox="1"/>
          <p:nvPr/>
        </p:nvSpPr>
        <p:spPr>
          <a:xfrm>
            <a:off x="186365" y="2125375"/>
            <a:ext cx="1193935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50" dirty="0">
                <a:latin typeface="Arial Narrow" panose="020B0606020202030204" pitchFamily="34" charset="0"/>
              </a:rPr>
              <a:t>Após a definição do modelo candidato como o FULL, iniciou-se uma nova etapa do estudo destinada a avaliar o impacto de diferentes estratégias de tratamento do desbalanceamento das classes.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832F62D-FB2C-4FFD-9799-3E017C152545}"/>
              </a:ext>
            </a:extLst>
          </p:cNvPr>
          <p:cNvSpPr txBox="1"/>
          <p:nvPr/>
        </p:nvSpPr>
        <p:spPr>
          <a:xfrm>
            <a:off x="196088" y="2805589"/>
            <a:ext cx="1188527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50" dirty="0">
                <a:latin typeface="Arial Narrow" panose="020B0606020202030204" pitchFamily="34" charset="0"/>
              </a:rPr>
              <a:t>O objetivo deixou de ser selecionar variáveis e passou a investigar como diferentes métodos de balanceamento influenciam o desempenho preditivo, a </a:t>
            </a:r>
            <a:r>
              <a:rPr lang="pt-BR" sz="1850" dirty="0" err="1">
                <a:latin typeface="Arial Narrow" panose="020B0606020202030204" pitchFamily="34" charset="0"/>
              </a:rPr>
              <a:t>capaicdade</a:t>
            </a:r>
            <a:r>
              <a:rPr lang="pt-BR" sz="1850" dirty="0">
                <a:latin typeface="Arial Narrow" panose="020B0606020202030204" pitchFamily="34" charset="0"/>
              </a:rPr>
              <a:t> de identificação da classe minoritária e a estabilidade do modelo.</a:t>
            </a:r>
            <a:endParaRPr lang="pt-BR" sz="185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BFF2B61-B530-47CA-8E37-E75E38F3F4EE}"/>
              </a:ext>
            </a:extLst>
          </p:cNvPr>
          <p:cNvSpPr txBox="1"/>
          <p:nvPr/>
        </p:nvSpPr>
        <p:spPr>
          <a:xfrm>
            <a:off x="250163" y="3690922"/>
            <a:ext cx="6189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Motivação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D7433D5-D7D2-4AD3-8024-95B6A0D8AD7D}"/>
              </a:ext>
            </a:extLst>
          </p:cNvPr>
          <p:cNvSpPr txBox="1"/>
          <p:nvPr/>
        </p:nvSpPr>
        <p:spPr>
          <a:xfrm>
            <a:off x="196088" y="4190479"/>
            <a:ext cx="1188527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50" dirty="0">
                <a:latin typeface="Arial Narrow" panose="020B0606020202030204" pitchFamily="34" charset="0"/>
              </a:rPr>
              <a:t>Em bases de crédito, eventos de inadimplência normalmente representam uma parcela reduzida das observações.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1C76341-1146-453B-ACBD-752642446236}"/>
              </a:ext>
            </a:extLst>
          </p:cNvPr>
          <p:cNvSpPr txBox="1"/>
          <p:nvPr/>
        </p:nvSpPr>
        <p:spPr>
          <a:xfrm>
            <a:off x="220231" y="4487452"/>
            <a:ext cx="1174336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50" dirty="0">
                <a:latin typeface="Arial Narrow" panose="020B0606020202030204" pitchFamily="34" charset="0"/>
              </a:rPr>
              <a:t>Nessas situações, modelos treinados sobre a distribuição original podem aprender a privilegiar a classe majoritária, produzindo elevada acurácia global, porém baixa capacidade de identificação dos clientes inadimplentes.</a:t>
            </a:r>
            <a:endParaRPr lang="pt-BR" sz="1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EA6AAF7-BB92-4E35-80F5-C91B49FC2BD0}"/>
              </a:ext>
            </a:extLst>
          </p:cNvPr>
          <p:cNvSpPr txBox="1"/>
          <p:nvPr/>
        </p:nvSpPr>
        <p:spPr>
          <a:xfrm>
            <a:off x="228404" y="5105062"/>
            <a:ext cx="11941837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50" dirty="0">
                <a:latin typeface="Arial Narrow" panose="020B0606020202030204" pitchFamily="34" charset="0"/>
              </a:rPr>
              <a:t>Por esse motivo, diferentes estratégias de balanceamento foram avaliadas antes da definição da especificação final do modelo.</a:t>
            </a:r>
            <a:endParaRPr lang="pt-BR" sz="185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CA068F3-4D04-4AE5-AEF0-954BED4CA179}"/>
              </a:ext>
            </a:extLst>
          </p:cNvPr>
          <p:cNvSpPr txBox="1"/>
          <p:nvPr/>
        </p:nvSpPr>
        <p:spPr>
          <a:xfrm>
            <a:off x="196088" y="1568272"/>
            <a:ext cx="6189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Estratégias de Balanceamento das Classes</a:t>
            </a:r>
          </a:p>
        </p:txBody>
      </p:sp>
    </p:spTree>
    <p:extLst>
      <p:ext uri="{BB962C8B-B14F-4D97-AF65-F5344CB8AC3E}">
        <p14:creationId xmlns:p14="http://schemas.microsoft.com/office/powerpoint/2010/main" val="503898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de Estratégias de Balanceamento das Classes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40E578-0633-4342-8E95-9E380584902E}"/>
              </a:ext>
            </a:extLst>
          </p:cNvPr>
          <p:cNvSpPr txBox="1"/>
          <p:nvPr/>
        </p:nvSpPr>
        <p:spPr>
          <a:xfrm>
            <a:off x="101079" y="956618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Estratégias Avaliadas</a:t>
            </a:r>
            <a:endParaRPr lang="pt-BR" sz="2800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2DCC8B4-5B7A-4AAD-8517-8CEEA2E6D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448002"/>
              </p:ext>
            </p:extLst>
          </p:nvPr>
        </p:nvGraphicFramePr>
        <p:xfrm>
          <a:off x="189893" y="2720334"/>
          <a:ext cx="11858045" cy="4069590"/>
        </p:xfrm>
        <a:graphic>
          <a:graphicData uri="http://schemas.openxmlformats.org/drawingml/2006/table">
            <a:tbl>
              <a:tblPr/>
              <a:tblGrid>
                <a:gridCol w="2162847">
                  <a:extLst>
                    <a:ext uri="{9D8B030D-6E8A-4147-A177-3AD203B41FA5}">
                      <a16:colId xmlns:a16="http://schemas.microsoft.com/office/drawing/2014/main" val="60751216"/>
                    </a:ext>
                  </a:extLst>
                </a:gridCol>
                <a:gridCol w="4207548">
                  <a:extLst>
                    <a:ext uri="{9D8B030D-6E8A-4147-A177-3AD203B41FA5}">
                      <a16:colId xmlns:a16="http://schemas.microsoft.com/office/drawing/2014/main" val="3074145468"/>
                    </a:ext>
                  </a:extLst>
                </a:gridCol>
                <a:gridCol w="5487650">
                  <a:extLst>
                    <a:ext uri="{9D8B030D-6E8A-4147-A177-3AD203B41FA5}">
                      <a16:colId xmlns:a16="http://schemas.microsoft.com/office/drawing/2014/main" val="1116499712"/>
                    </a:ext>
                  </a:extLst>
                </a:gridCol>
              </a:tblGrid>
              <a:tr h="26986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Estratégia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Princípio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Impacto na Função de Perda / Objetivo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10335"/>
                  </a:ext>
                </a:extLst>
              </a:tr>
              <a:tr h="67876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5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 balanceamento</a:t>
                      </a:r>
                      <a:endParaRPr lang="pt-BR" sz="15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Mantém a distribuição original das classes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Cada observação contribui igualmente para a função de perda (Log </a:t>
                      </a:r>
                      <a:r>
                        <a:rPr lang="pt-BR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Loss</a:t>
                      </a: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Em bases desbalanceadas, a classe majoritária domina a otimização, reduzindo a influência dos erros da classe minoritária.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505013"/>
                  </a:ext>
                </a:extLst>
              </a:tr>
              <a:tr h="6746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5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 Weight</a:t>
                      </a:r>
                      <a:endParaRPr lang="pt-BR" sz="15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Repondera</a:t>
                      </a: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 função de perda atribuindo maior penalidade aos erros na classe minoritária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Altera os pesos na função objetivo: erros da classe minoritária recebem multiplicadores maiores, aumentando sua influência na minimização da Log </a:t>
                      </a:r>
                      <a:r>
                        <a:rPr lang="pt-BR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Loss</a:t>
                      </a: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56044"/>
                  </a:ext>
                </a:extLst>
              </a:tr>
              <a:tr h="77078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5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Random Under Sampling</a:t>
                      </a:r>
                      <a:endParaRPr lang="pt-BR" sz="15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Reduz aleatoriamente exemplos da classe majoritária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Afeta a função objetivo indiretamente: ao remover observações da classe majoritária, o modelo passa a otimizar com uma distribuição mais equilibrada, reduzindo o viés da perda para a classe dominante.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35532"/>
                  </a:ext>
                </a:extLst>
              </a:tr>
              <a:tr h="8095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5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SMOTE</a:t>
                      </a:r>
                      <a:endParaRPr lang="pt-BR" sz="15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Gera exemplos sintéticos da classe minoritária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Aumenta o número de observações da classe minoritária, equilibrando sua contribuição na função de perda.</a:t>
                      </a:r>
                    </a:p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Cada novo exemplo sintético adiciona termos ao somatório da Log </a:t>
                      </a:r>
                      <a:r>
                        <a:rPr lang="pt-BR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Loss</a:t>
                      </a: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, reforçando o peso da minoria.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854483"/>
                  </a:ext>
                </a:extLst>
              </a:tr>
              <a:tr h="81659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Híbrido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Combina geração sintética (SMOTE) e redução da classe majoritária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Aumenta a participação da minoria e reduz a dominância da maioria. A função objetivo passa a refletir uma distribuição mais balanceada, com maior sensibilidade aos erros da minoria.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977311"/>
                  </a:ext>
                </a:extLst>
              </a:tr>
            </a:tbl>
          </a:graphicData>
        </a:graphic>
      </p:graphicFrame>
      <p:sp>
        <p:nvSpPr>
          <p:cNvPr id="24" name="CaixaDeTexto 23">
            <a:extLst>
              <a:ext uri="{FF2B5EF4-FFF2-40B4-BE49-F238E27FC236}">
                <a16:creationId xmlns:a16="http://schemas.microsoft.com/office/drawing/2014/main" id="{80E2CE4A-EBFE-40EA-99B9-8D23925F04B9}"/>
              </a:ext>
            </a:extLst>
          </p:cNvPr>
          <p:cNvSpPr txBox="1"/>
          <p:nvPr/>
        </p:nvSpPr>
        <p:spPr>
          <a:xfrm>
            <a:off x="101079" y="1311469"/>
            <a:ext cx="1198167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50" dirty="0">
                <a:latin typeface="Arial Narrow" panose="020B0606020202030204" pitchFamily="34" charset="0"/>
              </a:rPr>
              <a:t>Nesta etapa, foram comparadas diferentes abordagens de balanceamento de classes aplicadas à Regressão Logística. 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B8A7A76-9F5C-4F27-A660-81EDF199BEF4}"/>
              </a:ext>
            </a:extLst>
          </p:cNvPr>
          <p:cNvSpPr txBox="1"/>
          <p:nvPr/>
        </p:nvSpPr>
        <p:spPr>
          <a:xfrm>
            <a:off x="101079" y="1623874"/>
            <a:ext cx="116804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50" dirty="0">
                <a:latin typeface="Arial Narrow" panose="020B0606020202030204" pitchFamily="34" charset="0"/>
              </a:rPr>
              <a:t>O objetivo é reduzir o impacto do desbalanceamento na função de perda (Log </a:t>
            </a:r>
            <a:r>
              <a:rPr lang="pt-BR" sz="1750" dirty="0" err="1">
                <a:latin typeface="Arial Narrow" panose="020B0606020202030204" pitchFamily="34" charset="0"/>
              </a:rPr>
              <a:t>Loss</a:t>
            </a:r>
            <a:r>
              <a:rPr lang="pt-BR" sz="1750" dirty="0">
                <a:latin typeface="Arial Narrow" panose="020B0606020202030204" pitchFamily="34" charset="0"/>
              </a:rPr>
              <a:t>), que originalmente trata todas as observações com o mesmo peso. </a:t>
            </a:r>
            <a:endParaRPr lang="pt-BR" sz="1750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BB6C158-43AA-4EA9-B061-7AAA3E29E241}"/>
              </a:ext>
            </a:extLst>
          </p:cNvPr>
          <p:cNvSpPr txBox="1"/>
          <p:nvPr/>
        </p:nvSpPr>
        <p:spPr>
          <a:xfrm>
            <a:off x="101079" y="2087240"/>
            <a:ext cx="118580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50" dirty="0">
                <a:latin typeface="Arial Narrow" panose="020B0606020202030204" pitchFamily="34" charset="0"/>
              </a:rPr>
              <a:t>Em bases desbalanceadas, isso faz com que a classe majoritária domine a otimização e os erros da classe minoritária tenham menor influência.</a:t>
            </a:r>
          </a:p>
        </p:txBody>
      </p:sp>
    </p:spTree>
    <p:extLst>
      <p:ext uri="{BB962C8B-B14F-4D97-AF65-F5344CB8AC3E}">
        <p14:creationId xmlns:p14="http://schemas.microsoft.com/office/powerpoint/2010/main" val="2560255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de Estratégias de Balanceamento das Classes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40E578-0633-4342-8E95-9E380584902E}"/>
              </a:ext>
            </a:extLst>
          </p:cNvPr>
          <p:cNvSpPr txBox="1"/>
          <p:nvPr/>
        </p:nvSpPr>
        <p:spPr>
          <a:xfrm>
            <a:off x="101079" y="956618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Estratégias Avaliadas</a:t>
            </a:r>
            <a:endParaRPr lang="pt-BR" sz="2800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AF703D3-42F2-43BB-9853-09987F248837}"/>
              </a:ext>
            </a:extLst>
          </p:cNvPr>
          <p:cNvSpPr txBox="1"/>
          <p:nvPr/>
        </p:nvSpPr>
        <p:spPr>
          <a:xfrm>
            <a:off x="152955" y="1393261"/>
            <a:ext cx="11885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Todas as estratégias foram implementadas dentro do pipeline de treinamento da Regressão Logística, garantindo que o balanceamento fosse realizado exclusivamente sobre os dados de treino em cada etapa da validação cruzada.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BBAE120-8977-4FC5-8903-02396E9D4A01}"/>
              </a:ext>
            </a:extLst>
          </p:cNvPr>
          <p:cNvSpPr txBox="1"/>
          <p:nvPr/>
        </p:nvSpPr>
        <p:spPr>
          <a:xfrm>
            <a:off x="156634" y="2687449"/>
            <a:ext cx="11885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Essa abordagem evita vazamento de informação entre treino e validação e assegura comparabilidade entre os experimentos.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3259386-45B3-42E9-8C3E-7E0020BD3556}"/>
              </a:ext>
            </a:extLst>
          </p:cNvPr>
          <p:cNvSpPr txBox="1"/>
          <p:nvPr/>
        </p:nvSpPr>
        <p:spPr>
          <a:xfrm>
            <a:off x="156635" y="3053410"/>
            <a:ext cx="11885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Para cada estratégia de balanceamento foi construído um modelo mantendo constantes: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A9FF9E9-259C-4F91-B672-37B3DF9D4123}"/>
              </a:ext>
            </a:extLst>
          </p:cNvPr>
          <p:cNvSpPr txBox="1"/>
          <p:nvPr/>
        </p:nvSpPr>
        <p:spPr>
          <a:xfrm>
            <a:off x="149277" y="4559643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única modificação entre os experimentos correspondeu ao método de balanceamento aplicado durante o treinamento.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36314C3-4A4D-4339-BA9C-26658BAF7FE6}"/>
              </a:ext>
            </a:extLst>
          </p:cNvPr>
          <p:cNvSpPr txBox="1"/>
          <p:nvPr/>
        </p:nvSpPr>
        <p:spPr>
          <a:xfrm>
            <a:off x="149277" y="3365025"/>
            <a:ext cx="61897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conjunto de variáveis (Modelo Full);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algoritmo (Regressão Logística);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pipeline de pré-processamento;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particionamentos da validação cruzada.</a:t>
            </a:r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103FF9CE-9311-42A5-879F-28F152A92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34645"/>
              </p:ext>
            </p:extLst>
          </p:nvPr>
        </p:nvGraphicFramePr>
        <p:xfrm>
          <a:off x="573759" y="4945415"/>
          <a:ext cx="11036309" cy="1805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0255">
                  <a:extLst>
                    <a:ext uri="{9D8B030D-6E8A-4147-A177-3AD203B41FA5}">
                      <a16:colId xmlns:a16="http://schemas.microsoft.com/office/drawing/2014/main" val="251804454"/>
                    </a:ext>
                  </a:extLst>
                </a:gridCol>
                <a:gridCol w="1229161">
                  <a:extLst>
                    <a:ext uri="{9D8B030D-6E8A-4147-A177-3AD203B41FA5}">
                      <a16:colId xmlns:a16="http://schemas.microsoft.com/office/drawing/2014/main" val="1405454883"/>
                    </a:ext>
                  </a:extLst>
                </a:gridCol>
                <a:gridCol w="994787">
                  <a:extLst>
                    <a:ext uri="{9D8B030D-6E8A-4147-A177-3AD203B41FA5}">
                      <a16:colId xmlns:a16="http://schemas.microsoft.com/office/drawing/2014/main" val="900248525"/>
                    </a:ext>
                  </a:extLst>
                </a:gridCol>
                <a:gridCol w="934496">
                  <a:extLst>
                    <a:ext uri="{9D8B030D-6E8A-4147-A177-3AD203B41FA5}">
                      <a16:colId xmlns:a16="http://schemas.microsoft.com/office/drawing/2014/main" val="4153751603"/>
                    </a:ext>
                  </a:extLst>
                </a:gridCol>
                <a:gridCol w="934497">
                  <a:extLst>
                    <a:ext uri="{9D8B030D-6E8A-4147-A177-3AD203B41FA5}">
                      <a16:colId xmlns:a16="http://schemas.microsoft.com/office/drawing/2014/main" val="2169324274"/>
                    </a:ext>
                  </a:extLst>
                </a:gridCol>
                <a:gridCol w="954594">
                  <a:extLst>
                    <a:ext uri="{9D8B030D-6E8A-4147-A177-3AD203B41FA5}">
                      <a16:colId xmlns:a16="http://schemas.microsoft.com/office/drawing/2014/main" val="1535802461"/>
                    </a:ext>
                  </a:extLst>
                </a:gridCol>
                <a:gridCol w="1165608">
                  <a:extLst>
                    <a:ext uri="{9D8B030D-6E8A-4147-A177-3AD203B41FA5}">
                      <a16:colId xmlns:a16="http://schemas.microsoft.com/office/drawing/2014/main" val="2757558202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566435390"/>
                    </a:ext>
                  </a:extLst>
                </a:gridCol>
                <a:gridCol w="844062">
                  <a:extLst>
                    <a:ext uri="{9D8B030D-6E8A-4147-A177-3AD203B41FA5}">
                      <a16:colId xmlns:a16="http://schemas.microsoft.com/office/drawing/2014/main" val="631587924"/>
                    </a:ext>
                  </a:extLst>
                </a:gridCol>
                <a:gridCol w="874207">
                  <a:extLst>
                    <a:ext uri="{9D8B030D-6E8A-4147-A177-3AD203B41FA5}">
                      <a16:colId xmlns:a16="http://schemas.microsoft.com/office/drawing/2014/main" val="2974560764"/>
                    </a:ext>
                  </a:extLst>
                </a:gridCol>
              </a:tblGrid>
              <a:tr h="35723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Balanceamento Modelo Full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AUC_TREINO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AUC_B2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STD_CV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DROP_B3_B1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OVERFIT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PSI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157100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 Balanceamento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0.7003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38,49%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067776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</a:t>
                      </a:r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Weight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41134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SMOTE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6308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Under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38,67%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195838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Híbrido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570806"/>
                  </a:ext>
                </a:extLst>
              </a:tr>
            </a:tbl>
          </a:graphicData>
        </a:graphic>
      </p:graphicFrame>
      <p:sp>
        <p:nvSpPr>
          <p:cNvPr id="31" name="CaixaDeTexto 30">
            <a:extLst>
              <a:ext uri="{FF2B5EF4-FFF2-40B4-BE49-F238E27FC236}">
                <a16:creationId xmlns:a16="http://schemas.microsoft.com/office/drawing/2014/main" id="{0DBC7E98-0F1F-4278-A6BD-7594C374B0FF}"/>
              </a:ext>
            </a:extLst>
          </p:cNvPr>
          <p:cNvSpPr txBox="1"/>
          <p:nvPr/>
        </p:nvSpPr>
        <p:spPr>
          <a:xfrm>
            <a:off x="156634" y="2025586"/>
            <a:ext cx="118250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O objetivo foi verificar se a alteração da distribuição das classes produziria ganhos em desempenho, estabilidade e capacidade de identificação da classe minoritária.</a:t>
            </a:r>
          </a:p>
        </p:txBody>
      </p:sp>
    </p:spTree>
    <p:extLst>
      <p:ext uri="{BB962C8B-B14F-4D97-AF65-F5344CB8AC3E}">
        <p14:creationId xmlns:p14="http://schemas.microsoft.com/office/powerpoint/2010/main" val="3415471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de Estratégias de Balanceamento das Classes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40E578-0633-4342-8E95-9E380584902E}"/>
              </a:ext>
            </a:extLst>
          </p:cNvPr>
          <p:cNvSpPr txBox="1"/>
          <p:nvPr/>
        </p:nvSpPr>
        <p:spPr>
          <a:xfrm>
            <a:off x="101079" y="956618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Estratégias Avaliadas</a:t>
            </a:r>
            <a:endParaRPr lang="pt-BR" sz="2800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AF703D3-42F2-43BB-9853-09987F248837}"/>
              </a:ext>
            </a:extLst>
          </p:cNvPr>
          <p:cNvSpPr txBox="1"/>
          <p:nvPr/>
        </p:nvSpPr>
        <p:spPr>
          <a:xfrm>
            <a:off x="152955" y="1302824"/>
            <a:ext cx="11885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Para análise partimos do impacto das diferentes formas de balanceamento na função objetivo (Log </a:t>
            </a:r>
            <a:r>
              <a:rPr lang="pt-BR" dirty="0" err="1">
                <a:latin typeface="Arial Narrow" panose="020B0606020202030204" pitchFamily="34" charset="0"/>
              </a:rPr>
              <a:t>Loss</a:t>
            </a:r>
            <a:r>
              <a:rPr lang="pt-BR" dirty="0">
                <a:latin typeface="Arial Narrow" panose="020B0606020202030204" pitchFamily="34" charset="0"/>
              </a:rPr>
              <a:t>) utilizada durante a estimação dos coeficientes.</a:t>
            </a:r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103FF9CE-9311-42A5-879F-28F152A92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600460"/>
              </p:ext>
            </p:extLst>
          </p:nvPr>
        </p:nvGraphicFramePr>
        <p:xfrm>
          <a:off x="573759" y="4918288"/>
          <a:ext cx="11036309" cy="1805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0255">
                  <a:extLst>
                    <a:ext uri="{9D8B030D-6E8A-4147-A177-3AD203B41FA5}">
                      <a16:colId xmlns:a16="http://schemas.microsoft.com/office/drawing/2014/main" val="251804454"/>
                    </a:ext>
                  </a:extLst>
                </a:gridCol>
                <a:gridCol w="1229161">
                  <a:extLst>
                    <a:ext uri="{9D8B030D-6E8A-4147-A177-3AD203B41FA5}">
                      <a16:colId xmlns:a16="http://schemas.microsoft.com/office/drawing/2014/main" val="1405454883"/>
                    </a:ext>
                  </a:extLst>
                </a:gridCol>
                <a:gridCol w="994787">
                  <a:extLst>
                    <a:ext uri="{9D8B030D-6E8A-4147-A177-3AD203B41FA5}">
                      <a16:colId xmlns:a16="http://schemas.microsoft.com/office/drawing/2014/main" val="900248525"/>
                    </a:ext>
                  </a:extLst>
                </a:gridCol>
                <a:gridCol w="934496">
                  <a:extLst>
                    <a:ext uri="{9D8B030D-6E8A-4147-A177-3AD203B41FA5}">
                      <a16:colId xmlns:a16="http://schemas.microsoft.com/office/drawing/2014/main" val="4153751603"/>
                    </a:ext>
                  </a:extLst>
                </a:gridCol>
                <a:gridCol w="934497">
                  <a:extLst>
                    <a:ext uri="{9D8B030D-6E8A-4147-A177-3AD203B41FA5}">
                      <a16:colId xmlns:a16="http://schemas.microsoft.com/office/drawing/2014/main" val="2169324274"/>
                    </a:ext>
                  </a:extLst>
                </a:gridCol>
                <a:gridCol w="954594">
                  <a:extLst>
                    <a:ext uri="{9D8B030D-6E8A-4147-A177-3AD203B41FA5}">
                      <a16:colId xmlns:a16="http://schemas.microsoft.com/office/drawing/2014/main" val="1535802461"/>
                    </a:ext>
                  </a:extLst>
                </a:gridCol>
                <a:gridCol w="1165608">
                  <a:extLst>
                    <a:ext uri="{9D8B030D-6E8A-4147-A177-3AD203B41FA5}">
                      <a16:colId xmlns:a16="http://schemas.microsoft.com/office/drawing/2014/main" val="2757558202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566435390"/>
                    </a:ext>
                  </a:extLst>
                </a:gridCol>
                <a:gridCol w="844062">
                  <a:extLst>
                    <a:ext uri="{9D8B030D-6E8A-4147-A177-3AD203B41FA5}">
                      <a16:colId xmlns:a16="http://schemas.microsoft.com/office/drawing/2014/main" val="631587924"/>
                    </a:ext>
                  </a:extLst>
                </a:gridCol>
                <a:gridCol w="874207">
                  <a:extLst>
                    <a:ext uri="{9D8B030D-6E8A-4147-A177-3AD203B41FA5}">
                      <a16:colId xmlns:a16="http://schemas.microsoft.com/office/drawing/2014/main" val="2974560764"/>
                    </a:ext>
                  </a:extLst>
                </a:gridCol>
              </a:tblGrid>
              <a:tr h="35723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Balanceamento Modelo Full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AUC_TREINO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AUC_B2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STD_CV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DROP_B3_B1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OVERFIT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PSI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157100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 Balanceamento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0.7003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38,49%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067776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</a:t>
                      </a:r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Weight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41134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SMOTE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6308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Under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38,67%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195838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Híbrido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570806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FC7D93F9-26BD-41C1-8688-3049C00BD9E7}"/>
              </a:ext>
            </a:extLst>
          </p:cNvPr>
          <p:cNvSpPr txBox="1"/>
          <p:nvPr/>
        </p:nvSpPr>
        <p:spPr>
          <a:xfrm>
            <a:off x="152954" y="1904250"/>
            <a:ext cx="11885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Observou-se que </a:t>
            </a:r>
            <a:r>
              <a:rPr lang="pt-BR" dirty="0"/>
              <a:t>o </a:t>
            </a:r>
            <a:r>
              <a:rPr lang="pt-BR" dirty="0">
                <a:latin typeface="Arial Narrow" panose="020B0606020202030204" pitchFamily="34" charset="0"/>
              </a:rPr>
              <a:t>tratamento do desbalanceamento não modificou de forma relevante a capacidade discriminatória do modelo, indicando que o ganho obtido pelas estratégias de balanceamento não decorre de maior separação estatística entre bons e maus clientes, mas da alteração do processo de otimização e, consequentemente, da fronteira de decisão utilizada pelo modelo.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94D5902-FE5C-4447-9C2B-D898AF8C9BB7}"/>
              </a:ext>
            </a:extLst>
          </p:cNvPr>
          <p:cNvSpPr txBox="1"/>
          <p:nvPr/>
        </p:nvSpPr>
        <p:spPr>
          <a:xfrm>
            <a:off x="152954" y="2774771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Mesmo após alterar a distribuição das classes durante o treinamento, nenhuma estratégia provocou aumento relevante de </a:t>
            </a:r>
            <a:r>
              <a:rPr lang="pt-BR" dirty="0" err="1">
                <a:latin typeface="Arial Narrow" panose="020B0606020202030204" pitchFamily="34" charset="0"/>
              </a:rPr>
              <a:t>overfitting</a:t>
            </a:r>
            <a:r>
              <a:rPr lang="pt-BR" dirty="0">
                <a:latin typeface="Arial Narrow" panose="020B060602020203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Os modelos permaneceram altamente generalizáveis.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D96AB29-74A5-4004-9F95-28FF49638843}"/>
              </a:ext>
            </a:extLst>
          </p:cNvPr>
          <p:cNvSpPr txBox="1"/>
          <p:nvPr/>
        </p:nvSpPr>
        <p:spPr>
          <a:xfrm>
            <a:off x="152954" y="3363698"/>
            <a:ext cx="11885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balanceamento não comprometeu a estabilidade estatística do modelo.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As pequenas diferenças observadas sugerem que todas as estratégias preservaram a consistência do desempenho entre diferentes amostras.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CF9C384-FABD-4EDE-81ED-184F72CBD101}"/>
              </a:ext>
            </a:extLst>
          </p:cNvPr>
          <p:cNvSpPr txBox="1"/>
          <p:nvPr/>
        </p:nvSpPr>
        <p:spPr>
          <a:xfrm>
            <a:off x="152954" y="4191904"/>
            <a:ext cx="11885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Apesar de modificar a função de perda, o balanceamento não produziu alterações relevantes na distribuição global dos scores.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Ou seja, o modelo continua apresentando estabilidade populacional.</a:t>
            </a:r>
          </a:p>
        </p:txBody>
      </p:sp>
    </p:spTree>
    <p:extLst>
      <p:ext uri="{BB962C8B-B14F-4D97-AF65-F5344CB8AC3E}">
        <p14:creationId xmlns:p14="http://schemas.microsoft.com/office/powerpoint/2010/main" val="1792230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da Decisão Operacional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273DD76-69A2-4BE2-8459-52F056E1E804}"/>
              </a:ext>
            </a:extLst>
          </p:cNvPr>
          <p:cNvSpPr txBox="1"/>
          <p:nvPr/>
        </p:nvSpPr>
        <p:spPr>
          <a:xfrm>
            <a:off x="193333" y="2326672"/>
            <a:ext cx="11736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Embora essas estratégias tenham produzido pequenas diferenças nas métricas probabilísticas (AUC, KS e estabilidade), elas alteram a posição da fronteira de decisão do modelo, impactando diretamente a identificação da classe inadimplente.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E1B2202-25DB-4E69-9887-4AD4C389E97E}"/>
              </a:ext>
            </a:extLst>
          </p:cNvPr>
          <p:cNvSpPr txBox="1"/>
          <p:nvPr/>
        </p:nvSpPr>
        <p:spPr>
          <a:xfrm>
            <a:off x="193333" y="1044210"/>
            <a:ext cx="6189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Política de Decisão Induzida pelo Balanceamento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9DED620-EBAA-4681-A75C-3E84A0A85ABC}"/>
              </a:ext>
            </a:extLst>
          </p:cNvPr>
          <p:cNvSpPr txBox="1"/>
          <p:nvPr/>
        </p:nvSpPr>
        <p:spPr>
          <a:xfrm>
            <a:off x="195144" y="1603495"/>
            <a:ext cx="11793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As estratégias de balanceamento modificam o processo de otimização da Regressão Logística por meio da </a:t>
            </a:r>
            <a:r>
              <a:rPr lang="pt-BR" dirty="0" err="1">
                <a:latin typeface="Arial Narrow" panose="020B0606020202030204" pitchFamily="34" charset="0"/>
              </a:rPr>
              <a:t>reponderação</a:t>
            </a:r>
            <a:r>
              <a:rPr lang="pt-BR" dirty="0">
                <a:latin typeface="Arial Narrow" panose="020B0606020202030204" pitchFamily="34" charset="0"/>
              </a:rPr>
              <a:t> da função de perda ou da alteração da distribuição das classes durante o treinamento.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7582D67-0DF5-4A18-803A-AC0A9ACEE74B}"/>
              </a:ext>
            </a:extLst>
          </p:cNvPr>
          <p:cNvSpPr txBox="1"/>
          <p:nvPr/>
        </p:nvSpPr>
        <p:spPr>
          <a:xfrm>
            <a:off x="202635" y="3024400"/>
            <a:ext cx="1095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Para avaliar esse efeito, foram analisadas as métricas Recall, </a:t>
            </a:r>
            <a:r>
              <a:rPr lang="pt-BR" dirty="0" err="1">
                <a:latin typeface="Arial Narrow" panose="020B0606020202030204" pitchFamily="34" charset="0"/>
              </a:rPr>
              <a:t>Precision</a:t>
            </a:r>
            <a:r>
              <a:rPr lang="pt-BR" dirty="0">
                <a:latin typeface="Arial Narrow" panose="020B0606020202030204" pitchFamily="34" charset="0"/>
              </a:rPr>
              <a:t> e F1-score da classe inadimplente.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B8EE9E54-C9E9-49B7-9FF2-C140D207F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178724"/>
              </p:ext>
            </p:extLst>
          </p:nvPr>
        </p:nvGraphicFramePr>
        <p:xfrm>
          <a:off x="1604234" y="3896440"/>
          <a:ext cx="8915175" cy="1219200"/>
        </p:xfrm>
        <a:graphic>
          <a:graphicData uri="http://schemas.openxmlformats.org/drawingml/2006/table">
            <a:tbl>
              <a:tblPr/>
              <a:tblGrid>
                <a:gridCol w="2065774">
                  <a:extLst>
                    <a:ext uri="{9D8B030D-6E8A-4147-A177-3AD203B41FA5}">
                      <a16:colId xmlns:a16="http://schemas.microsoft.com/office/drawing/2014/main" val="2988011473"/>
                    </a:ext>
                  </a:extLst>
                </a:gridCol>
                <a:gridCol w="6849401">
                  <a:extLst>
                    <a:ext uri="{9D8B030D-6E8A-4147-A177-3AD203B41FA5}">
                      <a16:colId xmlns:a16="http://schemas.microsoft.com/office/drawing/2014/main" val="1816628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Métrica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 que avalia na concessão de crédito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829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Capacidade de identificar clientes que efetivamente se tornarão inadimplentes.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276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Precision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Proporção dos clientes classificados como inadimplentes que realmente apresentam inadimplência.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Equilíbrio entre a capacidade de identificar inadimplentes e a precisão dessas identificações.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30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441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da Decisão Operacional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E1B2202-25DB-4E69-9887-4AD4C389E97E}"/>
              </a:ext>
            </a:extLst>
          </p:cNvPr>
          <p:cNvSpPr txBox="1"/>
          <p:nvPr/>
        </p:nvSpPr>
        <p:spPr>
          <a:xfrm>
            <a:off x="193332" y="1044210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Impacto sobre a capacidade de identificação da inadimplência (Recall)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0BE154F6-A8E2-4C1F-A347-D8F1C9E54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96284"/>
              </p:ext>
            </p:extLst>
          </p:nvPr>
        </p:nvGraphicFramePr>
        <p:xfrm>
          <a:off x="1736620" y="4634950"/>
          <a:ext cx="8291816" cy="20264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8079">
                  <a:extLst>
                    <a:ext uri="{9D8B030D-6E8A-4147-A177-3AD203B41FA5}">
                      <a16:colId xmlns:a16="http://schemas.microsoft.com/office/drawing/2014/main" val="1848306798"/>
                    </a:ext>
                  </a:extLst>
                </a:gridCol>
                <a:gridCol w="1798150">
                  <a:extLst>
                    <a:ext uri="{9D8B030D-6E8A-4147-A177-3AD203B41FA5}">
                      <a16:colId xmlns:a16="http://schemas.microsoft.com/office/drawing/2014/main" val="2036625690"/>
                    </a:ext>
                  </a:extLst>
                </a:gridCol>
                <a:gridCol w="2059173">
                  <a:extLst>
                    <a:ext uri="{9D8B030D-6E8A-4147-A177-3AD203B41FA5}">
                      <a16:colId xmlns:a16="http://schemas.microsoft.com/office/drawing/2014/main" val="849606516"/>
                    </a:ext>
                  </a:extLst>
                </a:gridCol>
                <a:gridCol w="1596414">
                  <a:extLst>
                    <a:ext uri="{9D8B030D-6E8A-4147-A177-3AD203B41FA5}">
                      <a16:colId xmlns:a16="http://schemas.microsoft.com/office/drawing/2014/main" val="492738160"/>
                    </a:ext>
                  </a:extLst>
                </a:gridCol>
              </a:tblGrid>
              <a:tr h="3193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Balanceamento Modelo Full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Recall (classe 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Precision</a:t>
                      </a:r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(classe 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F1 (classe 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495961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</a:t>
                      </a:r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Weight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68,99%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38,51%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49,43%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99890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Under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68,70%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38,86%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49,64%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05452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 Balanceamento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31,07%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59,46%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40,82%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24365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SMOTE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49,38%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274351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Híbrido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49,38%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22649"/>
                  </a:ext>
                </a:extLst>
              </a:tr>
            </a:tbl>
          </a:graphicData>
        </a:graphic>
      </p:graphicFrame>
      <p:sp>
        <p:nvSpPr>
          <p:cNvPr id="16" name="CaixaDeTexto 15">
            <a:extLst>
              <a:ext uri="{FF2B5EF4-FFF2-40B4-BE49-F238E27FC236}">
                <a16:creationId xmlns:a16="http://schemas.microsoft.com/office/drawing/2014/main" id="{45D3224B-F689-421C-AF21-9422B50D0649}"/>
              </a:ext>
            </a:extLst>
          </p:cNvPr>
          <p:cNvSpPr txBox="1"/>
          <p:nvPr/>
        </p:nvSpPr>
        <p:spPr>
          <a:xfrm>
            <a:off x="249334" y="2266115"/>
            <a:ext cx="118866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balanceamento promoveu um aumento expressivo na capacidade do modelo de identificar corretamente clientes inadimplentes </a:t>
            </a:r>
            <a:r>
              <a:rPr lang="pt-BR" b="1" dirty="0">
                <a:latin typeface="Arial Narrow" panose="020B0606020202030204" pitchFamily="34" charset="0"/>
              </a:rPr>
              <a:t>(Recall classe 1).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6B6CEC5-22A1-4DD8-A2BB-D2CE50CBF54E}"/>
              </a:ext>
            </a:extLst>
          </p:cNvPr>
          <p:cNvSpPr txBox="1"/>
          <p:nvPr/>
        </p:nvSpPr>
        <p:spPr>
          <a:xfrm>
            <a:off x="249334" y="2877297"/>
            <a:ext cx="10663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Esse comportamento decorre da alteração do processo de otimização da Regressão Logística.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495EC8E-C4F4-4818-AAD1-8A95875DA605}"/>
              </a:ext>
            </a:extLst>
          </p:cNvPr>
          <p:cNvSpPr txBox="1"/>
          <p:nvPr/>
        </p:nvSpPr>
        <p:spPr>
          <a:xfrm>
            <a:off x="249334" y="3857811"/>
            <a:ext cx="11555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Passamos a considerar um aumento a importância relativa dos erros associados à </a:t>
            </a:r>
            <a:r>
              <a:rPr lang="pt-BR" b="1" dirty="0">
                <a:latin typeface="Arial Narrow" panose="020B0606020202030204" pitchFamily="34" charset="0"/>
              </a:rPr>
              <a:t>classe minoritária</a:t>
            </a:r>
            <a:r>
              <a:rPr lang="pt-BR" dirty="0">
                <a:latin typeface="Arial Narrow" panose="020B0606020202030204" pitchFamily="34" charset="0"/>
              </a:rPr>
              <a:t>, seja pela </a:t>
            </a:r>
            <a:r>
              <a:rPr lang="pt-BR" b="1" dirty="0" err="1">
                <a:latin typeface="Arial Narrow" panose="020B0606020202030204" pitchFamily="34" charset="0"/>
              </a:rPr>
              <a:t>reponderação</a:t>
            </a:r>
            <a:r>
              <a:rPr lang="pt-BR" b="1" dirty="0">
                <a:latin typeface="Arial Narrow" panose="020B0606020202030204" pitchFamily="34" charset="0"/>
              </a:rPr>
              <a:t> da função de perda (</a:t>
            </a:r>
            <a:r>
              <a:rPr lang="pt-BR" b="1" dirty="0" err="1">
                <a:latin typeface="Arial Narrow" panose="020B0606020202030204" pitchFamily="34" charset="0"/>
              </a:rPr>
              <a:t>Class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b="1" dirty="0" err="1">
                <a:latin typeface="Arial Narrow" panose="020B0606020202030204" pitchFamily="34" charset="0"/>
              </a:rPr>
              <a:t>Weight</a:t>
            </a:r>
            <a:r>
              <a:rPr lang="pt-BR" b="1" dirty="0">
                <a:latin typeface="Arial Narrow" panose="020B0606020202030204" pitchFamily="34" charset="0"/>
              </a:rPr>
              <a:t>) </a:t>
            </a:r>
            <a:r>
              <a:rPr lang="pt-BR" dirty="0">
                <a:latin typeface="Arial Narrow" panose="020B0606020202030204" pitchFamily="34" charset="0"/>
              </a:rPr>
              <a:t>ou pela modificação da distribuição das classes durante o treinamento </a:t>
            </a:r>
            <a:r>
              <a:rPr lang="pt-BR" i="1" dirty="0">
                <a:latin typeface="Arial Narrow" panose="020B0606020202030204" pitchFamily="34" charset="0"/>
              </a:rPr>
              <a:t>(</a:t>
            </a:r>
            <a:r>
              <a:rPr lang="pt-BR" b="1" dirty="0">
                <a:latin typeface="Arial Narrow" panose="020B0606020202030204" pitchFamily="34" charset="0"/>
              </a:rPr>
              <a:t>SMOTE, </a:t>
            </a:r>
            <a:r>
              <a:rPr lang="pt-BR" b="1" dirty="0" err="1">
                <a:latin typeface="Arial Narrow" panose="020B0606020202030204" pitchFamily="34" charset="0"/>
              </a:rPr>
              <a:t>Under</a:t>
            </a:r>
            <a:r>
              <a:rPr lang="pt-BR" b="1" dirty="0">
                <a:latin typeface="Arial Narrow" panose="020B0606020202030204" pitchFamily="34" charset="0"/>
              </a:rPr>
              <a:t> e Híbrido)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4C7DCC5-30AE-42E0-B6C5-09CD2AE007FA}"/>
              </a:ext>
            </a:extLst>
          </p:cNvPr>
          <p:cNvSpPr txBox="1"/>
          <p:nvPr/>
        </p:nvSpPr>
        <p:spPr>
          <a:xfrm>
            <a:off x="211700" y="3246629"/>
            <a:ext cx="11769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modelo passa a deslocar sua fronteira de decisão em favor da identificação dos clientes inadimplentes, reduzindo a ocorrência de falsos negativos.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A7C9E58-3967-4E29-87FC-C7208A7F5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993878"/>
              </p:ext>
            </p:extLst>
          </p:nvPr>
        </p:nvGraphicFramePr>
        <p:xfrm>
          <a:off x="1569701" y="1544435"/>
          <a:ext cx="8915175" cy="609600"/>
        </p:xfrm>
        <a:graphic>
          <a:graphicData uri="http://schemas.openxmlformats.org/drawingml/2006/table">
            <a:tbl>
              <a:tblPr/>
              <a:tblGrid>
                <a:gridCol w="2065774">
                  <a:extLst>
                    <a:ext uri="{9D8B030D-6E8A-4147-A177-3AD203B41FA5}">
                      <a16:colId xmlns:a16="http://schemas.microsoft.com/office/drawing/2014/main" val="3314048957"/>
                    </a:ext>
                  </a:extLst>
                </a:gridCol>
                <a:gridCol w="6849401">
                  <a:extLst>
                    <a:ext uri="{9D8B030D-6E8A-4147-A177-3AD203B41FA5}">
                      <a16:colId xmlns:a16="http://schemas.microsoft.com/office/drawing/2014/main" val="3036777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Métrica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 que avalia na concessão de crédito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273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Capacidade de identificar clientes que efetivamente se tornarão inadimplentes.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162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866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da Decisão Operacional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E1B2202-25DB-4E69-9887-4AD4C389E97E}"/>
              </a:ext>
            </a:extLst>
          </p:cNvPr>
          <p:cNvSpPr txBox="1"/>
          <p:nvPr/>
        </p:nvSpPr>
        <p:spPr>
          <a:xfrm>
            <a:off x="193332" y="903531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Impacto sobre a precisão das classificações positivas (</a:t>
            </a:r>
            <a:r>
              <a:rPr lang="pt-BR" sz="24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Precision</a:t>
            </a:r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8E45298-B06D-43F7-9A2D-4742BB93578A}"/>
              </a:ext>
            </a:extLst>
          </p:cNvPr>
          <p:cNvSpPr txBox="1"/>
          <p:nvPr/>
        </p:nvSpPr>
        <p:spPr>
          <a:xfrm>
            <a:off x="193331" y="1988750"/>
            <a:ext cx="118448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aumento da capacidade de identificação da inadimplência foi acompanhado por uma redução da precisão (</a:t>
            </a:r>
            <a:r>
              <a:rPr lang="pt-BR" dirty="0" err="1">
                <a:latin typeface="Arial Narrow" panose="020B0606020202030204" pitchFamily="34" charset="0"/>
              </a:rPr>
              <a:t>Precision</a:t>
            </a:r>
            <a:r>
              <a:rPr lang="pt-BR" dirty="0">
                <a:latin typeface="Arial Narrow" panose="020B0606020202030204" pitchFamily="34" charset="0"/>
              </a:rPr>
              <a:t>) das classificações positivas.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4A13864-DB61-40A3-9C64-FB9016207410}"/>
              </a:ext>
            </a:extLst>
          </p:cNvPr>
          <p:cNvSpPr txBox="1"/>
          <p:nvPr/>
        </p:nvSpPr>
        <p:spPr>
          <a:xfrm>
            <a:off x="193331" y="2529897"/>
            <a:ext cx="11465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Enquanto o modelo sem balanceamento apresentou </a:t>
            </a:r>
            <a:r>
              <a:rPr lang="pt-BR" dirty="0" err="1">
                <a:latin typeface="Arial Narrow" panose="020B0606020202030204" pitchFamily="34" charset="0"/>
              </a:rPr>
              <a:t>Precision</a:t>
            </a:r>
            <a:r>
              <a:rPr lang="pt-BR" dirty="0">
                <a:latin typeface="Arial Narrow" panose="020B0606020202030204" pitchFamily="34" charset="0"/>
              </a:rPr>
              <a:t> de 59,46%, as estratégias balanceadas produziram valores próximos de 38%.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95E17F4-5CFD-4A11-A515-702090A4D164}"/>
              </a:ext>
            </a:extLst>
          </p:cNvPr>
          <p:cNvSpPr txBox="1"/>
          <p:nvPr/>
        </p:nvSpPr>
        <p:spPr>
          <a:xfrm>
            <a:off x="175830" y="3076813"/>
            <a:ext cx="10772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Esse comportamento reflete o aumento da sensibilidade do modelo à classe inadimplente. 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C1F147E-E562-4914-AD54-797E3AD8EB84}"/>
              </a:ext>
            </a:extLst>
          </p:cNvPr>
          <p:cNvSpPr txBox="1"/>
          <p:nvPr/>
        </p:nvSpPr>
        <p:spPr>
          <a:xfrm>
            <a:off x="175830" y="3315127"/>
            <a:ext cx="11805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Ao ampliar a região do espaço de características classificada como pertencente à classe 1, o modelo identifica um número maior de clientes inadimplentes, porém também aumenta a quantidade de clientes adimplentes incorretamente classificados como inadimplentes (falsos positivos).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714A244-C036-4FDE-ADC6-600D56D70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54" y="4152331"/>
            <a:ext cx="7777622" cy="268569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1CBDA053-5606-4666-AA78-D1F934107DDE}"/>
              </a:ext>
            </a:extLst>
          </p:cNvPr>
          <p:cNvSpPr txBox="1"/>
          <p:nvPr/>
        </p:nvSpPr>
        <p:spPr>
          <a:xfrm>
            <a:off x="8597608" y="4363460"/>
            <a:ext cx="344062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latin typeface="Arial Narrow" panose="020B0606020202030204" pitchFamily="34" charset="0"/>
              </a:rPr>
              <a:t>Trata-se do trade-off esperado entre sensibilidade e precisão decorrente da alteração da função de perda ou da redistribuição das observações utilizadas durante o treinamento</a:t>
            </a:r>
            <a:r>
              <a:rPr lang="pt-BR" sz="2000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AD052A4-F05A-48DD-856C-54FF1A5EA45B}"/>
              </a:ext>
            </a:extLst>
          </p:cNvPr>
          <p:cNvSpPr/>
          <p:nvPr/>
        </p:nvSpPr>
        <p:spPr>
          <a:xfrm>
            <a:off x="8597608" y="4267885"/>
            <a:ext cx="3440622" cy="11420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1" name="Tabela 30">
            <a:extLst>
              <a:ext uri="{FF2B5EF4-FFF2-40B4-BE49-F238E27FC236}">
                <a16:creationId xmlns:a16="http://schemas.microsoft.com/office/drawing/2014/main" id="{BE06361A-838C-444F-88ED-CC70DC8BA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854855"/>
              </p:ext>
            </p:extLst>
          </p:nvPr>
        </p:nvGraphicFramePr>
        <p:xfrm>
          <a:off x="1368379" y="1363161"/>
          <a:ext cx="8915175" cy="609600"/>
        </p:xfrm>
        <a:graphic>
          <a:graphicData uri="http://schemas.openxmlformats.org/drawingml/2006/table">
            <a:tbl>
              <a:tblPr/>
              <a:tblGrid>
                <a:gridCol w="2065774">
                  <a:extLst>
                    <a:ext uri="{9D8B030D-6E8A-4147-A177-3AD203B41FA5}">
                      <a16:colId xmlns:a16="http://schemas.microsoft.com/office/drawing/2014/main" val="2557923476"/>
                    </a:ext>
                  </a:extLst>
                </a:gridCol>
                <a:gridCol w="6849401">
                  <a:extLst>
                    <a:ext uri="{9D8B030D-6E8A-4147-A177-3AD203B41FA5}">
                      <a16:colId xmlns:a16="http://schemas.microsoft.com/office/drawing/2014/main" val="3502835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Métrica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 que avalia na concessão de crédito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75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Precision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Proporção dos clientes classificados como inadimplentes que realmente apresentam inadimplência.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73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9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da Decisão Operacional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E1B2202-25DB-4E69-9887-4AD4C389E97E}"/>
              </a:ext>
            </a:extLst>
          </p:cNvPr>
          <p:cNvSpPr txBox="1"/>
          <p:nvPr/>
        </p:nvSpPr>
        <p:spPr>
          <a:xfrm>
            <a:off x="193332" y="923633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Equilíbrio entre identificação e precisão (F1-score)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0BE154F6-A8E2-4C1F-A347-D8F1C9E54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31493"/>
              </p:ext>
            </p:extLst>
          </p:nvPr>
        </p:nvGraphicFramePr>
        <p:xfrm>
          <a:off x="1946006" y="4785475"/>
          <a:ext cx="8291816" cy="20264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8079">
                  <a:extLst>
                    <a:ext uri="{9D8B030D-6E8A-4147-A177-3AD203B41FA5}">
                      <a16:colId xmlns:a16="http://schemas.microsoft.com/office/drawing/2014/main" val="1848306798"/>
                    </a:ext>
                  </a:extLst>
                </a:gridCol>
                <a:gridCol w="1798150">
                  <a:extLst>
                    <a:ext uri="{9D8B030D-6E8A-4147-A177-3AD203B41FA5}">
                      <a16:colId xmlns:a16="http://schemas.microsoft.com/office/drawing/2014/main" val="2036625690"/>
                    </a:ext>
                  </a:extLst>
                </a:gridCol>
                <a:gridCol w="2059173">
                  <a:extLst>
                    <a:ext uri="{9D8B030D-6E8A-4147-A177-3AD203B41FA5}">
                      <a16:colId xmlns:a16="http://schemas.microsoft.com/office/drawing/2014/main" val="849606516"/>
                    </a:ext>
                  </a:extLst>
                </a:gridCol>
                <a:gridCol w="1596414">
                  <a:extLst>
                    <a:ext uri="{9D8B030D-6E8A-4147-A177-3AD203B41FA5}">
                      <a16:colId xmlns:a16="http://schemas.microsoft.com/office/drawing/2014/main" val="492738160"/>
                    </a:ext>
                  </a:extLst>
                </a:gridCol>
              </a:tblGrid>
              <a:tr h="3193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Balanceamento Modelo Full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Recall (classe 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Precision</a:t>
                      </a:r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(classe 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F1 (classe 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495961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</a:t>
                      </a:r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Weight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68,99%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38,51%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49,43%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99890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Under</a:t>
                      </a:r>
                      <a:endParaRPr lang="pt-BR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68,70%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38,86%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49,64%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05452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 Balanceamento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31,07%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59,46%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40,82%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24365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SMOTE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49,38%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274351"/>
                  </a:ext>
                </a:extLst>
              </a:tr>
              <a:tr h="3414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Híbrido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49,38%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22649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67EF1060-C432-448A-AAFC-71C5EFE44E32}"/>
              </a:ext>
            </a:extLst>
          </p:cNvPr>
          <p:cNvSpPr txBox="1"/>
          <p:nvPr/>
        </p:nvSpPr>
        <p:spPr>
          <a:xfrm>
            <a:off x="193332" y="2028710"/>
            <a:ext cx="11615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Apesar da redução observada na </a:t>
            </a:r>
            <a:r>
              <a:rPr lang="pt-BR" b="1" dirty="0" err="1">
                <a:latin typeface="Arial Narrow" panose="020B0606020202030204" pitchFamily="34" charset="0"/>
              </a:rPr>
              <a:t>Precision</a:t>
            </a:r>
            <a:r>
              <a:rPr lang="pt-BR" b="1" dirty="0">
                <a:latin typeface="Arial Narrow" panose="020B0606020202030204" pitchFamily="34" charset="0"/>
              </a:rPr>
              <a:t>,</a:t>
            </a:r>
            <a:r>
              <a:rPr lang="pt-BR" dirty="0">
                <a:latin typeface="Arial Narrow" panose="020B0606020202030204" pitchFamily="34" charset="0"/>
              </a:rPr>
              <a:t> todas as estratégias de balanceamento apresentaram </a:t>
            </a:r>
            <a:r>
              <a:rPr lang="pt-BR" b="1" dirty="0">
                <a:latin typeface="Arial Narrow" panose="020B0606020202030204" pitchFamily="34" charset="0"/>
              </a:rPr>
              <a:t>aumento do F1-score.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A0E1677-67C0-49F3-84B2-33139463B3DB}"/>
              </a:ext>
            </a:extLst>
          </p:cNvPr>
          <p:cNvSpPr txBox="1"/>
          <p:nvPr/>
        </p:nvSpPr>
        <p:spPr>
          <a:xfrm>
            <a:off x="193332" y="2660225"/>
            <a:ext cx="11805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Esse resultado indica que o ganho obtido na identificação dos clientes inadimplentes foi suficiente para compensar a redução da precisão, produzindo um equilíbrio superior entre ambas as métricas.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0B13449-DB29-409E-8A13-5FC40E88EBB3}"/>
              </a:ext>
            </a:extLst>
          </p:cNvPr>
          <p:cNvSpPr txBox="1"/>
          <p:nvPr/>
        </p:nvSpPr>
        <p:spPr>
          <a:xfrm>
            <a:off x="193332" y="3253014"/>
            <a:ext cx="11721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Sob a perspectiva operacional, o aumento do </a:t>
            </a:r>
            <a:r>
              <a:rPr lang="pt-BR" b="1" dirty="0">
                <a:latin typeface="Arial Narrow" panose="020B0606020202030204" pitchFamily="34" charset="0"/>
              </a:rPr>
              <a:t>F1-score</a:t>
            </a:r>
            <a:r>
              <a:rPr lang="pt-BR" dirty="0">
                <a:latin typeface="Arial Narrow" panose="020B0606020202030204" pitchFamily="34" charset="0"/>
              </a:rPr>
              <a:t> evidencia uma </a:t>
            </a:r>
            <a:r>
              <a:rPr lang="pt-BR" b="1" dirty="0">
                <a:latin typeface="Arial Narrow" panose="020B0606020202030204" pitchFamily="34" charset="0"/>
              </a:rPr>
              <a:t>melhora global da capacidade de classificação da classe inadimplente a partir da eficiência da regra de decisão final.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45A3E1C-1E3E-48DD-AE3F-4719D53C99FA}"/>
              </a:ext>
            </a:extLst>
          </p:cNvPr>
          <p:cNvSpPr txBox="1"/>
          <p:nvPr/>
        </p:nvSpPr>
        <p:spPr>
          <a:xfrm>
            <a:off x="210834" y="2324398"/>
            <a:ext cx="115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modelo sem balanceamento obteve </a:t>
            </a:r>
            <a:r>
              <a:rPr lang="pt-BR" b="1" dirty="0">
                <a:latin typeface="Arial Narrow" panose="020B0606020202030204" pitchFamily="34" charset="0"/>
              </a:rPr>
              <a:t>F1 de 40,82%, </a:t>
            </a:r>
            <a:r>
              <a:rPr lang="pt-BR" dirty="0">
                <a:latin typeface="Arial Narrow" panose="020B0606020202030204" pitchFamily="34" charset="0"/>
              </a:rPr>
              <a:t>enquanto as estratégias balanceadas alcançaram </a:t>
            </a:r>
            <a:r>
              <a:rPr lang="pt-BR" b="1" dirty="0">
                <a:latin typeface="Arial Narrow" panose="020B0606020202030204" pitchFamily="34" charset="0"/>
              </a:rPr>
              <a:t>aproximadamente 49%.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4ECAF0B-FF33-4D81-97AD-6F5618D23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729495"/>
              </p:ext>
            </p:extLst>
          </p:nvPr>
        </p:nvGraphicFramePr>
        <p:xfrm>
          <a:off x="1680059" y="1372701"/>
          <a:ext cx="8915175" cy="609600"/>
        </p:xfrm>
        <a:graphic>
          <a:graphicData uri="http://schemas.openxmlformats.org/drawingml/2006/table">
            <a:tbl>
              <a:tblPr/>
              <a:tblGrid>
                <a:gridCol w="2065774">
                  <a:extLst>
                    <a:ext uri="{9D8B030D-6E8A-4147-A177-3AD203B41FA5}">
                      <a16:colId xmlns:a16="http://schemas.microsoft.com/office/drawing/2014/main" val="2925826165"/>
                    </a:ext>
                  </a:extLst>
                </a:gridCol>
                <a:gridCol w="6849401">
                  <a:extLst>
                    <a:ext uri="{9D8B030D-6E8A-4147-A177-3AD203B41FA5}">
                      <a16:colId xmlns:a16="http://schemas.microsoft.com/office/drawing/2014/main" val="326735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Métrica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 que avalia na concessão de crédito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87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Equilíbrio entre a capacidade de identificar inadimplentes e a precisão dessas identificações.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987206"/>
                  </a:ext>
                </a:extLst>
              </a:tr>
            </a:tbl>
          </a:graphicData>
        </a:graphic>
      </p:graphicFrame>
      <p:sp>
        <p:nvSpPr>
          <p:cNvPr id="29" name="CaixaDeTexto 28">
            <a:extLst>
              <a:ext uri="{FF2B5EF4-FFF2-40B4-BE49-F238E27FC236}">
                <a16:creationId xmlns:a16="http://schemas.microsoft.com/office/drawing/2014/main" id="{1C346530-5D3D-4A5D-BAD2-4DD64B3B7CBA}"/>
              </a:ext>
            </a:extLst>
          </p:cNvPr>
          <p:cNvSpPr txBox="1"/>
          <p:nvPr/>
        </p:nvSpPr>
        <p:spPr>
          <a:xfrm>
            <a:off x="193332" y="3874664"/>
            <a:ext cx="119945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Entre as abordagens testadas, </a:t>
            </a:r>
            <a:r>
              <a:rPr lang="pt-BR" b="1" dirty="0">
                <a:latin typeface="Arial Narrow" panose="020B0606020202030204" pitchFamily="34" charset="0"/>
              </a:rPr>
              <a:t>o </a:t>
            </a:r>
            <a:r>
              <a:rPr lang="pt-BR" b="1" dirty="0" err="1">
                <a:latin typeface="Arial Narrow" panose="020B0606020202030204" pitchFamily="34" charset="0"/>
              </a:rPr>
              <a:t>Under-sampling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dirty="0">
                <a:latin typeface="Arial Narrow" panose="020B0606020202030204" pitchFamily="34" charset="0"/>
              </a:rPr>
              <a:t>apresenta o </a:t>
            </a:r>
            <a:r>
              <a:rPr lang="pt-BR" b="1" dirty="0">
                <a:latin typeface="Arial Narrow" panose="020B0606020202030204" pitchFamily="34" charset="0"/>
              </a:rPr>
              <a:t>melhor desempenho global em termos de F1-score</a:t>
            </a:r>
            <a:r>
              <a:rPr lang="pt-BR" dirty="0">
                <a:latin typeface="Arial Narrow" panose="020B0606020202030204" pitchFamily="34" charset="0"/>
              </a:rPr>
              <a:t>, indicando o ponto </a:t>
            </a:r>
            <a:r>
              <a:rPr lang="pt-BR" b="1" dirty="0">
                <a:latin typeface="Arial Narrow" panose="020B0606020202030204" pitchFamily="34" charset="0"/>
              </a:rPr>
              <a:t>mais eficiente de trade-off entre captura de inadimplentes e qualidade das classificações da classe positiva (inadimplente), </a:t>
            </a:r>
            <a:r>
              <a:rPr lang="pt-BR" dirty="0">
                <a:latin typeface="Arial Narrow" panose="020B0606020202030204" pitchFamily="34" charset="0"/>
              </a:rPr>
              <a:t>isto é, a precisão das detecções de risco.</a:t>
            </a:r>
          </a:p>
        </p:txBody>
      </p:sp>
    </p:spTree>
    <p:extLst>
      <p:ext uri="{BB962C8B-B14F-4D97-AF65-F5344CB8AC3E}">
        <p14:creationId xmlns:p14="http://schemas.microsoft.com/office/powerpoint/2010/main" val="543899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Avaliação da Decisão Operacional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E1B2202-25DB-4E69-9887-4AD4C389E97E}"/>
              </a:ext>
            </a:extLst>
          </p:cNvPr>
          <p:cNvSpPr txBox="1"/>
          <p:nvPr/>
        </p:nvSpPr>
        <p:spPr>
          <a:xfrm>
            <a:off x="193333" y="959252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Escolha da Estratégia de Balanceamento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A8C1F76-8A4B-4A62-89DD-8D3F2834B7C1}"/>
              </a:ext>
            </a:extLst>
          </p:cNvPr>
          <p:cNvSpPr txBox="1"/>
          <p:nvPr/>
        </p:nvSpPr>
        <p:spPr>
          <a:xfrm>
            <a:off x="193333" y="1297221"/>
            <a:ext cx="116637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latin typeface="Arial Narrow" panose="020B0606020202030204" pitchFamily="34" charset="0"/>
              </a:rPr>
              <a:t>A comparação demonstrou que todas as estratégias de balanceamento preservaram as propriedades estatísticas do modelo, apresentando desempenho semelhante em capacidade discriminatória, generalização e estabilidade.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2E91DC26-8965-4526-844D-9C4BBCD6D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85339"/>
              </p:ext>
            </p:extLst>
          </p:nvPr>
        </p:nvGraphicFramePr>
        <p:xfrm>
          <a:off x="169465" y="2413729"/>
          <a:ext cx="11969206" cy="1693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7265">
                  <a:extLst>
                    <a:ext uri="{9D8B030D-6E8A-4147-A177-3AD203B41FA5}">
                      <a16:colId xmlns:a16="http://schemas.microsoft.com/office/drawing/2014/main" val="1881060660"/>
                    </a:ext>
                  </a:extLst>
                </a:gridCol>
                <a:gridCol w="985891">
                  <a:extLst>
                    <a:ext uri="{9D8B030D-6E8A-4147-A177-3AD203B41FA5}">
                      <a16:colId xmlns:a16="http://schemas.microsoft.com/office/drawing/2014/main" val="3048229440"/>
                    </a:ext>
                  </a:extLst>
                </a:gridCol>
                <a:gridCol w="786084">
                  <a:extLst>
                    <a:ext uri="{9D8B030D-6E8A-4147-A177-3AD203B41FA5}">
                      <a16:colId xmlns:a16="http://schemas.microsoft.com/office/drawing/2014/main" val="32088007"/>
                    </a:ext>
                  </a:extLst>
                </a:gridCol>
                <a:gridCol w="848972">
                  <a:extLst>
                    <a:ext uri="{9D8B030D-6E8A-4147-A177-3AD203B41FA5}">
                      <a16:colId xmlns:a16="http://schemas.microsoft.com/office/drawing/2014/main" val="3147310862"/>
                    </a:ext>
                  </a:extLst>
                </a:gridCol>
                <a:gridCol w="828007">
                  <a:extLst>
                    <a:ext uri="{9D8B030D-6E8A-4147-A177-3AD203B41FA5}">
                      <a16:colId xmlns:a16="http://schemas.microsoft.com/office/drawing/2014/main" val="554890056"/>
                    </a:ext>
                  </a:extLst>
                </a:gridCol>
                <a:gridCol w="796566">
                  <a:extLst>
                    <a:ext uri="{9D8B030D-6E8A-4147-A177-3AD203B41FA5}">
                      <a16:colId xmlns:a16="http://schemas.microsoft.com/office/drawing/2014/main" val="2167628079"/>
                    </a:ext>
                  </a:extLst>
                </a:gridCol>
                <a:gridCol w="974745">
                  <a:extLst>
                    <a:ext uri="{9D8B030D-6E8A-4147-A177-3AD203B41FA5}">
                      <a16:colId xmlns:a16="http://schemas.microsoft.com/office/drawing/2014/main" val="315539024"/>
                    </a:ext>
                  </a:extLst>
                </a:gridCol>
                <a:gridCol w="807046">
                  <a:extLst>
                    <a:ext uri="{9D8B030D-6E8A-4147-A177-3AD203B41FA5}">
                      <a16:colId xmlns:a16="http://schemas.microsoft.com/office/drawing/2014/main" val="382603053"/>
                    </a:ext>
                  </a:extLst>
                </a:gridCol>
                <a:gridCol w="681272">
                  <a:extLst>
                    <a:ext uri="{9D8B030D-6E8A-4147-A177-3AD203B41FA5}">
                      <a16:colId xmlns:a16="http://schemas.microsoft.com/office/drawing/2014/main" val="80937131"/>
                    </a:ext>
                  </a:extLst>
                </a:gridCol>
                <a:gridCol w="778122">
                  <a:extLst>
                    <a:ext uri="{9D8B030D-6E8A-4147-A177-3AD203B41FA5}">
                      <a16:colId xmlns:a16="http://schemas.microsoft.com/office/drawing/2014/main" val="2775617274"/>
                    </a:ext>
                  </a:extLst>
                </a:gridCol>
                <a:gridCol w="987887">
                  <a:extLst>
                    <a:ext uri="{9D8B030D-6E8A-4147-A177-3AD203B41FA5}">
                      <a16:colId xmlns:a16="http://schemas.microsoft.com/office/drawing/2014/main" val="2501167676"/>
                    </a:ext>
                  </a:extLst>
                </a:gridCol>
                <a:gridCol w="683288">
                  <a:extLst>
                    <a:ext uri="{9D8B030D-6E8A-4147-A177-3AD203B41FA5}">
                      <a16:colId xmlns:a16="http://schemas.microsoft.com/office/drawing/2014/main" val="1617457863"/>
                    </a:ext>
                  </a:extLst>
                </a:gridCol>
                <a:gridCol w="844061">
                  <a:extLst>
                    <a:ext uri="{9D8B030D-6E8A-4147-A177-3AD203B41FA5}">
                      <a16:colId xmlns:a16="http://schemas.microsoft.com/office/drawing/2014/main" val="4168185750"/>
                    </a:ext>
                  </a:extLst>
                </a:gridCol>
              </a:tblGrid>
              <a:tr h="45577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Balanceamento Modelo Full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AUC_TREINO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AUC_B2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AUC_B1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STD_CV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DROP_B3_B1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OVERFIT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KS_B1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PSI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Recall (classe 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Precision</a:t>
                      </a:r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(classe 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F1 (classe 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26114"/>
                  </a:ext>
                </a:extLst>
              </a:tr>
              <a:tr h="2321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 Balanceamento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0.7003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38,49%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31,07%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59,46%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40,82%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92198"/>
                  </a:ext>
                </a:extLst>
              </a:tr>
              <a:tr h="2321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3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Class</a:t>
                      </a:r>
                      <a:r>
                        <a:rPr lang="pt-BR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3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Weight</a:t>
                      </a:r>
                      <a:endParaRPr lang="pt-BR" sz="13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68,99%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38,51%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49,43%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80919"/>
                  </a:ext>
                </a:extLst>
              </a:tr>
              <a:tr h="30890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SMOTE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49,38%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662662"/>
                  </a:ext>
                </a:extLst>
              </a:tr>
              <a:tr h="2321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3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Under</a:t>
                      </a:r>
                      <a:endParaRPr lang="pt-BR" sz="13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38,67%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0.0687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68,70%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38,86%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49,64%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822560"/>
                  </a:ext>
                </a:extLst>
              </a:tr>
              <a:tr h="2321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Híbrido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0.6967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0.7505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0.0031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0.0556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68,82%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38,50%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49,38%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420448"/>
                  </a:ext>
                </a:extLst>
              </a:tr>
            </a:tbl>
          </a:graphicData>
        </a:graphic>
      </p:graphicFrame>
      <p:sp>
        <p:nvSpPr>
          <p:cNvPr id="28" name="CaixaDeTexto 27">
            <a:extLst>
              <a:ext uri="{FF2B5EF4-FFF2-40B4-BE49-F238E27FC236}">
                <a16:creationId xmlns:a16="http://schemas.microsoft.com/office/drawing/2014/main" id="{8B6F6DE5-7A72-4344-8A30-3B5AAB8033DE}"/>
              </a:ext>
            </a:extLst>
          </p:cNvPr>
          <p:cNvSpPr txBox="1"/>
          <p:nvPr/>
        </p:nvSpPr>
        <p:spPr>
          <a:xfrm>
            <a:off x="169465" y="1820971"/>
            <a:ext cx="11844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latin typeface="Arial Narrow" panose="020B0606020202030204" pitchFamily="34" charset="0"/>
              </a:rPr>
              <a:t>No contexto operacional de crédito, entretanto, pequenas diferenças nas métricas de classificação tornam-se relevantes por impactarem diretamente o equilíbrio entre identificação da inadimplência e aprovação de clientes adimplentes.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51072FB-5502-4CE1-8A7B-61FEE630AF8F}"/>
              </a:ext>
            </a:extLst>
          </p:cNvPr>
          <p:cNvSpPr txBox="1"/>
          <p:nvPr/>
        </p:nvSpPr>
        <p:spPr>
          <a:xfrm>
            <a:off x="42319" y="4121834"/>
            <a:ext cx="1168041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latin typeface="Arial Narrow" panose="020B0606020202030204" pitchFamily="34" charset="0"/>
              </a:rPr>
              <a:t>Entre as estratégias avaliadas, o </a:t>
            </a:r>
            <a:r>
              <a:rPr lang="pt-BR" sz="1600" b="1" dirty="0" err="1">
                <a:latin typeface="Arial Narrow" panose="020B0606020202030204" pitchFamily="34" charset="0"/>
              </a:rPr>
              <a:t>Under-sampling</a:t>
            </a:r>
            <a:r>
              <a:rPr lang="pt-BR" sz="1600" dirty="0">
                <a:latin typeface="Arial Narrow" panose="020B0606020202030204" pitchFamily="34" charset="0"/>
              </a:rPr>
              <a:t> apresentou: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1600" dirty="0">
                <a:latin typeface="Arial Narrow" panose="020B0606020202030204" pitchFamily="34" charset="0"/>
              </a:rPr>
              <a:t> Menor variabilidade entre os </a:t>
            </a:r>
            <a:r>
              <a:rPr lang="pt-BR" sz="1600" b="1" dirty="0" err="1">
                <a:latin typeface="Arial Narrow" panose="020B0606020202030204" pitchFamily="34" charset="0"/>
              </a:rPr>
              <a:t>folds</a:t>
            </a:r>
            <a:r>
              <a:rPr lang="pt-BR" sz="1600" b="1" dirty="0">
                <a:latin typeface="Arial Narrow" panose="020B0606020202030204" pitchFamily="34" charset="0"/>
              </a:rPr>
              <a:t> (STD_CV = 0,0049)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1600" dirty="0">
                <a:latin typeface="Arial Narrow" panose="020B0606020202030204" pitchFamily="34" charset="0"/>
              </a:rPr>
              <a:t> Menor nível de </a:t>
            </a:r>
            <a:r>
              <a:rPr lang="pt-BR" sz="1600" b="1" dirty="0" err="1">
                <a:latin typeface="Arial Narrow" panose="020B0606020202030204" pitchFamily="34" charset="0"/>
              </a:rPr>
              <a:t>overfitting</a:t>
            </a:r>
            <a:r>
              <a:rPr lang="pt-BR" sz="1600" b="1" dirty="0">
                <a:latin typeface="Arial Narrow" panose="020B0606020202030204" pitchFamily="34" charset="0"/>
              </a:rPr>
              <a:t> (0,0026)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1600" dirty="0">
                <a:latin typeface="Arial Narrow" panose="020B0606020202030204" pitchFamily="34" charset="0"/>
              </a:rPr>
              <a:t> Maior estatística </a:t>
            </a:r>
            <a:r>
              <a:rPr lang="pt-BR" sz="1600" b="1" dirty="0">
                <a:latin typeface="Arial Narrow" panose="020B0606020202030204" pitchFamily="34" charset="0"/>
              </a:rPr>
              <a:t>KS (38,67%)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1600" dirty="0">
                <a:latin typeface="Arial Narrow" panose="020B0606020202030204" pitchFamily="34" charset="0"/>
              </a:rPr>
              <a:t> Melhor equilíbrio entre </a:t>
            </a:r>
            <a:r>
              <a:rPr lang="pt-BR" sz="1600" b="1" dirty="0">
                <a:latin typeface="Arial Narrow" panose="020B0606020202030204" pitchFamily="34" charset="0"/>
              </a:rPr>
              <a:t>Recall e </a:t>
            </a:r>
            <a:r>
              <a:rPr lang="pt-BR" sz="1600" b="1" dirty="0" err="1">
                <a:latin typeface="Arial Narrow" panose="020B0606020202030204" pitchFamily="34" charset="0"/>
              </a:rPr>
              <a:t>Precision</a:t>
            </a:r>
            <a:r>
              <a:rPr lang="pt-BR" sz="1600" b="1" dirty="0">
                <a:latin typeface="Arial Narrow" panose="020B0606020202030204" pitchFamily="34" charset="0"/>
              </a:rPr>
              <a:t> (F1 = 49,64%)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1600" dirty="0">
                <a:latin typeface="Arial Narrow" panose="020B0606020202030204" pitchFamily="34" charset="0"/>
              </a:rPr>
              <a:t> Desempenho discriminatório equivalente às demais estratégias </a:t>
            </a:r>
            <a:r>
              <a:rPr lang="pt-BR" sz="1600" b="1" dirty="0">
                <a:latin typeface="Arial Narrow" panose="020B0606020202030204" pitchFamily="34" charset="0"/>
              </a:rPr>
              <a:t>(AUC_B1 = 0,7511)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1600" dirty="0">
                <a:latin typeface="Arial Narrow" panose="020B0606020202030204" pitchFamily="34" charset="0"/>
              </a:rPr>
              <a:t> Implementação metodologicamente mais simples, sem introdução de observações sintéticas.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BABFA45-F8E1-45DB-994B-50162A458331}"/>
              </a:ext>
            </a:extLst>
          </p:cNvPr>
          <p:cNvSpPr txBox="1"/>
          <p:nvPr/>
        </p:nvSpPr>
        <p:spPr>
          <a:xfrm>
            <a:off x="107311" y="5898748"/>
            <a:ext cx="11969206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50" dirty="0">
                <a:latin typeface="Arial Narrow" panose="020B0606020202030204" pitchFamily="34" charset="0"/>
              </a:rPr>
              <a:t>Considerando a equivalência estatística entre as estratégias avaliadas, </a:t>
            </a:r>
            <a:r>
              <a:rPr lang="pt-BR" sz="1650" b="1" dirty="0">
                <a:latin typeface="Arial Narrow" panose="020B0606020202030204" pitchFamily="34" charset="0"/>
              </a:rPr>
              <a:t>a escolha pelo </a:t>
            </a:r>
            <a:r>
              <a:rPr lang="pt-BR" sz="1650" b="1" dirty="0" err="1">
                <a:latin typeface="Arial Narrow" panose="020B0606020202030204" pitchFamily="34" charset="0"/>
              </a:rPr>
              <a:t>Under-sampling</a:t>
            </a:r>
            <a:r>
              <a:rPr lang="pt-BR" sz="1650" b="1" dirty="0">
                <a:latin typeface="Arial Narrow" panose="020B0606020202030204" pitchFamily="34" charset="0"/>
              </a:rPr>
              <a:t> </a:t>
            </a:r>
            <a:r>
              <a:rPr lang="pt-BR" sz="1650" dirty="0">
                <a:latin typeface="Arial Narrow" panose="020B0606020202030204" pitchFamily="34" charset="0"/>
              </a:rPr>
              <a:t>foi fundamentada pelo melhor equilíbrio operacional observado nas métricas de classificação, aliado à maior preservação da a capacidade de discriminação, a estabilidade e a generalização do modelo.</a:t>
            </a:r>
          </a:p>
        </p:txBody>
      </p:sp>
    </p:spTree>
    <p:extLst>
      <p:ext uri="{BB962C8B-B14F-4D97-AF65-F5344CB8AC3E}">
        <p14:creationId xmlns:p14="http://schemas.microsoft.com/office/powerpoint/2010/main" val="1701025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Regressão Logística | Probabilidade e Score de Risco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36C0E0-8764-4B7F-BFEA-9DA9B2DA7245}"/>
              </a:ext>
            </a:extLst>
          </p:cNvPr>
          <p:cNvSpPr txBox="1"/>
          <p:nvPr/>
        </p:nvSpPr>
        <p:spPr>
          <a:xfrm>
            <a:off x="193333" y="927353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Probabilidade do Evento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16E3D78-DFBF-4C48-81E0-84D07CC97180}"/>
              </a:ext>
            </a:extLst>
          </p:cNvPr>
          <p:cNvSpPr txBox="1"/>
          <p:nvPr/>
        </p:nvSpPr>
        <p:spPr>
          <a:xfrm>
            <a:off x="193333" y="1887831"/>
            <a:ext cx="11844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50" dirty="0">
                <a:latin typeface="Arial Narrow" panose="020B0606020202030204" pitchFamily="34" charset="0"/>
              </a:rPr>
              <a:t>Durante o processo de estimação dos parâmetros a regressão logística não modela diretamente a probabilidade de inadimplência (definição do evento binário de adimplência ou inadimplência), mas sim a chance relativa de ocorrência do evento (</a:t>
            </a:r>
            <a:r>
              <a:rPr lang="pt-BR" sz="1750" dirty="0" err="1">
                <a:latin typeface="Arial Narrow" panose="020B0606020202030204" pitchFamily="34" charset="0"/>
              </a:rPr>
              <a:t>odds</a:t>
            </a:r>
            <a:r>
              <a:rPr lang="pt-BR" sz="1750" dirty="0">
                <a:latin typeface="Arial Narrow" panose="020B0606020202030204" pitchFamily="34" charset="0"/>
              </a:rPr>
              <a:t>), definida como a razão entre a probabilidade do evento ocorrer e não ocorrer.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5B7AE61-22A5-4BB2-BF06-3887CCA8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23" y="3430568"/>
            <a:ext cx="4113862" cy="34130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7B34664-AA82-4E68-84F9-C6BA3A06E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255" y="3377403"/>
            <a:ext cx="7050389" cy="34824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F0202E20-D31C-4916-9CB4-CA9435B18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1519" y="2623174"/>
                <a:ext cx="5892630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lvl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altLang="pt-BR" dirty="0">
                    <a:latin typeface="Arial Narrow" panose="020B0606020202030204" pitchFamily="34" charset="0"/>
                  </a:rPr>
                  <a:t> = representa a probabilidade de inadimplência </a:t>
                </a:r>
              </a:p>
              <a:p>
                <a:pPr marR="0" lvl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pt-BR" altLang="pt-BR" dirty="0">
                    <a:latin typeface="Arial Narrow" panose="020B0606020202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altLang="pt-BR" dirty="0">
                    <a:latin typeface="Arial Narrow" panose="020B0606020202030204" pitchFamily="34" charset="0"/>
                  </a:rPr>
                  <a:t>) = representa a probabilidade de adimplência </a:t>
                </a:r>
              </a:p>
            </p:txBody>
          </p:sp>
        </mc:Choice>
        <mc:Fallback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F0202E20-D31C-4916-9CB4-CA9435B184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1519" y="2623174"/>
                <a:ext cx="5892630" cy="646331"/>
              </a:xfrm>
              <a:prstGeom prst="rect">
                <a:avLst/>
              </a:prstGeom>
              <a:blipFill>
                <a:blip r:embed="rId5"/>
                <a:stretch>
                  <a:fillRect l="-827" t="-3774" b="-1603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2BCFC85-1648-46DF-96F5-8AEA06995113}"/>
                  </a:ext>
                </a:extLst>
              </p:cNvPr>
              <p:cNvSpPr txBox="1"/>
              <p:nvPr/>
            </p:nvSpPr>
            <p:spPr>
              <a:xfrm>
                <a:off x="2469793" y="2855921"/>
                <a:ext cx="1532385" cy="415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000" dirty="0"/>
                  <a:t>= </a:t>
                </a:r>
                <a14:m>
                  <m:oMath xmlns:m="http://schemas.openxmlformats.org/officeDocument/2006/math">
                    <m:r>
                      <a:rPr lang="pt-BR" sz="20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2BCFC85-1648-46DF-96F5-8AEA06995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793" y="2855921"/>
                <a:ext cx="1532385" cy="415152"/>
              </a:xfrm>
              <a:prstGeom prst="rect">
                <a:avLst/>
              </a:prstGeom>
              <a:blipFill>
                <a:blip r:embed="rId6"/>
                <a:stretch>
                  <a:fillRect t="-7246" b="-202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>
            <a:extLst>
              <a:ext uri="{FF2B5EF4-FFF2-40B4-BE49-F238E27FC236}">
                <a16:creationId xmlns:a16="http://schemas.microsoft.com/office/drawing/2014/main" id="{4F13058F-CC0F-4D44-A606-8FC146793F7E}"/>
              </a:ext>
            </a:extLst>
          </p:cNvPr>
          <p:cNvSpPr txBox="1"/>
          <p:nvPr/>
        </p:nvSpPr>
        <p:spPr>
          <a:xfrm>
            <a:off x="193333" y="1312524"/>
            <a:ext cx="1164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50" dirty="0">
                <a:latin typeface="Arial Narrow" panose="020B0606020202030204" pitchFamily="34" charset="0"/>
              </a:rPr>
              <a:t>Definida a estratégia de balanceamento e treinamento do modelo, o próximo passo consiste em compreender como a Regressão Logística constrói a estimativa do risco de inadimplência.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0507905-A57A-4A31-8656-56FB25B72031}"/>
              </a:ext>
            </a:extLst>
          </p:cNvPr>
          <p:cNvSpPr txBox="1"/>
          <p:nvPr/>
        </p:nvSpPr>
        <p:spPr>
          <a:xfrm>
            <a:off x="301253" y="290017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onde: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4621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Regressão Logística | Probabilidade e Score de Risco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D104925-0D53-4529-AD7E-5095AFA48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099" y="3232582"/>
            <a:ext cx="7399366" cy="365923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711976C7-02C0-468C-A2A4-23A282CADC48}"/>
              </a:ext>
            </a:extLst>
          </p:cNvPr>
          <p:cNvSpPr txBox="1"/>
          <p:nvPr/>
        </p:nvSpPr>
        <p:spPr>
          <a:xfrm>
            <a:off x="189247" y="966525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Transformação 1: </a:t>
            </a:r>
            <a:r>
              <a:rPr lang="pt-BR" sz="24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Odds</a:t>
            </a:r>
            <a:endParaRPr lang="pt-BR" sz="2400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48AC5E3-038F-41F4-BFD4-E5A08F801F38}"/>
              </a:ext>
            </a:extLst>
          </p:cNvPr>
          <p:cNvSpPr txBox="1"/>
          <p:nvPr/>
        </p:nvSpPr>
        <p:spPr>
          <a:xfrm>
            <a:off x="258706" y="1421116"/>
            <a:ext cx="11666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 probabilidade, isoladamente, descreve apenas a chance de ocorrência do evento, para comparar diretamente a relação entre as duas classes (registros adimplentes e inadimplentes), utiliza-se a medida denominada </a:t>
            </a:r>
            <a:r>
              <a:rPr lang="pt-BR" dirty="0" err="1">
                <a:latin typeface="Arial Narrow" panose="020B0606020202030204" pitchFamily="34" charset="0"/>
              </a:rPr>
              <a:t>odds</a:t>
            </a:r>
            <a:r>
              <a:rPr lang="pt-BR" dirty="0">
                <a:latin typeface="Arial Narrow" panose="020B0606020202030204" pitchFamily="34" charset="0"/>
              </a:rPr>
              <a:t> (chance relativa), definida como a razão entre a probabilidade do evento ocorrer e a probabilidade de ele não ocorrer.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A89900C-41C0-4655-8BDD-B40EB7D08DEF}"/>
                  </a:ext>
                </a:extLst>
              </p:cNvPr>
              <p:cNvSpPr txBox="1"/>
              <p:nvPr/>
            </p:nvSpPr>
            <p:spPr>
              <a:xfrm>
                <a:off x="6290539" y="2309252"/>
                <a:ext cx="589737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𝒐𝒅𝒅𝒔</m:t>
                    </m:r>
                  </m:oMath>
                </a14:m>
                <a:r>
                  <a:rPr lang="pt-BR" b="1" dirty="0">
                    <a:latin typeface="Arial Narrow" panose="020B0606020202030204" pitchFamily="34" charset="0"/>
                  </a:rPr>
                  <a:t> = 1 </a:t>
                </a:r>
                <a:r>
                  <a:rPr lang="pt-BR" dirty="0">
                    <a:latin typeface="Arial Narrow" panose="020B0606020202030204" pitchFamily="34" charset="0"/>
                  </a:rPr>
                  <a:t>→ risco de inadimplentes e não risco são iguais </a:t>
                </a:r>
              </a:p>
              <a:p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𝒐𝒅𝒅𝒔</m:t>
                    </m:r>
                  </m:oMath>
                </a14:m>
                <a:r>
                  <a:rPr lang="pt-BR" b="1" dirty="0">
                    <a:latin typeface="Arial Narrow" panose="020B0606020202030204" pitchFamily="34" charset="0"/>
                  </a:rPr>
                  <a:t> &gt; 1 </a:t>
                </a:r>
                <a:r>
                  <a:rPr lang="pt-BR" dirty="0">
                    <a:latin typeface="Arial Narrow" panose="020B0606020202030204" pitchFamily="34" charset="0"/>
                  </a:rPr>
                  <a:t>→ maior probabilidade de inadimplência </a:t>
                </a:r>
              </a:p>
              <a:p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𝒐𝒅𝒅𝒔</m:t>
                    </m:r>
                  </m:oMath>
                </a14:m>
                <a:r>
                  <a:rPr lang="pt-BR" b="1" dirty="0">
                    <a:latin typeface="Arial Narrow" panose="020B0606020202030204" pitchFamily="34" charset="0"/>
                  </a:rPr>
                  <a:t> &lt; 1 </a:t>
                </a:r>
                <a:r>
                  <a:rPr lang="pt-BR" dirty="0">
                    <a:latin typeface="Arial Narrow" panose="020B0606020202030204" pitchFamily="34" charset="0"/>
                  </a:rPr>
                  <a:t>→ maior probabilidade de adimplência</a:t>
                </a:r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A89900C-41C0-4655-8BDD-B40EB7D08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539" y="2309252"/>
                <a:ext cx="5897375" cy="923330"/>
              </a:xfrm>
              <a:prstGeom prst="rect">
                <a:avLst/>
              </a:prstGeom>
              <a:blipFill>
                <a:blip r:embed="rId4"/>
                <a:stretch>
                  <a:fillRect t="-3311" b="-105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15D4D88-F99C-4194-920C-AE1CA3EF3DA7}"/>
                  </a:ext>
                </a:extLst>
              </p:cNvPr>
              <p:cNvSpPr txBox="1"/>
              <p:nvPr/>
            </p:nvSpPr>
            <p:spPr>
              <a:xfrm>
                <a:off x="3086907" y="2498642"/>
                <a:ext cx="2656948" cy="627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𝑜𝑑𝑑𝑠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15D4D88-F99C-4194-920C-AE1CA3EF3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07" y="2498642"/>
                <a:ext cx="2656948" cy="6271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531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Regressão Logística | Probabilidade e Score de Risco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D104925-0D53-4529-AD7E-5095AFA48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792" y="3385516"/>
            <a:ext cx="7021738" cy="3472483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148AC5E3-038F-41F4-BFD4-E5A08F801F38}"/>
              </a:ext>
            </a:extLst>
          </p:cNvPr>
          <p:cNvSpPr txBox="1"/>
          <p:nvPr/>
        </p:nvSpPr>
        <p:spPr>
          <a:xfrm>
            <a:off x="193333" y="1342909"/>
            <a:ext cx="11666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Embora as </a:t>
            </a:r>
            <a:r>
              <a:rPr lang="pt-BR" dirty="0" err="1">
                <a:latin typeface="Arial Narrow" panose="020B0606020202030204" pitchFamily="34" charset="0"/>
              </a:rPr>
              <a:t>odds</a:t>
            </a:r>
            <a:r>
              <a:rPr lang="pt-BR" dirty="0">
                <a:latin typeface="Arial Narrow" panose="020B0606020202030204" pitchFamily="34" charset="0"/>
              </a:rPr>
              <a:t> permitam comparar diretamente as chances de ocorrência do evento, seus valores permanecem restritos ao intervalo (0, +∞). Para que essa relação possa ser representada como uma combinação linear das variáveis explicativas, aplica-se o logaritmo natural das </a:t>
            </a:r>
            <a:r>
              <a:rPr lang="pt-BR" dirty="0" err="1">
                <a:latin typeface="Arial Narrow" panose="020B0606020202030204" pitchFamily="34" charset="0"/>
              </a:rPr>
              <a:t>odds</a:t>
            </a:r>
            <a:r>
              <a:rPr lang="pt-BR" dirty="0">
                <a:latin typeface="Arial Narrow" panose="020B0606020202030204" pitchFamily="34" charset="0"/>
              </a:rPr>
              <a:t>, originando o log-</a:t>
            </a:r>
            <a:r>
              <a:rPr lang="pt-BR" dirty="0" err="1">
                <a:latin typeface="Arial Narrow" panose="020B0606020202030204" pitchFamily="34" charset="0"/>
              </a:rPr>
              <a:t>odds</a:t>
            </a:r>
            <a:r>
              <a:rPr lang="pt-BR" dirty="0">
                <a:latin typeface="Arial Narrow" panose="020B0606020202030204" pitchFamily="34" charset="0"/>
              </a:rPr>
              <a:t> (ou </a:t>
            </a:r>
            <a:r>
              <a:rPr lang="pt-BR" dirty="0" err="1">
                <a:latin typeface="Arial Narrow" panose="020B0606020202030204" pitchFamily="34" charset="0"/>
              </a:rPr>
              <a:t>logit</a:t>
            </a:r>
            <a:r>
              <a:rPr lang="pt-BR" dirty="0">
                <a:latin typeface="Arial Narrow" panose="020B0606020202030204" pitchFamily="34" charset="0"/>
              </a:rPr>
              <a:t>), que corresponde ao score linear da Regressão Logística.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15D4D88-F99C-4194-920C-AE1CA3EF3DA7}"/>
                  </a:ext>
                </a:extLst>
              </p:cNvPr>
              <p:cNvSpPr txBox="1"/>
              <p:nvPr/>
            </p:nvSpPr>
            <p:spPr>
              <a:xfrm>
                <a:off x="3176069" y="2695935"/>
                <a:ext cx="2656948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15D4D88-F99C-4194-920C-AE1CA3EF3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069" y="2695935"/>
                <a:ext cx="2656948" cy="6455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27BCE8E5-79E7-4975-B1CD-7176129FE31C}"/>
              </a:ext>
            </a:extLst>
          </p:cNvPr>
          <p:cNvSpPr txBox="1"/>
          <p:nvPr/>
        </p:nvSpPr>
        <p:spPr>
          <a:xfrm>
            <a:off x="193333" y="916720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Transformação 2: Log-</a:t>
            </a:r>
            <a:r>
              <a:rPr lang="pt-BR" sz="24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Odds</a:t>
            </a:r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pt-BR" sz="24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Logit</a:t>
            </a:r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0B643508-B55F-41B9-A723-11CE58AA6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5661" y="2609242"/>
                <a:ext cx="4900714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altLang="pt-BR" dirty="0">
                    <a:latin typeface="Arial Narrow" panose="020B0606020202030204" pitchFamily="34" charset="0"/>
                  </a:rPr>
                  <a:t> =</a:t>
                </a:r>
                <a:r>
                  <a:rPr lang="pt-BR" altLang="pt-BR" b="1" dirty="0">
                    <a:latin typeface="Arial Narrow" panose="020B0606020202030204" pitchFamily="34" charset="0"/>
                  </a:rPr>
                  <a:t> </a:t>
                </a:r>
                <a:r>
                  <a:rPr lang="pt-BR" altLang="pt-BR" dirty="0">
                    <a:latin typeface="Arial Narrow" panose="020B0606020202030204" pitchFamily="34" charset="0"/>
                  </a:rPr>
                  <a:t>inadimplência (evento</a:t>
                </a:r>
                <a:r>
                  <a:rPr lang="pt-BR" altLang="pt-BR" dirty="0">
                    <a:latin typeface="Arial Narrow" panose="020B0606020202030204" pitchFamily="34" charset="0"/>
                    <a:sym typeface="Wingdings" panose="05000000000000000000" pitchFamily="2" charset="2"/>
                  </a:rPr>
                  <a:t>)</a:t>
                </a:r>
                <a:endParaRPr lang="pt-BR" altLang="pt-BR" dirty="0">
                  <a:latin typeface="Arial Narrow" panose="020B0606020202030204" pitchFamily="34" charset="0"/>
                </a:endParaRP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(1 − 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altLang="pt-BR" sz="1800" i="1" dirty="0">
                    <a:latin typeface="Cambria Math" panose="02040503050406030204" pitchFamily="18" charset="0"/>
                  </a:rPr>
                  <a:t>)  </a:t>
                </a:r>
                <a:r>
                  <a:rPr lang="pt-BR" altLang="pt-BR" dirty="0">
                    <a:latin typeface="Arial Narrow" panose="020B0606020202030204" pitchFamily="34" charset="0"/>
                  </a:rPr>
                  <a:t>=</a:t>
                </a:r>
                <a:r>
                  <a:rPr lang="pt-BR" altLang="pt-BR" sz="1800" i="1" dirty="0">
                    <a:latin typeface="Cambria Math" panose="02040503050406030204" pitchFamily="18" charset="0"/>
                  </a:rPr>
                  <a:t> </a:t>
                </a:r>
                <a:r>
                  <a:rPr lang="pt-BR" altLang="pt-BR" dirty="0">
                    <a:latin typeface="Arial Narrow" panose="020B0606020202030204" pitchFamily="34" charset="0"/>
                  </a:rPr>
                  <a:t>adimplência (não-evento) </a:t>
                </a:r>
              </a:p>
            </p:txBody>
          </p:sp>
        </mc:Choice>
        <mc:Fallback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0B643508-B55F-41B9-A723-11CE58AA67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5661" y="2609242"/>
                <a:ext cx="4900714" cy="646331"/>
              </a:xfrm>
              <a:prstGeom prst="rect">
                <a:avLst/>
              </a:prstGeom>
              <a:blipFill>
                <a:blip r:embed="rId5"/>
                <a:stretch>
                  <a:fillRect t="-3774" b="-1603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84736C89-74D8-4C39-98E4-B70C848E3179}"/>
              </a:ext>
            </a:extLst>
          </p:cNvPr>
          <p:cNvSpPr txBox="1"/>
          <p:nvPr/>
        </p:nvSpPr>
        <p:spPr>
          <a:xfrm>
            <a:off x="193333" y="2188892"/>
            <a:ext cx="11805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Nesse espaço linear, o modelo estima os coeficientes associados a cada variável, quantificando sua contribuição para o aumento ou redução do risco estimado de inadimplência.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2841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Regressão Logística | Probabilidade e Score de Risco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11976C7-02C0-468C-A2A4-23A282CADC48}"/>
              </a:ext>
            </a:extLst>
          </p:cNvPr>
          <p:cNvSpPr txBox="1"/>
          <p:nvPr/>
        </p:nvSpPr>
        <p:spPr>
          <a:xfrm>
            <a:off x="92580" y="1022233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Modelo Linear no Espaço log-</a:t>
            </a:r>
            <a:r>
              <a:rPr lang="pt-BR" sz="24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odds</a:t>
            </a:r>
            <a:endParaRPr lang="pt-BR" sz="2400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4C04171-3D51-4C0D-8797-1DBD3362FD58}"/>
              </a:ext>
            </a:extLst>
          </p:cNvPr>
          <p:cNvSpPr txBox="1"/>
          <p:nvPr/>
        </p:nvSpPr>
        <p:spPr>
          <a:xfrm>
            <a:off x="289573" y="2644954"/>
            <a:ext cx="609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Onde: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E96FAE2-1092-49CF-A318-33F35FEA00A7}"/>
                  </a:ext>
                </a:extLst>
              </p:cNvPr>
              <p:cNvSpPr txBox="1"/>
              <p:nvPr/>
            </p:nvSpPr>
            <p:spPr>
              <a:xfrm>
                <a:off x="118646" y="1509454"/>
                <a:ext cx="1206926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>
                    <a:latin typeface="Arial Narrow" panose="020B0606020202030204" pitchFamily="34" charset="0"/>
                  </a:rPr>
                  <a:t>A regressão logística assume que o risco de inadimplência não é modelado diretamente em termos de probabilidade, mas sim como uma combinação linear das variáveis explicativas no espaço em escala intermediária chamada log-</a:t>
                </a:r>
                <a:r>
                  <a:rPr lang="pt-BR" dirty="0" err="1">
                    <a:latin typeface="Arial Narrow" panose="020B0606020202030204" pitchFamily="34" charset="0"/>
                  </a:rPr>
                  <a:t>odds</a:t>
                </a:r>
                <a:r>
                  <a:rPr lang="pt-BR" dirty="0">
                    <a:latin typeface="Arial Narrow" panose="020B0606020202030204" pitchFamily="34" charset="0"/>
                  </a:rPr>
                  <a:t> (ou </a:t>
                </a:r>
                <a:r>
                  <a:rPr lang="pt-BR" dirty="0" err="1">
                    <a:latin typeface="Arial Narrow" panose="020B0606020202030204" pitchFamily="34" charset="0"/>
                  </a:rPr>
                  <a:t>logit</a:t>
                </a:r>
                <a:r>
                  <a:rPr lang="pt-BR" dirty="0">
                    <a:latin typeface="Arial Narrow" panose="020B0606020202030204" pitchFamily="34" charset="0"/>
                  </a:rPr>
                  <a:t>) e na construção do score de risco (onde os coeficientes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>
                            <a:latin typeface="Arial Narrow" panose="020B0606020202030204" pitchFamily="34" charset="0"/>
                          </a:rPr>
                          <m:t>β</m:t>
                        </m:r>
                      </m:e>
                      <m:sub>
                        <m:r>
                          <a:rPr lang="pt-BR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>
                            <a:latin typeface="Arial Narrow" panose="020B0606020202030204" pitchFamily="34" charset="0"/>
                          </a:rPr>
                          <m:t>β</m:t>
                        </m:r>
                      </m:e>
                      <m:sub>
                        <m:r>
                          <a:rPr lang="pt-BR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,</a:t>
                </a:r>
                <a:r>
                  <a:rPr lang="el-GR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>
                            <a:latin typeface="Arial Narrow" panose="020B0606020202030204" pitchFamily="34" charset="0"/>
                          </a:rPr>
                          <m:t>β</m:t>
                        </m:r>
                      </m:e>
                      <m:sub>
                        <m:r>
                          <a:rPr lang="pt-BR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, </a:t>
                </a:r>
                <a:r>
                  <a:rPr lang="pt-BR" dirty="0" err="1">
                    <a:latin typeface="Arial Narrow" panose="020B0606020202030204" pitchFamily="34" charset="0"/>
                  </a:rPr>
                  <a:t>etc</a:t>
                </a:r>
                <a:r>
                  <a:rPr lang="pt-BR" dirty="0">
                    <a:latin typeface="Arial Narrow" panose="020B0606020202030204" pitchFamily="34" charset="0"/>
                  </a:rPr>
                  <a:t>) atuam):</a:t>
                </a: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E96FAE2-1092-49CF-A318-33F35FEA0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46" y="1509454"/>
                <a:ext cx="12069268" cy="923330"/>
              </a:xfrm>
              <a:prstGeom prst="rect">
                <a:avLst/>
              </a:prstGeom>
              <a:blipFill>
                <a:blip r:embed="rId3"/>
                <a:stretch>
                  <a:fillRect l="-404" t="-3311" b="-105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046C45D0-8478-4076-817A-277582320E9E}"/>
                  </a:ext>
                </a:extLst>
              </p:cNvPr>
              <p:cNvSpPr txBox="1"/>
              <p:nvPr/>
            </p:nvSpPr>
            <p:spPr>
              <a:xfrm>
                <a:off x="2781402" y="2482667"/>
                <a:ext cx="6921536" cy="481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600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pt-BR" sz="1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1 − 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pt-B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pt-BR" dirty="0"/>
                  <a:t> + ...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046C45D0-8478-4076-817A-277582320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402" y="2482667"/>
                <a:ext cx="6921536" cy="481735"/>
              </a:xfrm>
              <a:prstGeom prst="rect">
                <a:avLst/>
              </a:prstGeom>
              <a:blipFill>
                <a:blip r:embed="rId4"/>
                <a:stretch>
                  <a:fillRect t="-2532" b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ixaDeTexto 29">
            <a:extLst>
              <a:ext uri="{FF2B5EF4-FFF2-40B4-BE49-F238E27FC236}">
                <a16:creationId xmlns:a16="http://schemas.microsoft.com/office/drawing/2014/main" id="{FA76CC20-CB8D-4AA5-8862-0BB3272D7323}"/>
              </a:ext>
            </a:extLst>
          </p:cNvPr>
          <p:cNvSpPr txBox="1"/>
          <p:nvPr/>
        </p:nvSpPr>
        <p:spPr>
          <a:xfrm>
            <a:off x="492685" y="6827613"/>
            <a:ext cx="609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12B24F67-9332-4372-A09E-F4E2D27CB745}"/>
                  </a:ext>
                </a:extLst>
              </p:cNvPr>
              <p:cNvSpPr txBox="1"/>
              <p:nvPr/>
            </p:nvSpPr>
            <p:spPr>
              <a:xfrm>
                <a:off x="176727" y="3360388"/>
                <a:ext cx="4120022" cy="1251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lang="pt-BR" sz="1600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pt-BR" sz="1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1 − 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latin typeface="Arial Narrow" panose="020B0606020202030204" pitchFamily="34" charset="0"/>
                  </a:rPr>
                  <a:t>= </a:t>
                </a:r>
                <a:r>
                  <a:rPr kumimoji="0" lang="pt-BR" altLang="pt-B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representa o </a:t>
                </a:r>
                <a:r>
                  <a:rPr kumimoji="0" lang="pt-BR" altLang="pt-B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logaritmo da razão entre a probabilidade de inadimplência e adimplência</a:t>
                </a:r>
                <a:r>
                  <a:rPr kumimoji="0" lang="pt-BR" altLang="pt-B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, ou seja, uma medida relativa entre dois possíveis estados do cliente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12B24F67-9332-4372-A09E-F4E2D27CB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27" y="3360388"/>
                <a:ext cx="4120022" cy="1251176"/>
              </a:xfrm>
              <a:prstGeom prst="rect">
                <a:avLst/>
              </a:prstGeom>
              <a:blipFill>
                <a:blip r:embed="rId5"/>
                <a:stretch>
                  <a:fillRect l="-592" t="-1951" r="-740" b="-73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D5920958-2DC9-4B42-A9F9-BF79FCAB9605}"/>
                  </a:ext>
                </a:extLst>
              </p:cNvPr>
              <p:cNvSpPr txBox="1"/>
              <p:nvPr/>
            </p:nvSpPr>
            <p:spPr>
              <a:xfrm>
                <a:off x="92580" y="4968838"/>
                <a:ext cx="423286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600" dirty="0" smtClean="0"/>
                          <m:t>β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pt-BR" sz="16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600" dirty="0"/>
                          <m:t>β</m:t>
                        </m:r>
                      </m:e>
                      <m:sub>
                        <m:r>
                          <a:rPr lang="pt-BR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6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6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altLang="pt-B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+ ... </a:t>
                </a:r>
                <a:r>
                  <a:rPr lang="pt-BR" sz="16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600" dirty="0"/>
                          <m:t>β</m:t>
                        </m:r>
                      </m:e>
                      <m:sub>
                        <m:r>
                          <a:rPr lang="pt-BR" sz="16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kumimoji="0" lang="pt-BR" altLang="pt-B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=  representa uma </a:t>
                </a:r>
                <a:r>
                  <a:rPr kumimoji="0" lang="pt-BR" altLang="pt-B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combinação linear dos atributos do cliente</a:t>
                </a:r>
                <a:r>
                  <a:rPr kumimoji="0" lang="pt-BR" altLang="pt-B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, onde cada variável contribui de forma aditiva para a formação de um score de risco. </a:t>
                </a: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D5920958-2DC9-4B42-A9F9-BF79FCAB9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0" y="4968838"/>
                <a:ext cx="4232868" cy="1077218"/>
              </a:xfrm>
              <a:prstGeom prst="rect">
                <a:avLst/>
              </a:prstGeom>
              <a:blipFill>
                <a:blip r:embed="rId6"/>
                <a:stretch>
                  <a:fillRect l="-576" t="-1695" r="-719" b="-67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Imagem 37">
            <a:extLst>
              <a:ext uri="{FF2B5EF4-FFF2-40B4-BE49-F238E27FC236}">
                <a16:creationId xmlns:a16="http://schemas.microsoft.com/office/drawing/2014/main" id="{BBCE077C-FCF8-45C8-A3A7-7800F16362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054" y="3014286"/>
            <a:ext cx="7446366" cy="369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820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8A54A6-9CE4-4F5C-AAE0-22D85DB49F43}"/>
              </a:ext>
            </a:extLst>
          </p:cNvPr>
          <p:cNvSpPr txBox="1"/>
          <p:nvPr/>
        </p:nvSpPr>
        <p:spPr>
          <a:xfrm>
            <a:off x="195645" y="966844"/>
            <a:ext cx="11646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Durante o treinamento, a Regressão Logística estima os coeficientes β que melhor descrevem a relação entre as características dos clientes e o risco de inadimplência.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BA5B266-1BB2-4BBE-BD2C-AC134EC49ECE}"/>
              </a:ext>
            </a:extLst>
          </p:cNvPr>
          <p:cNvSpPr txBox="1"/>
          <p:nvPr/>
        </p:nvSpPr>
        <p:spPr>
          <a:xfrm>
            <a:off x="125815" y="2164248"/>
            <a:ext cx="11646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Cada coeficiente (β) representa a contribuição marginal de uma variável para o score de risco construído no espaço log-</a:t>
            </a:r>
            <a:r>
              <a:rPr lang="pt-BR" dirty="0" err="1">
                <a:latin typeface="Arial Narrow" panose="020B0606020202030204" pitchFamily="34" charset="0"/>
              </a:rPr>
              <a:t>odds</a:t>
            </a:r>
            <a:r>
              <a:rPr lang="pt-BR" dirty="0">
                <a:latin typeface="Arial Narrow" panose="020B0606020202030204" pitchFamily="34" charset="0"/>
              </a:rPr>
              <a:t>.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A47B4A0-E64E-473C-B5DA-C657CB051156}"/>
              </a:ext>
            </a:extLst>
          </p:cNvPr>
          <p:cNvSpPr txBox="1"/>
          <p:nvPr/>
        </p:nvSpPr>
        <p:spPr>
          <a:xfrm>
            <a:off x="112677" y="2553854"/>
            <a:ext cx="11925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 sinal do coeficiente indica a direção do efeito sobre o risco de inadimplência, enquanto sua magnitude indica a intensidade dessa influência sobre o score de risco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DED09C3-62A5-43CF-BB79-329272F788C0}"/>
                  </a:ext>
                </a:extLst>
              </p:cNvPr>
              <p:cNvSpPr txBox="1"/>
              <p:nvPr/>
            </p:nvSpPr>
            <p:spPr>
              <a:xfrm>
                <a:off x="2781476" y="1629544"/>
                <a:ext cx="6921536" cy="481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600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pt-BR" sz="1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1 − 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pt-B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pt-BR" dirty="0"/>
                  <a:t> + ...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DED09C3-62A5-43CF-BB79-329272F78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476" y="1629544"/>
                <a:ext cx="6921536" cy="481735"/>
              </a:xfrm>
              <a:prstGeom prst="rect">
                <a:avLst/>
              </a:prstGeom>
              <a:blipFill>
                <a:blip r:embed="rId3"/>
                <a:stretch>
                  <a:fillRect t="-2532" b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89987785-A262-48B4-A61C-94A3731C59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568034"/>
                  </p:ext>
                </p:extLst>
              </p:nvPr>
            </p:nvGraphicFramePr>
            <p:xfrm>
              <a:off x="1778558" y="3252689"/>
              <a:ext cx="9490769" cy="1005840"/>
            </p:xfrm>
            <a:graphic>
              <a:graphicData uri="http://schemas.openxmlformats.org/drawingml/2006/table">
                <a:tbl>
                  <a:tblPr/>
                  <a:tblGrid>
                    <a:gridCol w="4232969">
                      <a:extLst>
                        <a:ext uri="{9D8B030D-6E8A-4147-A177-3AD203B41FA5}">
                          <a16:colId xmlns:a16="http://schemas.microsoft.com/office/drawing/2014/main" val="310748460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296258312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600" b="1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Coeficiente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600" b="1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Interpretação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98628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l-GR" sz="1600" b="1" i="0" u="none" strike="noStrike" kern="1200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Arial Narrow" panose="020B0606020202030204" pitchFamily="34" charset="0"/>
                                  <a:ea typeface="+mn-ea"/>
                                  <a:cs typeface="+mn-cs"/>
                                </a:rPr>
                                <m:t>β</m:t>
                              </m:r>
                            </m:oMath>
                          </a14:m>
                          <a:r>
                            <a:rPr lang="sv-SE" sz="1600" b="1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 &gt; 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aumenta o log-</a:t>
                          </a:r>
                          <a:r>
                            <a:rPr lang="pt-BR" sz="1600" b="0" i="0" u="none" strike="noStrike" kern="1200" dirty="0" err="1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odds</a:t>
                          </a:r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 e eleva o risco de inadimplência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91946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l-GR" sz="1600" b="1" i="0" u="none" strike="noStrike" kern="1200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Arial Narrow" panose="020B0606020202030204" pitchFamily="34" charset="0"/>
                                  <a:ea typeface="+mn-ea"/>
                                  <a:cs typeface="+mn-cs"/>
                                </a:rPr>
                                <m:t>β</m:t>
                              </m:r>
                            </m:oMath>
                          </a14:m>
                          <a:r>
                            <a:rPr lang="sv-SE" sz="1600" b="1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 &lt; 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reduz o log-</a:t>
                          </a:r>
                          <a:r>
                            <a:rPr lang="pt-BR" sz="1600" b="0" i="0" u="none" strike="noStrike" kern="1200" dirty="0" err="1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odds</a:t>
                          </a:r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 e reduz o risco de inadimplência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64221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89987785-A262-48B4-A61C-94A3731C59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568034"/>
                  </p:ext>
                </p:extLst>
              </p:nvPr>
            </p:nvGraphicFramePr>
            <p:xfrm>
              <a:off x="1778558" y="3252689"/>
              <a:ext cx="9490769" cy="1005840"/>
            </p:xfrm>
            <a:graphic>
              <a:graphicData uri="http://schemas.openxmlformats.org/drawingml/2006/table">
                <a:tbl>
                  <a:tblPr/>
                  <a:tblGrid>
                    <a:gridCol w="4232969">
                      <a:extLst>
                        <a:ext uri="{9D8B030D-6E8A-4147-A177-3AD203B41FA5}">
                          <a16:colId xmlns:a16="http://schemas.microsoft.com/office/drawing/2014/main" val="310748460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296258312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600" b="1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Coeficiente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600" b="1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Interpretação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986286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" t="-101786" r="-124460" b="-123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aumenta o log-</a:t>
                          </a:r>
                          <a:r>
                            <a:rPr lang="pt-BR" sz="1600" b="0" i="0" u="none" strike="noStrike" kern="1200" dirty="0" err="1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odds</a:t>
                          </a:r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 e eleva o risco de inadimplência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919464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" t="-205455" r="-124460" b="-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reduz o log-</a:t>
                          </a:r>
                          <a:r>
                            <a:rPr lang="pt-BR" sz="1600" b="0" i="0" u="none" strike="noStrike" kern="1200" dirty="0" err="1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odds</a:t>
                          </a:r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 e reduz o risco de inadimplência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64221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CaixaDeTexto 26">
            <a:extLst>
              <a:ext uri="{FF2B5EF4-FFF2-40B4-BE49-F238E27FC236}">
                <a16:creationId xmlns:a16="http://schemas.microsoft.com/office/drawing/2014/main" id="{BA4EA903-ADD5-4DE1-9E29-0CD21628FD7A}"/>
              </a:ext>
            </a:extLst>
          </p:cNvPr>
          <p:cNvSpPr txBox="1"/>
          <p:nvPr/>
        </p:nvSpPr>
        <p:spPr>
          <a:xfrm>
            <a:off x="112677" y="4387894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Para comparar a contribuição relativa das variáveis, utiliza-se o módulo dos coeficientes estimados: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1203E23C-F57E-445B-8766-0B089F6497FE}"/>
                  </a:ext>
                </a:extLst>
              </p:cNvPr>
              <p:cNvSpPr txBox="1"/>
              <p:nvPr/>
            </p:nvSpPr>
            <p:spPr>
              <a:xfrm>
                <a:off x="4833751" y="4692322"/>
                <a:ext cx="27498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𝐼𝑚𝑝𝑜𝑟𝑡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â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𝑛𝑐𝑖𝑎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pt-BR" sz="2000" dirty="0"/>
                  <a:t>= ∣</a:t>
                </a:r>
                <a:r>
                  <a:rPr lang="el-G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/>
                          <m:t>β</m:t>
                        </m:r>
                      </m:e>
                      <m:sub>
                        <m:r>
                          <a:rPr lang="pt-BR" sz="20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l-GR" sz="2000" dirty="0"/>
                  <a:t>∣</a:t>
                </a:r>
                <a:endParaRPr lang="pt-BR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1203E23C-F57E-445B-8766-0B089F649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751" y="4692322"/>
                <a:ext cx="2749849" cy="400110"/>
              </a:xfrm>
              <a:prstGeom prst="rect">
                <a:avLst/>
              </a:prstGeom>
              <a:blipFill>
                <a:blip r:embed="rId5"/>
                <a:stretch>
                  <a:fillRect t="-12308" b="-276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ixaDeTexto 28">
            <a:extLst>
              <a:ext uri="{FF2B5EF4-FFF2-40B4-BE49-F238E27FC236}">
                <a16:creationId xmlns:a16="http://schemas.microsoft.com/office/drawing/2014/main" id="{EE3F3FC1-8D6D-4AA5-BF30-6E7F61B276E1}"/>
              </a:ext>
            </a:extLst>
          </p:cNvPr>
          <p:cNvSpPr txBox="1"/>
          <p:nvPr/>
        </p:nvSpPr>
        <p:spPr>
          <a:xfrm>
            <a:off x="195645" y="5121841"/>
            <a:ext cx="10962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Essa medida elimina apenas o sinal, preservando a intensidade do efeito de cada variável sobre o score.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9ACA24D-3F6A-43BB-B9B2-052A921C880B}"/>
                  </a:ext>
                </a:extLst>
              </p:cNvPr>
              <p:cNvSpPr txBox="1"/>
              <p:nvPr/>
            </p:nvSpPr>
            <p:spPr>
              <a:xfrm>
                <a:off x="125815" y="5709665"/>
                <a:ext cx="1191241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Quanto maior o valor de </a:t>
                </a:r>
                <a:r>
                  <a:rPr lang="pt-BR" sz="1800" dirty="0"/>
                  <a:t>∣</a:t>
                </a:r>
                <a:r>
                  <a:rPr lang="el-GR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β</m:t>
                        </m:r>
                      </m:e>
                      <m:sub>
                        <m:r>
                          <a:rPr lang="pt-BR" sz="18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l-GR" sz="1800" dirty="0"/>
                  <a:t>∣</a:t>
                </a:r>
                <a:r>
                  <a:rPr lang="pt-BR" dirty="0">
                    <a:latin typeface="Arial Narrow" panose="020B0606020202030204" pitchFamily="34" charset="0"/>
                  </a:rPr>
                  <a:t>, maior a contribuição relativa da variável na construção do score de risco, permitindo identificar quais características exercem maior impacto na diferenciação entre clientes de maior e menor risco.</a:t>
                </a: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9ACA24D-3F6A-43BB-B9B2-052A921C8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15" y="5709665"/>
                <a:ext cx="11912416" cy="646331"/>
              </a:xfrm>
              <a:prstGeom prst="rect">
                <a:avLst/>
              </a:prstGeom>
              <a:blipFill>
                <a:blip r:embed="rId6"/>
                <a:stretch>
                  <a:fillRect l="-461" t="-7547" r="-409" b="-150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6426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 Construção do Score à Probabilidade Estimada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283AE085-6EFB-4A55-A43C-0D6312E51F5E}"/>
              </a:ext>
            </a:extLst>
          </p:cNvPr>
          <p:cNvSpPr txBox="1"/>
          <p:nvPr/>
        </p:nvSpPr>
        <p:spPr>
          <a:xfrm>
            <a:off x="142109" y="1437478"/>
            <a:ext cx="11535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Após estimar os coeficientes da Regressão Logística, o modelo combina os efeitos de todas as variáveis para construir um score linear de risco, definido por: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CD545C3-46FC-4CAC-A104-78A5AF9FA534}"/>
                  </a:ext>
                </a:extLst>
              </p:cNvPr>
              <p:cNvSpPr txBox="1"/>
              <p:nvPr/>
            </p:nvSpPr>
            <p:spPr>
              <a:xfrm>
                <a:off x="3006869" y="1953425"/>
                <a:ext cx="692153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pt-B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pt-BR" dirty="0"/>
                  <a:t> + ...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CD545C3-46FC-4CAC-A104-78A5AF9FA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869" y="1953425"/>
                <a:ext cx="6921536" cy="400110"/>
              </a:xfrm>
              <a:prstGeom prst="rect">
                <a:avLst/>
              </a:prstGeom>
              <a:blipFill>
                <a:blip r:embed="rId3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ixaDeTexto 21">
            <a:extLst>
              <a:ext uri="{FF2B5EF4-FFF2-40B4-BE49-F238E27FC236}">
                <a16:creationId xmlns:a16="http://schemas.microsoft.com/office/drawing/2014/main" id="{296A0A48-C617-4F24-A600-65B12561D139}"/>
              </a:ext>
            </a:extLst>
          </p:cNvPr>
          <p:cNvSpPr txBox="1"/>
          <p:nvPr/>
        </p:nvSpPr>
        <p:spPr>
          <a:xfrm>
            <a:off x="142109" y="959784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 Escala Log-</a:t>
            </a:r>
            <a:r>
              <a:rPr lang="pt-BR" sz="2400" dirty="0" err="1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Odds</a:t>
            </a:r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à Probabilidade de Inadimplência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261845A-8D85-4B1C-B060-D3C1CD66B521}"/>
                  </a:ext>
                </a:extLst>
              </p:cNvPr>
              <p:cNvSpPr txBox="1"/>
              <p:nvPr/>
            </p:nvSpPr>
            <p:spPr>
              <a:xfrm>
                <a:off x="142109" y="2323283"/>
                <a:ext cx="1192555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Matematicamente, </a:t>
                </a:r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corresponde à combinação linear entre as características observadas do cliente e os coeficientes estimados pelo modelo.</a:t>
                </a: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261845A-8D85-4B1C-B060-D3C1CD66B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09" y="2323283"/>
                <a:ext cx="11925554" cy="646331"/>
              </a:xfrm>
              <a:prstGeom prst="rect">
                <a:avLst/>
              </a:prstGeom>
              <a:blipFill>
                <a:blip r:embed="rId4"/>
                <a:stretch>
                  <a:fillRect l="-409" t="-3774" r="-409" b="-150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C25A89D7-1DED-4BA1-AB97-17045F872CDA}"/>
                  </a:ext>
                </a:extLst>
              </p:cNvPr>
              <p:cNvSpPr txBox="1"/>
              <p:nvPr/>
            </p:nvSpPr>
            <p:spPr>
              <a:xfrm>
                <a:off x="142109" y="2931105"/>
                <a:ext cx="118961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>
                    <a:latin typeface="Arial Narrow" panose="020B0606020202030204" pitchFamily="34" charset="0"/>
                  </a:rPr>
                  <a:t>Cada variável contribui positiva ou negativamente para </a:t>
                </a:r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conforme sua magnitude e sinal. </a:t>
                </a:r>
                <a:endParaRPr lang="pt-BR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C25A89D7-1DED-4BA1-AB97-17045F872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09" y="2931105"/>
                <a:ext cx="11896122" cy="369332"/>
              </a:xfrm>
              <a:prstGeom prst="rect">
                <a:avLst/>
              </a:prstGeom>
              <a:blipFill>
                <a:blip r:embed="rId5"/>
                <a:stretch>
                  <a:fillRect l="-410" t="-11667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ixaDeTexto 29">
            <a:extLst>
              <a:ext uri="{FF2B5EF4-FFF2-40B4-BE49-F238E27FC236}">
                <a16:creationId xmlns:a16="http://schemas.microsoft.com/office/drawing/2014/main" id="{1A610DE9-6813-4739-BACF-B528642B13EC}"/>
              </a:ext>
            </a:extLst>
          </p:cNvPr>
          <p:cNvSpPr txBox="1"/>
          <p:nvPr/>
        </p:nvSpPr>
        <p:spPr>
          <a:xfrm>
            <a:off x="132314" y="3279807"/>
            <a:ext cx="10879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Sob a perspectiva estatística, esse score representa o logaritmo da razão de chances (log-</a:t>
            </a:r>
            <a:r>
              <a:rPr lang="pt-BR" dirty="0" err="1">
                <a:latin typeface="Arial Narrow" panose="020B0606020202030204" pitchFamily="34" charset="0"/>
              </a:rPr>
              <a:t>odds</a:t>
            </a:r>
            <a:r>
              <a:rPr lang="pt-BR" dirty="0">
                <a:latin typeface="Arial Narrow" panose="020B0606020202030204" pitchFamily="34" charset="0"/>
              </a:rPr>
              <a:t>) de inadimplência.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3E27257C-5EC4-4EA2-A0F9-73CED67D1120}"/>
                  </a:ext>
                </a:extLst>
              </p:cNvPr>
              <p:cNvSpPr txBox="1"/>
              <p:nvPr/>
            </p:nvSpPr>
            <p:spPr>
              <a:xfrm>
                <a:off x="231111" y="5143438"/>
                <a:ext cx="108988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rial Narrow" panose="020B0606020202030204" pitchFamily="34" charset="0"/>
                  </a:rPr>
                  <a:t>O score </a:t>
                </a:r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funciona como uma escala contínua de risco relativo e pode assumir qualquer valor real − ∞ &lt;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&lt; + ∞.</a:t>
                </a: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3E27257C-5EC4-4EA2-A0F9-73CED67D1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11" y="5143438"/>
                <a:ext cx="10898836" cy="369332"/>
              </a:xfrm>
              <a:prstGeom prst="rect">
                <a:avLst/>
              </a:prstGeom>
              <a:blipFill>
                <a:blip r:embed="rId6"/>
                <a:stretch>
                  <a:fillRect l="-391" t="-8333" b="-2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79947415-39D7-432A-B9E9-51961DC9DD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0972255"/>
                  </p:ext>
                </p:extLst>
              </p:nvPr>
            </p:nvGraphicFramePr>
            <p:xfrm>
              <a:off x="2390547" y="4046773"/>
              <a:ext cx="7203983" cy="1059752"/>
            </p:xfrm>
            <a:graphic>
              <a:graphicData uri="http://schemas.openxmlformats.org/drawingml/2006/table">
                <a:tbl>
                  <a:tblPr/>
                  <a:tblGrid>
                    <a:gridCol w="7203983">
                      <a:extLst>
                        <a:ext uri="{9D8B030D-6E8A-4147-A177-3AD203B41FA5}">
                          <a16:colId xmlns:a16="http://schemas.microsoft.com/office/drawing/2014/main" val="307185583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600" b="1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Interpretação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24722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valores maiores de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a14:m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 indicam clientes com maior propensão à inadimplência;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72914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valores menores de</a:t>
                          </a:r>
                          <a14:m>
                            <m:oMath xmlns:m="http://schemas.openxmlformats.org/officeDocument/2006/math"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a14:m>
                          <a:r>
                            <a:rPr lang="pt-BR" sz="16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indicam clientes com menor propensão ao inadimplemento.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4881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79947415-39D7-432A-B9E9-51961DC9DD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0972255"/>
                  </p:ext>
                </p:extLst>
              </p:nvPr>
            </p:nvGraphicFramePr>
            <p:xfrm>
              <a:off x="2390547" y="4046773"/>
              <a:ext cx="7203983" cy="1059752"/>
            </p:xfrm>
            <a:graphic>
              <a:graphicData uri="http://schemas.openxmlformats.org/drawingml/2006/table">
                <a:tbl>
                  <a:tblPr/>
                  <a:tblGrid>
                    <a:gridCol w="7203983">
                      <a:extLst>
                        <a:ext uri="{9D8B030D-6E8A-4147-A177-3AD203B41FA5}">
                          <a16:colId xmlns:a16="http://schemas.microsoft.com/office/drawing/2014/main" val="307185583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600" b="1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Arial Narrow" panose="020B0606020202030204" pitchFamily="34" charset="0"/>
                              <a:ea typeface="+mn-ea"/>
                              <a:cs typeface="+mn-cs"/>
                            </a:rPr>
                            <a:t>Interpretação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2472271"/>
                      </a:ext>
                    </a:extLst>
                  </a:tr>
                  <a:tr h="38919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5" t="-87692" r="-169" b="-1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29143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5" t="-221818" r="-169" b="-2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48811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CaixaDeTexto 37">
            <a:extLst>
              <a:ext uri="{FF2B5EF4-FFF2-40B4-BE49-F238E27FC236}">
                <a16:creationId xmlns:a16="http://schemas.microsoft.com/office/drawing/2014/main" id="{63D5FFAE-230A-4B35-89FF-2E8C019D9440}"/>
              </a:ext>
            </a:extLst>
          </p:cNvPr>
          <p:cNvSpPr txBox="1"/>
          <p:nvPr/>
        </p:nvSpPr>
        <p:spPr>
          <a:xfrm>
            <a:off x="132314" y="3656121"/>
            <a:ext cx="6240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em crédito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65ED8D4-791A-4E86-AE62-E17367522E43}"/>
              </a:ext>
            </a:extLst>
          </p:cNvPr>
          <p:cNvSpPr txBox="1"/>
          <p:nvPr/>
        </p:nvSpPr>
        <p:spPr>
          <a:xfrm>
            <a:off x="231111" y="5504159"/>
            <a:ext cx="11183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Entretanto, essa escala ainda não representa uma probabilidade e não permitem interpretar diretamente qual é a probabilidade de inadimplência, pois não pertencem à escala natural das probabilidades (0 a 1).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09E58F7-F661-4C86-B058-BE1F84DF7DC2}"/>
              </a:ext>
            </a:extLst>
          </p:cNvPr>
          <p:cNvSpPr txBox="1"/>
          <p:nvPr/>
        </p:nvSpPr>
        <p:spPr>
          <a:xfrm>
            <a:off x="254926" y="6140095"/>
            <a:ext cx="11615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Em outras palavras, o modelo consegue ordenar os clientes por risco, mas ainda não informa qual a probabilidade estimada de inadimplência para cada um.</a:t>
            </a:r>
          </a:p>
        </p:txBody>
      </p:sp>
    </p:spTree>
    <p:extLst>
      <p:ext uri="{BB962C8B-B14F-4D97-AF65-F5344CB8AC3E}">
        <p14:creationId xmlns:p14="http://schemas.microsoft.com/office/powerpoint/2010/main" val="41517735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 Construção do Score à Probabilidade Estimada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283AE085-6EFB-4A55-A43C-0D6312E51F5E}"/>
                  </a:ext>
                </a:extLst>
              </p:cNvPr>
              <p:cNvSpPr txBox="1"/>
              <p:nvPr/>
            </p:nvSpPr>
            <p:spPr>
              <a:xfrm>
                <a:off x="130241" y="1335095"/>
                <a:ext cx="11535507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750" dirty="0">
                    <a:latin typeface="Arial Narrow" panose="020B0606020202030204" pitchFamily="34" charset="0"/>
                  </a:rPr>
                  <a:t>Para converter o score </a:t>
                </a:r>
                <a14:m>
                  <m:oMath xmlns:m="http://schemas.openxmlformats.org/officeDocument/2006/math">
                    <m:r>
                      <a:rPr lang="pt-BR" sz="175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1750" dirty="0">
                    <a:latin typeface="Arial Narrow" panose="020B0606020202030204" pitchFamily="34" charset="0"/>
                  </a:rPr>
                  <a:t> em uma probabilidade, aplica-se a função logística:</a:t>
                </a: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283AE085-6EFB-4A55-A43C-0D6312E51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1" y="1335095"/>
                <a:ext cx="11535507" cy="361637"/>
              </a:xfrm>
              <a:prstGeom prst="rect">
                <a:avLst/>
              </a:prstGeom>
              <a:blipFill>
                <a:blip r:embed="rId3"/>
                <a:stretch>
                  <a:fillRect l="-370" t="-5085" b="-254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ixaDeTexto 21">
            <a:extLst>
              <a:ext uri="{FF2B5EF4-FFF2-40B4-BE49-F238E27FC236}">
                <a16:creationId xmlns:a16="http://schemas.microsoft.com/office/drawing/2014/main" id="{296A0A48-C617-4F24-A600-65B12561D139}"/>
              </a:ext>
            </a:extLst>
          </p:cNvPr>
          <p:cNvSpPr txBox="1"/>
          <p:nvPr/>
        </p:nvSpPr>
        <p:spPr>
          <a:xfrm>
            <a:off x="142109" y="959784"/>
            <a:ext cx="1199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função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261845A-8D85-4B1C-B060-D3C1CD66B521}"/>
                  </a:ext>
                </a:extLst>
              </p:cNvPr>
              <p:cNvSpPr txBox="1"/>
              <p:nvPr/>
            </p:nvSpPr>
            <p:spPr>
              <a:xfrm>
                <a:off x="142109" y="1697336"/>
                <a:ext cx="11925554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750" dirty="0">
                    <a:latin typeface="Arial Narrow" panose="020B0606020202030204" pitchFamily="34" charset="0"/>
                  </a:rPr>
                  <a:t>Substituindo a definição do score linear em </a:t>
                </a:r>
                <a14:m>
                  <m:oMath xmlns:m="http://schemas.openxmlformats.org/officeDocument/2006/math">
                    <m:r>
                      <a:rPr lang="pt-BR" sz="175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1750" dirty="0">
                    <a:latin typeface="Arial Narrow" panose="020B060602020203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261845A-8D85-4B1C-B060-D3C1CD66B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09" y="1697336"/>
                <a:ext cx="11925554" cy="362984"/>
              </a:xfrm>
              <a:prstGeom prst="rect">
                <a:avLst/>
              </a:prstGeom>
              <a:blipFill>
                <a:blip r:embed="rId4"/>
                <a:stretch>
                  <a:fillRect l="-358" t="-3333" b="-2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467DF51-13E4-4554-98FF-75BF86129A12}"/>
                  </a:ext>
                </a:extLst>
              </p:cNvPr>
              <p:cNvSpPr txBox="1"/>
              <p:nvPr/>
            </p:nvSpPr>
            <p:spPr>
              <a:xfrm>
                <a:off x="6902303" y="1165117"/>
                <a:ext cx="1229499" cy="52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467DF51-13E4-4554-98FF-75BF8612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303" y="1165117"/>
                <a:ext cx="1229499" cy="528543"/>
              </a:xfrm>
              <a:prstGeom prst="rect">
                <a:avLst/>
              </a:prstGeom>
              <a:blipFill>
                <a:blip r:embed="rId5"/>
                <a:stretch>
                  <a:fillRect b="-80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B640CF0-1960-4697-8543-58A3CDAD090C}"/>
                  </a:ext>
                </a:extLst>
              </p:cNvPr>
              <p:cNvSpPr txBox="1"/>
              <p:nvPr/>
            </p:nvSpPr>
            <p:spPr>
              <a:xfrm>
                <a:off x="4316297" y="1640515"/>
                <a:ext cx="3133298" cy="6177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000" b="0" i="0" smtClean="0">
                            <a:latin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pt-BR" sz="20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pt-BR" sz="2000" b="0" i="0" smtClean="0">
                                <a:latin typeface="Cambria Math" panose="02040503050406030204" pitchFamily="18" charset="0"/>
                              </a:rPr>
                              <m:t>− (</m:t>
                            </m:r>
                            <m:sSub>
                              <m:sSubPr>
                                <m:ctrlPr>
                                  <a:rPr lang="el-G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/>
                                  <m:t>β</m:t>
                                </m:r>
                              </m:e>
                              <m:sub>
                                <m:r>
                                  <a:rPr lang="pt-BR" sz="2000" b="0" i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pt-BR" sz="2000" dirty="0"/>
                              <m:t>+</m:t>
                            </m:r>
                            <m:r>
                              <m:rPr>
                                <m:nor/>
                              </m:rPr>
                              <a:rPr lang="pt-BR" sz="2000" dirty="0" smtClean="0"/>
                              <m:t> </m:t>
                            </m:r>
                            <m:nary>
                              <m:naryPr>
                                <m:chr m:val="∑"/>
                                <m:ctrlPr>
                                  <a:rPr lang="pt-BR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23"/>
                                  </m:rPr>
                                  <a:rPr lang="pt-BR" sz="2000" b="0" i="0" dirty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pt-BR" sz="2000" b="0" i="0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pt-BR" sz="2000" b="0" i="0" dirty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l-G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sz="2000" dirty="0"/>
                                      <m:t>β</m:t>
                                    </m:r>
                                  </m:e>
                                  <m:sub>
                                    <m:r>
                                      <a:rPr lang="pt-BR" sz="2000" b="0" i="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l-G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000" b="0" i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000" b="0" i="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pt-BR" sz="2000" b="0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B640CF0-1960-4697-8543-58A3CDAD0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6297" y="1640515"/>
                <a:ext cx="3133298" cy="617733"/>
              </a:xfrm>
              <a:prstGeom prst="rect">
                <a:avLst/>
              </a:prstGeom>
              <a:blipFill>
                <a:blip r:embed="rId6"/>
                <a:stretch>
                  <a:fillRect b="-623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aixaDeTexto 23">
            <a:extLst>
              <a:ext uri="{FF2B5EF4-FFF2-40B4-BE49-F238E27FC236}">
                <a16:creationId xmlns:a16="http://schemas.microsoft.com/office/drawing/2014/main" id="{E8A7C2BC-AEBD-487B-B770-E2EB69DDB152}"/>
              </a:ext>
            </a:extLst>
          </p:cNvPr>
          <p:cNvSpPr txBox="1"/>
          <p:nvPr/>
        </p:nvSpPr>
        <p:spPr>
          <a:xfrm>
            <a:off x="142109" y="2217069"/>
            <a:ext cx="542710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50" dirty="0">
                <a:latin typeface="Arial Narrow" panose="020B0606020202030204" pitchFamily="34" charset="0"/>
              </a:rPr>
              <a:t>A função logística realiza uma transformação monotônica sobre o score linear.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CEE11C1-AFC8-4E35-9833-88411B6262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0743" y="2604419"/>
            <a:ext cx="6627171" cy="3943256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179C9662-068D-4B81-A82F-476EFA86AB31}"/>
              </a:ext>
            </a:extLst>
          </p:cNvPr>
          <p:cNvSpPr txBox="1"/>
          <p:nvPr/>
        </p:nvSpPr>
        <p:spPr>
          <a:xfrm>
            <a:off x="142108" y="2778011"/>
            <a:ext cx="542710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50" dirty="0">
                <a:latin typeface="Arial Narrow" panose="020B0606020202030204" pitchFamily="34" charset="0"/>
              </a:rPr>
              <a:t>Isso significa que ela não altera a posição relativa dos clientes, apenas muda a escala utilizada para representar o risco.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90AE150-525D-4E4D-B47A-A476E61A28F7}"/>
                  </a:ext>
                </a:extLst>
              </p:cNvPr>
              <p:cNvSpPr txBox="1"/>
              <p:nvPr/>
            </p:nvSpPr>
            <p:spPr>
              <a:xfrm>
                <a:off x="130241" y="4031694"/>
                <a:ext cx="5151251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700" dirty="0">
                    <a:latin typeface="Arial Narrow" panose="020B0606020202030204" pitchFamily="34" charset="0"/>
                  </a:rPr>
                  <a:t>E converte qualquer valor de </a:t>
                </a:r>
                <a14:m>
                  <m:oMath xmlns:m="http://schemas.openxmlformats.org/officeDocument/2006/math">
                    <m:r>
                      <a:rPr lang="pt-BR" sz="17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1700" dirty="0">
                    <a:latin typeface="Arial Narrow" panose="020B0606020202030204" pitchFamily="34" charset="0"/>
                  </a:rPr>
                  <a:t>, que pode variar de:</a:t>
                </a: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90AE150-525D-4E4D-B47A-A476E61A2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1" y="4031694"/>
                <a:ext cx="5151251" cy="353943"/>
              </a:xfrm>
              <a:prstGeom prst="rect">
                <a:avLst/>
              </a:prstGeom>
              <a:blipFill>
                <a:blip r:embed="rId8"/>
                <a:stretch>
                  <a:fillRect l="-710" t="-3448" b="-241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DC4B87BE-DEB2-4975-BE44-DAB702C19D7F}"/>
                  </a:ext>
                </a:extLst>
              </p:cNvPr>
              <p:cNvSpPr txBox="1"/>
              <p:nvPr/>
            </p:nvSpPr>
            <p:spPr>
              <a:xfrm>
                <a:off x="1835075" y="4366877"/>
                <a:ext cx="20411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dirty="0">
                    <a:latin typeface="Arial Narrow" panose="020B0606020202030204" pitchFamily="34" charset="0"/>
                  </a:rPr>
                  <a:t> − ∞ &lt;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&lt; + ∞</a:t>
                </a: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DC4B87BE-DEB2-4975-BE44-DAB702C19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075" y="4366877"/>
                <a:ext cx="2041166" cy="369332"/>
              </a:xfrm>
              <a:prstGeom prst="rect">
                <a:avLst/>
              </a:prstGeom>
              <a:blipFill>
                <a:blip r:embed="rId9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aixaDeTexto 32">
            <a:extLst>
              <a:ext uri="{FF2B5EF4-FFF2-40B4-BE49-F238E27FC236}">
                <a16:creationId xmlns:a16="http://schemas.microsoft.com/office/drawing/2014/main" id="{857DEB5C-7F76-4343-A11B-27E4BD529E9D}"/>
              </a:ext>
            </a:extLst>
          </p:cNvPr>
          <p:cNvSpPr txBox="1"/>
          <p:nvPr/>
        </p:nvSpPr>
        <p:spPr>
          <a:xfrm>
            <a:off x="87970" y="4678611"/>
            <a:ext cx="53969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00" dirty="0">
                <a:latin typeface="Arial Narrow" panose="020B0606020202030204" pitchFamily="34" charset="0"/>
              </a:rPr>
              <a:t>para um valor compreendido entre 0 e 1, permitindo interpretar o resultado como uma probabilidade estimada de inadimplência.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F4BEED4-5EF3-47F5-B71B-C049E2EFFBA7}"/>
              </a:ext>
            </a:extLst>
          </p:cNvPr>
          <p:cNvSpPr txBox="1"/>
          <p:nvPr/>
        </p:nvSpPr>
        <p:spPr>
          <a:xfrm>
            <a:off x="130241" y="3415511"/>
            <a:ext cx="541863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50" dirty="0">
                <a:latin typeface="Arial Narrow" panose="020B0606020202030204" pitchFamily="34" charset="0"/>
              </a:rPr>
              <a:t>Ou seja, quem apresentava maior risco antes da transformação continua apresentando maior risco depois da transformação.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97BA7FF-64A8-4635-81D0-00323C746B78}"/>
              </a:ext>
            </a:extLst>
          </p:cNvPr>
          <p:cNvSpPr txBox="1"/>
          <p:nvPr/>
        </p:nvSpPr>
        <p:spPr>
          <a:xfrm>
            <a:off x="108768" y="5275420"/>
            <a:ext cx="53766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00" dirty="0">
                <a:latin typeface="Arial Narrow" panose="020B0606020202030204" pitchFamily="34" charset="0"/>
              </a:rPr>
              <a:t>Até aqui, o modelo responde qual é a probabilidade estimada de inadimplência. 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BD4492D-64D9-4FBB-B95E-FC547AC1E1F1}"/>
              </a:ext>
            </a:extLst>
          </p:cNvPr>
          <p:cNvSpPr txBox="1"/>
          <p:nvPr/>
        </p:nvSpPr>
        <p:spPr>
          <a:xfrm>
            <a:off x="34339" y="5885710"/>
            <a:ext cx="5736541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00" dirty="0">
                <a:latin typeface="Arial Narrow" panose="020B0606020202030204" pitchFamily="34" charset="0"/>
              </a:rPr>
              <a:t>O próximo passo é compreender como essa estimativa é construída, analisando a contribuição de cada coeficiente para a formação do score de risco.</a:t>
            </a:r>
          </a:p>
        </p:txBody>
      </p:sp>
    </p:spTree>
    <p:extLst>
      <p:ext uri="{BB962C8B-B14F-4D97-AF65-F5344CB8AC3E}">
        <p14:creationId xmlns:p14="http://schemas.microsoft.com/office/powerpoint/2010/main" val="36977263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9360576-014D-4C0E-B6C7-AEB08B7D3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993416"/>
              </p:ext>
            </p:extLst>
          </p:nvPr>
        </p:nvGraphicFramePr>
        <p:xfrm>
          <a:off x="1648515" y="2617091"/>
          <a:ext cx="8824443" cy="3520440"/>
        </p:xfrm>
        <a:graphic>
          <a:graphicData uri="http://schemas.openxmlformats.org/drawingml/2006/table">
            <a:tbl>
              <a:tblPr/>
              <a:tblGrid>
                <a:gridCol w="3966042">
                  <a:extLst>
                    <a:ext uri="{9D8B030D-6E8A-4147-A177-3AD203B41FA5}">
                      <a16:colId xmlns:a16="http://schemas.microsoft.com/office/drawing/2014/main" val="1119248335"/>
                    </a:ext>
                  </a:extLst>
                </a:gridCol>
                <a:gridCol w="2214373">
                  <a:extLst>
                    <a:ext uri="{9D8B030D-6E8A-4147-A177-3AD203B41FA5}">
                      <a16:colId xmlns:a16="http://schemas.microsoft.com/office/drawing/2014/main" val="2749222776"/>
                    </a:ext>
                  </a:extLst>
                </a:gridCol>
                <a:gridCol w="2644028">
                  <a:extLst>
                    <a:ext uri="{9D8B030D-6E8A-4147-A177-3AD203B41FA5}">
                      <a16:colId xmlns:a16="http://schemas.microsoft.com/office/drawing/2014/main" val="185790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Variável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Coeficiente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Importância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41024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ATRASOS_CONTAGEM_B3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0,30489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0,30489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670346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ATRASO_MEDIO_B3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0,254364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0,254364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128449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PROP_PAGAMENTO_TRAT_5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0,107332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0,107332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117534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VOL_PROP_PAGAMENTO_B3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0,106841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0,106841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74072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PROP_NEGATIVA_FLAG_B3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0,105976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0,105976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77417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AGE_SQ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0,082512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0,082512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980391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ENDIVIDAMENTO_6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0,053209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0,053209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83807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UTILIZACAO_6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0,053209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0,053209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31556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0,050215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0,050215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128531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MEDIA_ENDIVIDAMENTO_B3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0,050215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0,050215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704881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UTIL_ZERO_B3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0,046224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0,046224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707211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ENDIVIDAMENTO_5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0,045174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0,045174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930173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UTILIZACAO_5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0,045174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0,045174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36311"/>
                  </a:ext>
                </a:extLst>
              </a:tr>
            </a:tbl>
          </a:graphicData>
        </a:graphic>
      </p:graphicFrame>
      <p:sp>
        <p:nvSpPr>
          <p:cNvPr id="21" name="CaixaDeTexto 20">
            <a:extLst>
              <a:ext uri="{FF2B5EF4-FFF2-40B4-BE49-F238E27FC236}">
                <a16:creationId xmlns:a16="http://schemas.microsoft.com/office/drawing/2014/main" id="{E2506B83-0EE2-432D-8CBD-CD7C16A8D98F}"/>
              </a:ext>
            </a:extLst>
          </p:cNvPr>
          <p:cNvSpPr txBox="1"/>
          <p:nvPr/>
        </p:nvSpPr>
        <p:spPr>
          <a:xfrm>
            <a:off x="112677" y="2000966"/>
            <a:ext cx="1189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Com base na direção do efeito (coeficiente ( β )), e na intensidade da contribuição relativa (| β |), a tabela a seguir apresenta a interpretação das variáveis do modelo em relação ao risco estimado de inadimplência.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4364B19-009E-4551-A73E-CF67B2C8666E}"/>
              </a:ext>
            </a:extLst>
          </p:cNvPr>
          <p:cNvSpPr txBox="1"/>
          <p:nvPr/>
        </p:nvSpPr>
        <p:spPr>
          <a:xfrm>
            <a:off x="-4086" y="908037"/>
            <a:ext cx="12196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Embora a função logística transforme o score em uma probabilidade interpretável, o score continua sendo construído pela contribuição conjunta dos coeficientes estimados para cada variável. 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9804814-F1AC-461C-A915-933E71DF8435}"/>
              </a:ext>
            </a:extLst>
          </p:cNvPr>
          <p:cNvSpPr txBox="1"/>
          <p:nvPr/>
        </p:nvSpPr>
        <p:spPr>
          <a:xfrm>
            <a:off x="38517" y="1481660"/>
            <a:ext cx="11955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Dessa forma, compreender esses coeficientes permite identificar quais características exerceram maior influência na estimativa do risco de inadimplência.</a:t>
            </a:r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B66CC06-D654-42B6-B2DC-3F894F961B91}"/>
              </a:ext>
            </a:extLst>
          </p:cNvPr>
          <p:cNvSpPr txBox="1"/>
          <p:nvPr/>
        </p:nvSpPr>
        <p:spPr>
          <a:xfrm>
            <a:off x="370007" y="6129270"/>
            <a:ext cx="11502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 Narrow" panose="020B0606020202030204" pitchFamily="34" charset="0"/>
              </a:rPr>
              <a:t>O modelo tem como variável alvo a inadimplência (default = 1). 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DCA6307-42F0-43E8-9E19-99F228137150}"/>
              </a:ext>
            </a:extLst>
          </p:cNvPr>
          <p:cNvSpPr txBox="1"/>
          <p:nvPr/>
        </p:nvSpPr>
        <p:spPr>
          <a:xfrm>
            <a:off x="403753" y="6350690"/>
            <a:ext cx="11502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 Narrow" panose="020B0606020202030204" pitchFamily="34" charset="0"/>
              </a:rPr>
              <a:t>Dessa forma, coeficientes positivos estão associados ao aumento da probabilidade estimada de inadimplência, enquanto coeficientes negativos indicam redução desse risco, mantendo constantes as demais variáveis do modelo.</a:t>
            </a:r>
          </a:p>
        </p:txBody>
      </p:sp>
    </p:spTree>
    <p:extLst>
      <p:ext uri="{BB962C8B-B14F-4D97-AF65-F5344CB8AC3E}">
        <p14:creationId xmlns:p14="http://schemas.microsoft.com/office/powerpoint/2010/main" val="2665588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9360576-014D-4C0E-B6C7-AEB08B7D3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777768"/>
              </p:ext>
            </p:extLst>
          </p:nvPr>
        </p:nvGraphicFramePr>
        <p:xfrm>
          <a:off x="1679692" y="3504299"/>
          <a:ext cx="8824443" cy="2263140"/>
        </p:xfrm>
        <a:graphic>
          <a:graphicData uri="http://schemas.openxmlformats.org/drawingml/2006/table">
            <a:tbl>
              <a:tblPr/>
              <a:tblGrid>
                <a:gridCol w="3966042">
                  <a:extLst>
                    <a:ext uri="{9D8B030D-6E8A-4147-A177-3AD203B41FA5}">
                      <a16:colId xmlns:a16="http://schemas.microsoft.com/office/drawing/2014/main" val="1119248335"/>
                    </a:ext>
                  </a:extLst>
                </a:gridCol>
                <a:gridCol w="2214373">
                  <a:extLst>
                    <a:ext uri="{9D8B030D-6E8A-4147-A177-3AD203B41FA5}">
                      <a16:colId xmlns:a16="http://schemas.microsoft.com/office/drawing/2014/main" val="2749222776"/>
                    </a:ext>
                  </a:extLst>
                </a:gridCol>
                <a:gridCol w="2644028">
                  <a:extLst>
                    <a:ext uri="{9D8B030D-6E8A-4147-A177-3AD203B41FA5}">
                      <a16:colId xmlns:a16="http://schemas.microsoft.com/office/drawing/2014/main" val="185790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Variável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Coeficiente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Importância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41024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PROP_PAGAMENTO_VOLATIL_B3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0,044316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0,044316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670346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PROP_PAGAMENTO_TRAT_6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0,035172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0,035172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128449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PROP_SUPERIOR_FLAG_6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0,019151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0,019151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117534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TENDENCIA_UTIL_B3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0,017886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0,017886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74072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TEND_ENDIVIDAMENTO_B3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0,017886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0,017886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77417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ATRASO_VOLATIL_B3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0,011001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0,011001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980391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PROP_SUPERIOR_FLAG_5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0,005791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0,005791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83807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UTIL_VOLATIL_B3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0,003268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0,003268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31556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24B6B4-5A5F-459D-B6F2-D1B099DE78F8}"/>
              </a:ext>
            </a:extLst>
          </p:cNvPr>
          <p:cNvSpPr txBox="1"/>
          <p:nvPr/>
        </p:nvSpPr>
        <p:spPr>
          <a:xfrm>
            <a:off x="112677" y="2224486"/>
            <a:ext cx="1189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Com base na direção do efeito (coeficiente ( β )), e na intensidade da contribuição relativa (| β |), a tabela a seguir apresenta a interpretação das variáveis do modelo em relação ao risco estimado de inadimplência.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B16150-198B-4807-A2A7-A3BDED88E0B1}"/>
              </a:ext>
            </a:extLst>
          </p:cNvPr>
          <p:cNvSpPr txBox="1"/>
          <p:nvPr/>
        </p:nvSpPr>
        <p:spPr>
          <a:xfrm>
            <a:off x="-4086" y="928357"/>
            <a:ext cx="12196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Embora a função logística transforme o score em uma probabilidade interpretável, o score continua sendo construído pela contribuição conjunta dos coeficientes estimados para cada variável.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2FB0A58-DF26-4A89-A0FA-822443730017}"/>
              </a:ext>
            </a:extLst>
          </p:cNvPr>
          <p:cNvSpPr txBox="1"/>
          <p:nvPr/>
        </p:nvSpPr>
        <p:spPr>
          <a:xfrm>
            <a:off x="38517" y="1593420"/>
            <a:ext cx="11955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Dessa forma, compreender esses coeficientes permite identificar quais características exerceram maior influência na estimativa do risco de inadimplência.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F01266E-6646-49E7-943A-3D4C021DF805}"/>
              </a:ext>
            </a:extLst>
          </p:cNvPr>
          <p:cNvSpPr txBox="1"/>
          <p:nvPr/>
        </p:nvSpPr>
        <p:spPr>
          <a:xfrm>
            <a:off x="370007" y="6129270"/>
            <a:ext cx="11502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 Narrow" panose="020B0606020202030204" pitchFamily="34" charset="0"/>
              </a:rPr>
              <a:t>O modelo tem como variável alvo a inadimplência (default = 1).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47B51E0-EF12-429A-8CD7-D7B089F7116A}"/>
              </a:ext>
            </a:extLst>
          </p:cNvPr>
          <p:cNvSpPr txBox="1"/>
          <p:nvPr/>
        </p:nvSpPr>
        <p:spPr>
          <a:xfrm>
            <a:off x="403753" y="6350690"/>
            <a:ext cx="11502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 Narrow" panose="020B0606020202030204" pitchFamily="34" charset="0"/>
              </a:rPr>
              <a:t>Dessa forma, coeficientes positivos estão associados ao aumento da probabilidade estimada de inadimplência, enquanto coeficientes negativos indicam redução desse risco, mantendo constantes as demais variáveis do modelo.</a:t>
            </a:r>
          </a:p>
        </p:txBody>
      </p:sp>
    </p:spTree>
    <p:extLst>
      <p:ext uri="{BB962C8B-B14F-4D97-AF65-F5344CB8AC3E}">
        <p14:creationId xmlns:p14="http://schemas.microsoft.com/office/powerpoint/2010/main" val="32267117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D3B619A7-22E6-4CB0-A2FC-13BB5C6A5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015531"/>
              </p:ext>
            </p:extLst>
          </p:nvPr>
        </p:nvGraphicFramePr>
        <p:xfrm>
          <a:off x="1603938" y="2606657"/>
          <a:ext cx="8824443" cy="3520440"/>
        </p:xfrm>
        <a:graphic>
          <a:graphicData uri="http://schemas.openxmlformats.org/drawingml/2006/table">
            <a:tbl>
              <a:tblPr/>
              <a:tblGrid>
                <a:gridCol w="3966042">
                  <a:extLst>
                    <a:ext uri="{9D8B030D-6E8A-4147-A177-3AD203B41FA5}">
                      <a16:colId xmlns:a16="http://schemas.microsoft.com/office/drawing/2014/main" val="1119248335"/>
                    </a:ext>
                  </a:extLst>
                </a:gridCol>
                <a:gridCol w="2214373">
                  <a:extLst>
                    <a:ext uri="{9D8B030D-6E8A-4147-A177-3AD203B41FA5}">
                      <a16:colId xmlns:a16="http://schemas.microsoft.com/office/drawing/2014/main" val="2749222776"/>
                    </a:ext>
                  </a:extLst>
                </a:gridCol>
                <a:gridCol w="2644028">
                  <a:extLst>
                    <a:ext uri="{9D8B030D-6E8A-4147-A177-3AD203B41FA5}">
                      <a16:colId xmlns:a16="http://schemas.microsoft.com/office/drawing/2014/main" val="185790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Variável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Coeficiente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Importância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41024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BILL_AMT5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-0,310216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0,310216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670346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LIMIT_BAL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-0,208908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0,208908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128449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PAY_AMT6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-0,12559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0,12559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117534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-0,106797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0,106797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74072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MARRIAGE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-0,102967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0,102967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77417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PROP_NEGATIVA_FLAG_5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-0,088934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0,088934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980391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MEDIA_PROP_PAGAMENTO_B3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-0,072411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0,072411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83807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PROP_NEGATIVA_FLAG_6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-0,072177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0,072177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31556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-0,049377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0,049377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128531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PROP_SUPERIOR_FLAG_B3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-0,042603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0,042603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704881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SEX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-0,041541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0,041541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707211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it-IT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PROP_PAGAMENTO_VOLATIL_LOG_B3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-0,039499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0,039499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930173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-0,029278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0,029278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36311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26965CDF-0A22-494D-A15D-2CFD4693F9DE}"/>
              </a:ext>
            </a:extLst>
          </p:cNvPr>
          <p:cNvSpPr txBox="1"/>
          <p:nvPr/>
        </p:nvSpPr>
        <p:spPr>
          <a:xfrm>
            <a:off x="112677" y="1990806"/>
            <a:ext cx="1189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Com base na direção do efeito (coeficiente ( β )), e na intensidade da contribuição relativa (| β |), a tabela a seguir apresenta a interpretação das variáveis do modelo em relação ao risco estimado de inadimplência.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85D94FD-ED85-484B-A6E1-6F7B90A0CA87}"/>
              </a:ext>
            </a:extLst>
          </p:cNvPr>
          <p:cNvSpPr txBox="1"/>
          <p:nvPr/>
        </p:nvSpPr>
        <p:spPr>
          <a:xfrm>
            <a:off x="-4086" y="908037"/>
            <a:ext cx="12196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Embora a função logística transforme o score em uma probabilidade interpretável, o score continua sendo construído pela contribuição conjunta dos coeficientes estimados para cada variável.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8C11F6B-C5E2-4BCA-A9D5-8313EC801288}"/>
              </a:ext>
            </a:extLst>
          </p:cNvPr>
          <p:cNvSpPr txBox="1"/>
          <p:nvPr/>
        </p:nvSpPr>
        <p:spPr>
          <a:xfrm>
            <a:off x="38517" y="1451180"/>
            <a:ext cx="11955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Dessa forma, compreender esses coeficientes permite identificar quais características exerceram maior influência na estimativa do risco de inadimplência.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8DDCD5B-1EBF-44EF-ABC6-B6E2ADB36621}"/>
              </a:ext>
            </a:extLst>
          </p:cNvPr>
          <p:cNvSpPr txBox="1"/>
          <p:nvPr/>
        </p:nvSpPr>
        <p:spPr>
          <a:xfrm>
            <a:off x="370007" y="6129270"/>
            <a:ext cx="11502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 Narrow" panose="020B0606020202030204" pitchFamily="34" charset="0"/>
              </a:rPr>
              <a:t>O modelo tem como variável alvo a inadimplência (default = 1).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FC45B28-79E9-425D-A366-C918560DB58D}"/>
              </a:ext>
            </a:extLst>
          </p:cNvPr>
          <p:cNvSpPr txBox="1"/>
          <p:nvPr/>
        </p:nvSpPr>
        <p:spPr>
          <a:xfrm>
            <a:off x="403753" y="6350690"/>
            <a:ext cx="11502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 Narrow" panose="020B0606020202030204" pitchFamily="34" charset="0"/>
              </a:rPr>
              <a:t>Dessa forma, coeficientes positivos estão associados ao aumento da probabilidade estimada de inadimplência, enquanto coeficientes negativos indicam redução desse risco, mantendo constantes as demais variáveis do modelo.</a:t>
            </a:r>
          </a:p>
        </p:txBody>
      </p:sp>
    </p:spTree>
    <p:extLst>
      <p:ext uri="{BB962C8B-B14F-4D97-AF65-F5344CB8AC3E}">
        <p14:creationId xmlns:p14="http://schemas.microsoft.com/office/powerpoint/2010/main" val="28718592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D3B619A7-22E6-4CB0-A2FC-13BB5C6A5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305809"/>
              </p:ext>
            </p:extLst>
          </p:nvPr>
        </p:nvGraphicFramePr>
        <p:xfrm>
          <a:off x="1603938" y="3720190"/>
          <a:ext cx="8824443" cy="1257300"/>
        </p:xfrm>
        <a:graphic>
          <a:graphicData uri="http://schemas.openxmlformats.org/drawingml/2006/table">
            <a:tbl>
              <a:tblPr/>
              <a:tblGrid>
                <a:gridCol w="3966042">
                  <a:extLst>
                    <a:ext uri="{9D8B030D-6E8A-4147-A177-3AD203B41FA5}">
                      <a16:colId xmlns:a16="http://schemas.microsoft.com/office/drawing/2014/main" val="1119248335"/>
                    </a:ext>
                  </a:extLst>
                </a:gridCol>
                <a:gridCol w="2214373">
                  <a:extLst>
                    <a:ext uri="{9D8B030D-6E8A-4147-A177-3AD203B41FA5}">
                      <a16:colId xmlns:a16="http://schemas.microsoft.com/office/drawing/2014/main" val="2749222776"/>
                    </a:ext>
                  </a:extLst>
                </a:gridCol>
                <a:gridCol w="2644028">
                  <a:extLst>
                    <a:ext uri="{9D8B030D-6E8A-4147-A177-3AD203B41FA5}">
                      <a16:colId xmlns:a16="http://schemas.microsoft.com/office/drawing/2014/main" val="185790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Variável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Coeficiente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Importância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41024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PAY_AMT5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-0,027497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0,027497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670346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CONCENTRACAO_UTIL_B3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-0,017853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0,017853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128449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BILL_AMT6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-0,016595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0,016595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117534"/>
                  </a:ext>
                </a:extLst>
              </a:tr>
              <a:tr h="1679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PROP_PAGAMENTO_6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-0,006478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0,006478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74072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BBCB9A-2C1E-4FEE-9E68-09B93E087D0C}"/>
              </a:ext>
            </a:extLst>
          </p:cNvPr>
          <p:cNvSpPr txBox="1"/>
          <p:nvPr/>
        </p:nvSpPr>
        <p:spPr>
          <a:xfrm>
            <a:off x="112677" y="2110715"/>
            <a:ext cx="1189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Com base na direção do efeito (coeficiente ( β )), e na intensidade da contribuição relativa (| β |), a tabela a seguir apresenta a interpretação das variáveis do modelo em relação ao risco estimado de inadimplência.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F41C73A-7CA1-4003-B073-5EC525E1F7D9}"/>
              </a:ext>
            </a:extLst>
          </p:cNvPr>
          <p:cNvSpPr txBox="1"/>
          <p:nvPr/>
        </p:nvSpPr>
        <p:spPr>
          <a:xfrm>
            <a:off x="-4086" y="988423"/>
            <a:ext cx="12196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Embora a função logística transforme o score em uma probabilidade interpretável, o score continua sendo construído pela contribuição conjunta dos coeficientes estimados para cada variável.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AEEC741-3D99-4263-A5F5-70081ADB6945}"/>
              </a:ext>
            </a:extLst>
          </p:cNvPr>
          <p:cNvSpPr txBox="1"/>
          <p:nvPr/>
        </p:nvSpPr>
        <p:spPr>
          <a:xfrm>
            <a:off x="38517" y="1561374"/>
            <a:ext cx="11955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Dessa forma, compreender esses coeficientes permite identificar quais características exerceram maior influência na estimativa do risco de inadimplência.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65AACFA-2BD4-4B10-B8C6-0D30282FAB30}"/>
              </a:ext>
            </a:extLst>
          </p:cNvPr>
          <p:cNvSpPr txBox="1"/>
          <p:nvPr/>
        </p:nvSpPr>
        <p:spPr>
          <a:xfrm>
            <a:off x="370007" y="6129270"/>
            <a:ext cx="11502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 Narrow" panose="020B0606020202030204" pitchFamily="34" charset="0"/>
              </a:rPr>
              <a:t>O modelo tem como variável alvo a inadimplência (default = 1).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6A48F2C-7531-45C9-A418-4081C134BFCC}"/>
              </a:ext>
            </a:extLst>
          </p:cNvPr>
          <p:cNvSpPr txBox="1"/>
          <p:nvPr/>
        </p:nvSpPr>
        <p:spPr>
          <a:xfrm>
            <a:off x="403753" y="6350690"/>
            <a:ext cx="11502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 Narrow" panose="020B0606020202030204" pitchFamily="34" charset="0"/>
              </a:rPr>
              <a:t>Dessa forma, coeficientes positivos estão associados ao aumento da probabilidade estimada de inadimplência, enquanto coeficientes negativos indicam redução desse risco, mantendo constantes as demais variáveis do modelo.</a:t>
            </a:r>
          </a:p>
        </p:txBody>
      </p:sp>
    </p:spTree>
    <p:extLst>
      <p:ext uri="{BB962C8B-B14F-4D97-AF65-F5344CB8AC3E}">
        <p14:creationId xmlns:p14="http://schemas.microsoft.com/office/powerpoint/2010/main" val="1413562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F40E550-4DA4-4824-97E8-65AB72047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3" y="963397"/>
            <a:ext cx="5973009" cy="584916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79934E-1E04-4E27-8E7B-338BDA185C75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0C2F0AF-9CFC-48CB-82CD-15BDCC0E7ABD}"/>
              </a:ext>
            </a:extLst>
          </p:cNvPr>
          <p:cNvSpPr txBox="1"/>
          <p:nvPr/>
        </p:nvSpPr>
        <p:spPr>
          <a:xfrm>
            <a:off x="6158635" y="2291557"/>
            <a:ext cx="3845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BILL_AMT5 (β = -0,310 | |β| = 0,310)</a:t>
            </a:r>
            <a:endParaRPr lang="pt-BR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C14F659-6180-4243-AB17-B8C40D519440}"/>
              </a:ext>
            </a:extLst>
          </p:cNvPr>
          <p:cNvSpPr txBox="1"/>
          <p:nvPr/>
        </p:nvSpPr>
        <p:spPr>
          <a:xfrm>
            <a:off x="6170595" y="266088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saldo da fatura do quinto mês anterior.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33A3982-E2E2-44BF-896D-303EDAD344D5}"/>
              </a:ext>
            </a:extLst>
          </p:cNvPr>
          <p:cNvSpPr txBox="1"/>
          <p:nvPr/>
        </p:nvSpPr>
        <p:spPr>
          <a:xfrm>
            <a:off x="6033870" y="4022367"/>
            <a:ext cx="59125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Nesse contexto, resultado indica que essa informação adicionou evidência estatística de menor risco dentro do conjunto de características observadas, sem implicar que saldos elevados, por si só, reduzam a inadimplência.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102F0B9-B453-4CFC-A3AC-A586DDAE67D6}"/>
              </a:ext>
            </a:extLst>
          </p:cNvPr>
          <p:cNvSpPr txBox="1"/>
          <p:nvPr/>
        </p:nvSpPr>
        <p:spPr>
          <a:xfrm>
            <a:off x="6033870" y="3099037"/>
            <a:ext cx="59301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Trata-se do maior coeficiente absoluto do modelo, tornando essa a variável de maior contribuição individual para a redução do score de risco entre todas as variáveis selecionadas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4D4E4A5-8754-450D-B737-E9324A83374C}"/>
              </a:ext>
            </a:extLst>
          </p:cNvPr>
          <p:cNvSpPr txBox="1"/>
          <p:nvPr/>
        </p:nvSpPr>
        <p:spPr>
          <a:xfrm>
            <a:off x="6054527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</p:spTree>
    <p:extLst>
      <p:ext uri="{BB962C8B-B14F-4D97-AF65-F5344CB8AC3E}">
        <p14:creationId xmlns:p14="http://schemas.microsoft.com/office/powerpoint/2010/main" val="3689668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F40E550-4DA4-4824-97E8-65AB72047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3" y="963397"/>
            <a:ext cx="5973009" cy="584916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79934E-1E04-4E27-8E7B-338BDA185C75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0C2F0AF-9CFC-48CB-82CD-15BDCC0E7ABD}"/>
              </a:ext>
            </a:extLst>
          </p:cNvPr>
          <p:cNvSpPr txBox="1"/>
          <p:nvPr/>
        </p:nvSpPr>
        <p:spPr>
          <a:xfrm>
            <a:off x="6096000" y="1900477"/>
            <a:ext cx="3845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LIMIT_BAL (β = -0,209 | |β| = 0,209)</a:t>
            </a:r>
            <a:endParaRPr lang="pt-BR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C14F659-6180-4243-AB17-B8C40D519440}"/>
              </a:ext>
            </a:extLst>
          </p:cNvPr>
          <p:cNvSpPr txBox="1"/>
          <p:nvPr/>
        </p:nvSpPr>
        <p:spPr>
          <a:xfrm>
            <a:off x="6096000" y="22698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limite de crédito concedido.</a:t>
            </a:r>
            <a:r>
              <a:rPr lang="pt-BR" b="1" dirty="0">
                <a:latin typeface="Arial Narrow" panose="020B0606020202030204" pitchFamily="34" charset="0"/>
              </a:rPr>
              <a:t>  </a:t>
            </a:r>
            <a:endParaRPr lang="pt-BR" dirty="0">
              <a:latin typeface="Arial Narrow" panose="020B0606020202030204" pitchFamily="34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102F0B9-B453-4CFC-A3AC-A586DDAE67D6}"/>
              </a:ext>
            </a:extLst>
          </p:cNvPr>
          <p:cNvSpPr txBox="1"/>
          <p:nvPr/>
        </p:nvSpPr>
        <p:spPr>
          <a:xfrm>
            <a:off x="5959275" y="2707957"/>
            <a:ext cx="5930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coeficiente negativo indica que maiores limites de crédito reduzem o score de risco.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CBF17E-A23D-4843-A966-62B4C651C97A}"/>
              </a:ext>
            </a:extLst>
          </p:cNvPr>
          <p:cNvSpPr txBox="1"/>
          <p:nvPr/>
        </p:nvSpPr>
        <p:spPr>
          <a:xfrm>
            <a:off x="5959275" y="3982560"/>
            <a:ext cx="59125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Em crédito, limites elevados normalmente refletem clientes previamente avaliados como menos arriscados pelas políticas de concessão. O modelo captura esse comportamento como um forte indicador indireto de qualidade de crédito.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96EBD33-AF91-4E1B-AFF7-B9CB0688B6B6}"/>
              </a:ext>
            </a:extLst>
          </p:cNvPr>
          <p:cNvSpPr txBox="1"/>
          <p:nvPr/>
        </p:nvSpPr>
        <p:spPr>
          <a:xfrm>
            <a:off x="5968046" y="3342035"/>
            <a:ext cx="5666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Sua magnitude coloca essa variável entre as principais contribuições negativas do modelo.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495E116-8057-4D67-9A19-54212188746B}"/>
              </a:ext>
            </a:extLst>
          </p:cNvPr>
          <p:cNvSpPr txBox="1"/>
          <p:nvPr/>
        </p:nvSpPr>
        <p:spPr>
          <a:xfrm>
            <a:off x="6054527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</p:spTree>
    <p:extLst>
      <p:ext uri="{BB962C8B-B14F-4D97-AF65-F5344CB8AC3E}">
        <p14:creationId xmlns:p14="http://schemas.microsoft.com/office/powerpoint/2010/main" val="2199592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F40E550-4DA4-4824-97E8-65AB72047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1" y="963397"/>
            <a:ext cx="5973009" cy="584916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79934E-1E04-4E27-8E7B-338BDA185C75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5C919-DA8B-4429-8416-9183398D7B4D}"/>
              </a:ext>
            </a:extLst>
          </p:cNvPr>
          <p:cNvSpPr txBox="1"/>
          <p:nvPr/>
        </p:nvSpPr>
        <p:spPr>
          <a:xfrm>
            <a:off x="6054527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7E7D234-B2C3-4C3B-9DAA-73D2830BDE00}"/>
              </a:ext>
            </a:extLst>
          </p:cNvPr>
          <p:cNvSpPr txBox="1"/>
          <p:nvPr/>
        </p:nvSpPr>
        <p:spPr>
          <a:xfrm>
            <a:off x="6152240" y="176640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PAY_AMT6 (β = -0,126 | |β| = 0,126)</a:t>
            </a:r>
            <a:endParaRPr lang="pt-BR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7D8C9D1-1F26-46EF-B8AA-039FAECA10AF}"/>
              </a:ext>
            </a:extLst>
          </p:cNvPr>
          <p:cNvSpPr txBox="1"/>
          <p:nvPr/>
        </p:nvSpPr>
        <p:spPr>
          <a:xfrm>
            <a:off x="6125660" y="2135740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valor pago no mês mais recente.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526F487-CBEA-439F-B17B-AE286E21DEB3}"/>
              </a:ext>
            </a:extLst>
          </p:cNvPr>
          <p:cNvSpPr txBox="1"/>
          <p:nvPr/>
        </p:nvSpPr>
        <p:spPr>
          <a:xfrm>
            <a:off x="6009190" y="2619988"/>
            <a:ext cx="58992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coeficiente negativo atribuído a </a:t>
            </a:r>
            <a:r>
              <a:rPr lang="en-US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PAY_AMT6 </a:t>
            </a:r>
            <a:r>
              <a:rPr lang="pt-BR" dirty="0">
                <a:latin typeface="Arial Narrow" panose="020B0606020202030204" pitchFamily="34" charset="0"/>
              </a:rPr>
              <a:t>mostra que pagamentos maiores reduzem a probabilidade estimada de inadimplência.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DC7900C-8AA3-4E3A-9A3A-8D64E023FD75}"/>
              </a:ext>
            </a:extLst>
          </p:cNvPr>
          <p:cNvSpPr txBox="1"/>
          <p:nvPr/>
        </p:nvSpPr>
        <p:spPr>
          <a:xfrm>
            <a:off x="6009190" y="3522839"/>
            <a:ext cx="59463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Sua magnitude indica uma influência relevante na construção do score, embora inferior às variáveis estruturais como limite de crédito e saldo da fatura.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A61D11-70B5-473A-B46C-5C708388988F}"/>
              </a:ext>
            </a:extLst>
          </p:cNvPr>
          <p:cNvSpPr txBox="1"/>
          <p:nvPr/>
        </p:nvSpPr>
        <p:spPr>
          <a:xfrm>
            <a:off x="6009190" y="4535526"/>
            <a:ext cx="58554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que nos leva a interpretação de que pagamentos elevados indicam capacidade de liquidação das obrigações financeiras e reduzem o risco projetado pelo modelo.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8838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F40E550-4DA4-4824-97E8-65AB72047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1" y="963397"/>
            <a:ext cx="5973009" cy="584916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79934E-1E04-4E27-8E7B-338BDA185C75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5C919-DA8B-4429-8416-9183398D7B4D}"/>
              </a:ext>
            </a:extLst>
          </p:cNvPr>
          <p:cNvSpPr txBox="1"/>
          <p:nvPr/>
        </p:nvSpPr>
        <p:spPr>
          <a:xfrm>
            <a:off x="6054527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7E7D234-B2C3-4C3B-9DAA-73D2830BDE00}"/>
              </a:ext>
            </a:extLst>
          </p:cNvPr>
          <p:cNvSpPr txBox="1"/>
          <p:nvPr/>
        </p:nvSpPr>
        <p:spPr>
          <a:xfrm>
            <a:off x="6125660" y="161334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PROP_PAGAMENTO_5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7D8C9D1-1F26-46EF-B8AA-039FAECA10AF}"/>
              </a:ext>
            </a:extLst>
          </p:cNvPr>
          <p:cNvSpPr txBox="1"/>
          <p:nvPr/>
        </p:nvSpPr>
        <p:spPr>
          <a:xfrm>
            <a:off x="6099080" y="1994924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proporção do saldo efetivamente paga.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526F487-CBEA-439F-B17B-AE286E21DEB3}"/>
              </a:ext>
            </a:extLst>
          </p:cNvPr>
          <p:cNvSpPr txBox="1"/>
          <p:nvPr/>
        </p:nvSpPr>
        <p:spPr>
          <a:xfrm>
            <a:off x="6009190" y="2427134"/>
            <a:ext cx="58992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coeficiente negativo atribuído a </a:t>
            </a:r>
            <a:r>
              <a:rPr lang="pt-BR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PROP_PAGAMENTO_5 </a:t>
            </a:r>
            <a:r>
              <a:rPr lang="pt-BR" dirty="0">
                <a:latin typeface="Arial Narrow" panose="020B0606020202030204" pitchFamily="34" charset="0"/>
              </a:rPr>
              <a:t>indica redução do risco conforme aumenta a proporção paga.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DC7900C-8AA3-4E3A-9A3A-8D64E023FD75}"/>
              </a:ext>
            </a:extLst>
          </p:cNvPr>
          <p:cNvSpPr txBox="1"/>
          <p:nvPr/>
        </p:nvSpPr>
        <p:spPr>
          <a:xfrm>
            <a:off x="6054527" y="3151041"/>
            <a:ext cx="59463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A magnitude demonstra que essa variável possui influência semelhante à de </a:t>
            </a:r>
            <a:r>
              <a:rPr lang="pt-BR" b="1" dirty="0">
                <a:latin typeface="Arial Narrow" panose="020B0606020202030204" pitchFamily="34" charset="0"/>
              </a:rPr>
              <a:t>MARRIAGE</a:t>
            </a:r>
            <a:r>
              <a:rPr lang="pt-BR" dirty="0">
                <a:latin typeface="Arial Narrow" panose="020B0606020202030204" pitchFamily="34" charset="0"/>
              </a:rPr>
              <a:t>, sendo uma das principais variáveis comportamentais do modelo.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A61D11-70B5-473A-B46C-5C708388988F}"/>
              </a:ext>
            </a:extLst>
          </p:cNvPr>
          <p:cNvSpPr txBox="1"/>
          <p:nvPr/>
        </p:nvSpPr>
        <p:spPr>
          <a:xfrm>
            <a:off x="6091914" y="4184047"/>
            <a:ext cx="585541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Mais importante do que o valor absoluto pago é o percentual da dívida efetivamente liquidado. </a:t>
            </a:r>
          </a:p>
          <a:p>
            <a:pPr algn="just"/>
            <a:r>
              <a:rPr lang="pt-BR" sz="900" dirty="0">
                <a:latin typeface="Arial Narrow" panose="020B0606020202030204" pitchFamily="34" charset="0"/>
              </a:rPr>
              <a:t>  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Quanto maior essa proporção, maior a evidência de disciplina financeira.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5236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F40E550-4DA4-4824-97E8-65AB72047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1" y="963397"/>
            <a:ext cx="5973009" cy="584916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79934E-1E04-4E27-8E7B-338BDA185C75}"/>
              </a:ext>
            </a:extLst>
          </p:cNvPr>
          <p:cNvSpPr txBox="1"/>
          <p:nvPr/>
        </p:nvSpPr>
        <p:spPr>
          <a:xfrm>
            <a:off x="6298425" y="1079828"/>
            <a:ext cx="56512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Demais variáveis associadas à redução do risco</a:t>
            </a:r>
            <a:endParaRPr lang="pt-BR" sz="2400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5C919-DA8B-4429-8416-9183398D7B4D}"/>
              </a:ext>
            </a:extLst>
          </p:cNvPr>
          <p:cNvSpPr txBox="1"/>
          <p:nvPr/>
        </p:nvSpPr>
        <p:spPr>
          <a:xfrm>
            <a:off x="6054527" y="5701367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0396BC-20C6-43ED-9C1D-033A984412A3}"/>
              </a:ext>
            </a:extLst>
          </p:cNvPr>
          <p:cNvSpPr txBox="1"/>
          <p:nvPr/>
        </p:nvSpPr>
        <p:spPr>
          <a:xfrm>
            <a:off x="5979949" y="1975083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MEDIA_PROP_PAGAMENTO_B3 </a:t>
            </a:r>
            <a:r>
              <a:rPr lang="pt-BR" dirty="0">
                <a:latin typeface="Arial Narrow" panose="020B0606020202030204" pitchFamily="34" charset="0"/>
              </a:rPr>
              <a:t>(-0,072): histórico de pagamentos proporcionalmente elevados reduz o risco estimado.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FC5A946-BD4A-4948-814E-E1987A9E5D86}"/>
              </a:ext>
            </a:extLst>
          </p:cNvPr>
          <p:cNvSpPr txBox="1"/>
          <p:nvPr/>
        </p:nvSpPr>
        <p:spPr>
          <a:xfrm>
            <a:off x="5990729" y="2611398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PROP_NEGATIVA_FLAG_5 </a:t>
            </a:r>
            <a:r>
              <a:rPr lang="pt-BR" dirty="0">
                <a:latin typeface="Arial Narrow" panose="020B0606020202030204" pitchFamily="34" charset="0"/>
              </a:rPr>
              <a:t>(-0,089) e </a:t>
            </a:r>
            <a:r>
              <a:rPr lang="pt-BR" sz="1600" b="1" dirty="0">
                <a:latin typeface="Arial Narrow" panose="020B0606020202030204" pitchFamily="34" charset="0"/>
              </a:rPr>
              <a:t>PROP_NEGATIVA_FLAG_6 </a:t>
            </a:r>
            <a:r>
              <a:rPr lang="pt-BR" dirty="0">
                <a:latin typeface="Arial Narrow" panose="020B0606020202030204" pitchFamily="34" charset="0"/>
              </a:rPr>
              <a:t>(-0,072): pagamentos superiores ao saldo da fatura estiveram associados a perfis de menor risco.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42E41DC-638D-4B6B-9FE4-9B40641B2A0E}"/>
              </a:ext>
            </a:extLst>
          </p:cNvPr>
          <p:cNvSpPr txBox="1"/>
          <p:nvPr/>
        </p:nvSpPr>
        <p:spPr>
          <a:xfrm>
            <a:off x="5985413" y="3510549"/>
            <a:ext cx="610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PROP_SUPERIOR_FLAG_B3 </a:t>
            </a:r>
            <a:r>
              <a:rPr lang="pt-BR" dirty="0">
                <a:latin typeface="Arial Narrow" panose="020B0606020202030204" pitchFamily="34" charset="0"/>
              </a:rPr>
              <a:t>(-0,043): recorrência desse comportamento ao longo do histórico reforça a redução do risco.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AE8DD68-260F-459D-88FE-BB9A91C2F8F2}"/>
              </a:ext>
            </a:extLst>
          </p:cNvPr>
          <p:cNvSpPr txBox="1"/>
          <p:nvPr/>
        </p:nvSpPr>
        <p:spPr>
          <a:xfrm>
            <a:off x="5985413" y="4149161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PAY_AMT5 (-0,027): </a:t>
            </a:r>
            <a:r>
              <a:rPr lang="pt-BR" dirty="0">
                <a:latin typeface="Arial Narrow" panose="020B0606020202030204" pitchFamily="34" charset="0"/>
              </a:rPr>
              <a:t>pagamentos elevados em meses anteriores contribuem para o score, embora com menor intensidade que PAY_AMT6.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0BC8D54-7AD0-4B63-9C7F-11F661DCD7DA}"/>
              </a:ext>
            </a:extLst>
          </p:cNvPr>
          <p:cNvSpPr txBox="1"/>
          <p:nvPr/>
        </p:nvSpPr>
        <p:spPr>
          <a:xfrm>
            <a:off x="5945392" y="5040593"/>
            <a:ext cx="610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PROP_PAGAMENTO_6 (-0,006): </a:t>
            </a:r>
            <a:r>
              <a:rPr lang="pt-BR" dirty="0">
                <a:latin typeface="Arial Narrow" panose="020B0606020202030204" pitchFamily="34" charset="0"/>
              </a:rPr>
              <a:t>adiciona pouca informação marginal após consideradas as demais variáveis do modelo.</a:t>
            </a:r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09B6280-8D4B-4270-AE81-28533D1C29C2}"/>
              </a:ext>
            </a:extLst>
          </p:cNvPr>
          <p:cNvSpPr txBox="1"/>
          <p:nvPr/>
        </p:nvSpPr>
        <p:spPr>
          <a:xfrm>
            <a:off x="6075151" y="155031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rial Narrow" panose="020B0606020202030204" pitchFamily="34" charset="0"/>
              </a:rPr>
              <a:t>Comportamento consistente de pagamento</a:t>
            </a:r>
            <a:r>
              <a:rPr lang="pt-BR" dirty="0">
                <a:latin typeface="Arial Narrow" panose="020B0606020202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995271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F40E550-4DA4-4824-97E8-65AB72047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1" y="963397"/>
            <a:ext cx="5973009" cy="584916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79934E-1E04-4E27-8E7B-338BDA185C75}"/>
              </a:ext>
            </a:extLst>
          </p:cNvPr>
          <p:cNvSpPr txBox="1"/>
          <p:nvPr/>
        </p:nvSpPr>
        <p:spPr>
          <a:xfrm>
            <a:off x="6298425" y="973500"/>
            <a:ext cx="56512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Demais variáveis associadas à redução do risco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5C919-DA8B-4429-8416-9183398D7B4D}"/>
              </a:ext>
            </a:extLst>
          </p:cNvPr>
          <p:cNvSpPr txBox="1"/>
          <p:nvPr/>
        </p:nvSpPr>
        <p:spPr>
          <a:xfrm>
            <a:off x="6054527" y="5701367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09B6280-8D4B-4270-AE81-28533D1C29C2}"/>
              </a:ext>
            </a:extLst>
          </p:cNvPr>
          <p:cNvSpPr txBox="1"/>
          <p:nvPr/>
        </p:nvSpPr>
        <p:spPr>
          <a:xfrm>
            <a:off x="6075151" y="140145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rial Narrow" panose="020B0606020202030204" pitchFamily="34" charset="0"/>
              </a:rPr>
              <a:t>Características Cadastrais</a:t>
            </a:r>
            <a:endParaRPr lang="pt-BR" dirty="0">
              <a:latin typeface="Arial Narrow" panose="020B060602020203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5C6693E-9922-4F4B-8440-453368643485}"/>
              </a:ext>
            </a:extLst>
          </p:cNvPr>
          <p:cNvSpPr txBox="1"/>
          <p:nvPr/>
        </p:nvSpPr>
        <p:spPr>
          <a:xfrm>
            <a:off x="6054527" y="1754742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MARRIAGE (-0,103): </a:t>
            </a:r>
            <a:r>
              <a:rPr lang="pt-BR" dirty="0">
                <a:latin typeface="Arial Narrow" panose="020B0606020202030204" pitchFamily="34" charset="0"/>
              </a:rPr>
              <a:t>determinadas categorias do estado civil apresentaram menor risco relativo em comparação à categoria de referência.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4C68339-8697-46E2-A9C8-C85A402E91F7}"/>
              </a:ext>
            </a:extLst>
          </p:cNvPr>
          <p:cNvSpPr txBox="1"/>
          <p:nvPr/>
        </p:nvSpPr>
        <p:spPr>
          <a:xfrm>
            <a:off x="6091914" y="4822045"/>
            <a:ext cx="5946317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00" dirty="0">
                <a:latin typeface="Arial Narrow" panose="020B0606020202030204" pitchFamily="34" charset="0"/>
              </a:rPr>
              <a:t>Variáveis cadastrais possuem contribuição complementar, mas seu efeito é significativamente menor do que o das variáveis comportamentais de crédito.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2D92FA1-9E91-45BB-B24B-292FB5187A50}"/>
              </a:ext>
            </a:extLst>
          </p:cNvPr>
          <p:cNvSpPr txBox="1"/>
          <p:nvPr/>
        </p:nvSpPr>
        <p:spPr>
          <a:xfrm>
            <a:off x="6003333" y="3868073"/>
            <a:ext cx="59463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SEX (-0,042) e EDUCATION (-0,029): </a:t>
            </a:r>
            <a:r>
              <a:rPr lang="pt-BR" dirty="0">
                <a:latin typeface="Arial Narrow" panose="020B0606020202030204" pitchFamily="34" charset="0"/>
              </a:rPr>
              <a:t>apresentaram pequena contribuição para o modelo, refletindo diferenças estatísticas entre categorias, sem interpretação causal.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3DB16BA-8D03-442D-A5EB-F25C90546F69}"/>
              </a:ext>
            </a:extLst>
          </p:cNvPr>
          <p:cNvSpPr txBox="1"/>
          <p:nvPr/>
        </p:nvSpPr>
        <p:spPr>
          <a:xfrm>
            <a:off x="6054527" y="2637102"/>
            <a:ext cx="57398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AGE (-0,049): </a:t>
            </a:r>
            <a:r>
              <a:rPr lang="pt-BR" dirty="0">
                <a:latin typeface="Arial Narrow" panose="020B0606020202030204" pitchFamily="34" charset="0"/>
              </a:rPr>
              <a:t>após o controle pelas demais variáveis do modelo, a idade apresentou contribuição negativa de baixa magnitude para o score de risco, indicando um efeito marginal relativamente pequeno na estimativa de inadimplência.</a:t>
            </a:r>
          </a:p>
        </p:txBody>
      </p:sp>
    </p:spTree>
    <p:extLst>
      <p:ext uri="{BB962C8B-B14F-4D97-AF65-F5344CB8AC3E}">
        <p14:creationId xmlns:p14="http://schemas.microsoft.com/office/powerpoint/2010/main" val="6809764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F40E550-4DA4-4824-97E8-65AB72047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1" y="963397"/>
            <a:ext cx="5973009" cy="5849166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79934E-1E04-4E27-8E7B-338BDA185C75}"/>
              </a:ext>
            </a:extLst>
          </p:cNvPr>
          <p:cNvSpPr txBox="1"/>
          <p:nvPr/>
        </p:nvSpPr>
        <p:spPr>
          <a:xfrm>
            <a:off x="6298425" y="1079828"/>
            <a:ext cx="56512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Demais variáveis associadas à redução do risco</a:t>
            </a:r>
            <a:endParaRPr lang="pt-BR" sz="2400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5C919-DA8B-4429-8416-9183398D7B4D}"/>
              </a:ext>
            </a:extLst>
          </p:cNvPr>
          <p:cNvSpPr txBox="1"/>
          <p:nvPr/>
        </p:nvSpPr>
        <p:spPr>
          <a:xfrm>
            <a:off x="6054527" y="5701367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09B6280-8D4B-4270-AE81-28533D1C29C2}"/>
              </a:ext>
            </a:extLst>
          </p:cNvPr>
          <p:cNvSpPr txBox="1"/>
          <p:nvPr/>
        </p:nvSpPr>
        <p:spPr>
          <a:xfrm>
            <a:off x="6075151" y="155031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rial Narrow" panose="020B0606020202030204" pitchFamily="34" charset="0"/>
              </a:rPr>
              <a:t>Dinâmica da utilização do crédito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CECE956-6893-4C67-A8C5-B27A561807A8}"/>
              </a:ext>
            </a:extLst>
          </p:cNvPr>
          <p:cNvSpPr txBox="1"/>
          <p:nvPr/>
        </p:nvSpPr>
        <p:spPr>
          <a:xfrm>
            <a:off x="5987519" y="2067469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algn="just">
              <a:buFont typeface="Arial" panose="020B0604020202020204" pitchFamily="34" charset="0"/>
              <a:buChar char="•"/>
              <a:defRPr sz="1600" b="1">
                <a:latin typeface="Arial Narrow" panose="020B0606020202030204" pitchFamily="34" charset="0"/>
              </a:defRPr>
            </a:lvl1pPr>
          </a:lstStyle>
          <a:p>
            <a:r>
              <a:rPr lang="pt-BR" dirty="0"/>
              <a:t>CONCENTRACAO_UTIL_B3 (-0,018): </a:t>
            </a:r>
            <a:r>
              <a:rPr lang="pt-BR" sz="1800" b="0" dirty="0"/>
              <a:t>determinados padrões de concentração da utilização estiveram associados à redução do risco.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78C021D-43F3-438E-951C-C15B853DD0D8}"/>
              </a:ext>
            </a:extLst>
          </p:cNvPr>
          <p:cNvSpPr txBox="1"/>
          <p:nvPr/>
        </p:nvSpPr>
        <p:spPr>
          <a:xfrm>
            <a:off x="5940459" y="3109188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algn="just">
              <a:buFont typeface="Arial" panose="020B0604020202020204" pitchFamily="34" charset="0"/>
              <a:buChar char="•"/>
              <a:defRPr sz="1600" b="1">
                <a:latin typeface="Arial Narrow" panose="020B0606020202030204" pitchFamily="34" charset="0"/>
              </a:defRPr>
            </a:lvl1pPr>
          </a:lstStyle>
          <a:p>
            <a:r>
              <a:rPr lang="pt-BR" dirty="0"/>
              <a:t>BILL_AMT6 (-0,017): </a:t>
            </a:r>
            <a:r>
              <a:rPr lang="pt-BR" sz="1800" b="0" dirty="0"/>
              <a:t>comportamento semelhante ao observado em </a:t>
            </a:r>
            <a:r>
              <a:rPr lang="pt-BR" dirty="0"/>
              <a:t>BILL_AMT5, </a:t>
            </a:r>
            <a:r>
              <a:rPr lang="pt-BR" sz="1800" b="0" dirty="0"/>
              <a:t>porém com contribuição marginal inferior.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F78269-9B32-4ED1-9F47-B3A7D7546EFC}"/>
              </a:ext>
            </a:extLst>
          </p:cNvPr>
          <p:cNvSpPr txBox="1"/>
          <p:nvPr/>
        </p:nvSpPr>
        <p:spPr>
          <a:xfrm>
            <a:off x="6016442" y="3920165"/>
            <a:ext cx="6124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algn="just">
              <a:buFont typeface="Arial" panose="020B0604020202020204" pitchFamily="34" charset="0"/>
              <a:buChar char="•"/>
              <a:defRPr sz="1600" b="1">
                <a:latin typeface="Arial Narrow" panose="020B0606020202030204" pitchFamily="34" charset="0"/>
              </a:defRPr>
            </a:lvl1pPr>
          </a:lstStyle>
          <a:p>
            <a:r>
              <a:rPr lang="pt-BR" dirty="0"/>
              <a:t>PROP_PAGAMENTO_VOLATIL_LOG_B3 (-0,039): </a:t>
            </a:r>
            <a:r>
              <a:rPr lang="pt-BR" sz="1800" b="0" dirty="0"/>
              <a:t>após a transformação logarítmica, contribuiu para capturar relações não lineares da volatilidade dos pagamentos.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3FD70DD-0E55-41FE-ADF3-62BDE9A625B1}"/>
              </a:ext>
            </a:extLst>
          </p:cNvPr>
          <p:cNvSpPr txBox="1"/>
          <p:nvPr/>
        </p:nvSpPr>
        <p:spPr>
          <a:xfrm>
            <a:off x="6099864" y="4948970"/>
            <a:ext cx="5938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Essas variáveis refinam o score ao incorporar aspectos temporais do comportamento financeiro, porém com menor peso individual.</a:t>
            </a:r>
          </a:p>
        </p:txBody>
      </p:sp>
    </p:spTree>
    <p:extLst>
      <p:ext uri="{BB962C8B-B14F-4D97-AF65-F5344CB8AC3E}">
        <p14:creationId xmlns:p14="http://schemas.microsoft.com/office/powerpoint/2010/main" val="11744606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A77D99-580A-4079-8ED4-0E52FDE223CB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50F4AD-2350-4C71-B143-760B6EC2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" y="933253"/>
            <a:ext cx="5620534" cy="603016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D48BD8-E686-4EC0-ACB2-E90ECD121475}"/>
              </a:ext>
            </a:extLst>
          </p:cNvPr>
          <p:cNvSpPr txBox="1"/>
          <p:nvPr/>
        </p:nvSpPr>
        <p:spPr>
          <a:xfrm>
            <a:off x="5852500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BD38D5-337C-4C34-8FF4-86777A39E7E4}"/>
              </a:ext>
            </a:extLst>
          </p:cNvPr>
          <p:cNvSpPr txBox="1"/>
          <p:nvPr/>
        </p:nvSpPr>
        <p:spPr>
          <a:xfrm>
            <a:off x="5852500" y="1513950"/>
            <a:ext cx="5356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ATRASOS_CONTAGEM_B3 (β = 0,305 | |β| = 0,305)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740BD52-001A-45F5-B3A6-B462F44B556B}"/>
              </a:ext>
            </a:extLst>
          </p:cNvPr>
          <p:cNvSpPr txBox="1"/>
          <p:nvPr/>
        </p:nvSpPr>
        <p:spPr>
          <a:xfrm>
            <a:off x="5852500" y="1932517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Quantidade de meses, dentro da janela histórica B3, em que o cliente apresentou atraso no pagamento</a:t>
            </a:r>
            <a:r>
              <a:rPr lang="pt-BR" b="1" dirty="0">
                <a:latin typeface="Arial Narrow" panose="020B0606020202030204" pitchFamily="34" charset="0"/>
              </a:rPr>
              <a:t> (PAY_STATUS &gt; 0).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EF21982-1242-49DB-8588-3FE7CB71524A}"/>
              </a:ext>
            </a:extLst>
          </p:cNvPr>
          <p:cNvSpPr txBox="1"/>
          <p:nvPr/>
        </p:nvSpPr>
        <p:spPr>
          <a:xfrm>
            <a:off x="5742776" y="2793560"/>
            <a:ext cx="59125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A recorrência de atrasos representa um dos sinais mais fortes de deterioração do comportamento financeiro.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F43C7B9-0413-44E5-8441-690BD180CE1D}"/>
              </a:ext>
            </a:extLst>
          </p:cNvPr>
          <p:cNvSpPr txBox="1"/>
          <p:nvPr/>
        </p:nvSpPr>
        <p:spPr>
          <a:xfrm>
            <a:off x="5742776" y="4764559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modelo captura que clientes com maior frequência de eventos de atraso apresentam maior probabilidade de inadimplência futura.</a:t>
            </a:r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1178BFB-7C00-4B55-AE1E-29F44FBDA8EC}"/>
              </a:ext>
            </a:extLst>
          </p:cNvPr>
          <p:cNvSpPr txBox="1"/>
          <p:nvPr/>
        </p:nvSpPr>
        <p:spPr>
          <a:xfrm>
            <a:off x="5742776" y="3710245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Mesmo pequenos atrasos, quando repetidos ao longo do histórico, indicam perda de regularidade nos pagamentos e elevam significativamente o risco estimado pelo modelo.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83674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A77D99-580A-4079-8ED4-0E52FDE223CB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50F4AD-2350-4C71-B143-760B6EC2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" y="933253"/>
            <a:ext cx="5620534" cy="603016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D48BD8-E686-4EC0-ACB2-E90ECD121475}"/>
              </a:ext>
            </a:extLst>
          </p:cNvPr>
          <p:cNvSpPr txBox="1"/>
          <p:nvPr/>
        </p:nvSpPr>
        <p:spPr>
          <a:xfrm>
            <a:off x="5852500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A937914-4AB9-417C-BAA1-15520F28642C}"/>
              </a:ext>
            </a:extLst>
          </p:cNvPr>
          <p:cNvSpPr txBox="1"/>
          <p:nvPr/>
        </p:nvSpPr>
        <p:spPr>
          <a:xfrm>
            <a:off x="5852500" y="1513950"/>
            <a:ext cx="5356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ATRASO_MEDIO_B3 (β = 0,254 | |β| = 0,254)</a:t>
            </a:r>
            <a:endParaRPr lang="pt-BR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56DE505-FA58-4E82-BA52-95E7265C4385}"/>
              </a:ext>
            </a:extLst>
          </p:cNvPr>
          <p:cNvSpPr txBox="1"/>
          <p:nvPr/>
        </p:nvSpPr>
        <p:spPr>
          <a:xfrm>
            <a:off x="5852500" y="193251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atraso médio observado no histórico recente.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5839CCA-B707-4F07-8432-759A594BBCE8}"/>
              </a:ext>
            </a:extLst>
          </p:cNvPr>
          <p:cNvSpPr txBox="1"/>
          <p:nvPr/>
        </p:nvSpPr>
        <p:spPr>
          <a:xfrm>
            <a:off x="5778072" y="2413337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coeficiente positivo indica que maiores valores de atraso médio aumentam o risco estimado, mantendo constantes as demais características do cliente.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D323ECE-1D2D-4698-B9D5-62672667FAB9}"/>
              </a:ext>
            </a:extLst>
          </p:cNvPr>
          <p:cNvSpPr txBox="1"/>
          <p:nvPr/>
        </p:nvSpPr>
        <p:spPr>
          <a:xfrm>
            <a:off x="5750767" y="4708046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Clientes que apresentam atrasos mais longos demonstram maior dificuldade de regularização financeira, elevando o risco projetado.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9658A3D-26F2-498B-BC95-B253E01AD5A6}"/>
              </a:ext>
            </a:extLst>
          </p:cNvPr>
          <p:cNvSpPr txBox="1"/>
          <p:nvPr/>
        </p:nvSpPr>
        <p:spPr>
          <a:xfrm>
            <a:off x="5778072" y="3488324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Sua magnitude é a segunda maior contribuição positiva do modelo, indicando que não apenas a ocorrência de atrasos, mas também sua intensidade média, possui papel relevante na diferenciação dos perfis de risco.</a:t>
            </a:r>
          </a:p>
        </p:txBody>
      </p:sp>
    </p:spTree>
    <p:extLst>
      <p:ext uri="{BB962C8B-B14F-4D97-AF65-F5344CB8AC3E}">
        <p14:creationId xmlns:p14="http://schemas.microsoft.com/office/powerpoint/2010/main" val="35266606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A77D99-580A-4079-8ED4-0E52FDE223CB}"/>
              </a:ext>
            </a:extLst>
          </p:cNvPr>
          <p:cNvSpPr txBox="1"/>
          <p:nvPr/>
        </p:nvSpPr>
        <p:spPr>
          <a:xfrm>
            <a:off x="7278421" y="984131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50F4AD-2350-4C71-B143-760B6EC2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" y="933253"/>
            <a:ext cx="5620534" cy="603016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D48BD8-E686-4EC0-ACB2-E90ECD121475}"/>
              </a:ext>
            </a:extLst>
          </p:cNvPr>
          <p:cNvSpPr txBox="1"/>
          <p:nvPr/>
        </p:nvSpPr>
        <p:spPr>
          <a:xfrm>
            <a:off x="5852500" y="569652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EB8B8C-E8E8-47C0-8F26-4DEECD3FA933}"/>
              </a:ext>
            </a:extLst>
          </p:cNvPr>
          <p:cNvSpPr txBox="1"/>
          <p:nvPr/>
        </p:nvSpPr>
        <p:spPr>
          <a:xfrm>
            <a:off x="5852500" y="1439519"/>
            <a:ext cx="5356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PROP_PAGAMENTO_TRAT_5 (</a:t>
            </a:r>
            <a:r>
              <a:rPr lang="el-GR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β = 0,107 | |β| = 0,107)</a:t>
            </a:r>
            <a:endParaRPr lang="pt-BR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B251838-FCE4-4A4C-9123-DE41F85BF5A7}"/>
              </a:ext>
            </a:extLst>
          </p:cNvPr>
          <p:cNvSpPr txBox="1"/>
          <p:nvPr/>
        </p:nvSpPr>
        <p:spPr>
          <a:xfrm>
            <a:off x="5852500" y="1804922"/>
            <a:ext cx="609777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00" b="1" dirty="0">
                <a:latin typeface="Arial Narrow" panose="020B0606020202030204" pitchFamily="34" charset="0"/>
              </a:rPr>
              <a:t>Definição: p</a:t>
            </a:r>
            <a:r>
              <a:rPr lang="pt-BR" sz="1700" dirty="0">
                <a:latin typeface="Arial Narrow" panose="020B0606020202030204" pitchFamily="34" charset="0"/>
              </a:rPr>
              <a:t>roporção de pagamento do mês 5 após tratamento de valores extremos e inconsistências geradas pelo cálculo da razão entre pagamento realizado e saldo da fatura.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7B1EDF5-9723-4AE9-B31E-39372CA77FF4}"/>
              </a:ext>
            </a:extLst>
          </p:cNvPr>
          <p:cNvSpPr txBox="1"/>
          <p:nvPr/>
        </p:nvSpPr>
        <p:spPr>
          <a:xfrm>
            <a:off x="5773540" y="2659203"/>
            <a:ext cx="625569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700" dirty="0">
                <a:latin typeface="Arial Narrow" panose="020B0606020202030204" pitchFamily="34" charset="0"/>
              </a:rPr>
              <a:t>O resultado sugere que determinados padrões capturados pela versão tratada da proporção de pagamento, especialmente aqueles associados a situações atípicas ou inconsistentes, estiveram relacionados a clientes de maior risco.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42D8DEC-7D16-4731-B32F-41F6FDCFCB93}"/>
              </a:ext>
            </a:extLst>
          </p:cNvPr>
          <p:cNvSpPr txBox="1"/>
          <p:nvPr/>
        </p:nvSpPr>
        <p:spPr>
          <a:xfrm>
            <a:off x="5773540" y="3742434"/>
            <a:ext cx="609777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700" dirty="0">
                <a:latin typeface="Arial Narrow" panose="020B0606020202030204" pitchFamily="34" charset="0"/>
              </a:rPr>
              <a:t>Seu efeito deve ser interpretado em conjunto com os demais indicadores de pagamento, atrasos e utilização do crédito, uma vez que o modelo estima simultaneamente a contribuição de todas as variáveis. 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86B09DA-BC7F-460E-AF56-442FFC0C8DBF}"/>
              </a:ext>
            </a:extLst>
          </p:cNvPr>
          <p:cNvSpPr txBox="1"/>
          <p:nvPr/>
        </p:nvSpPr>
        <p:spPr>
          <a:xfrm>
            <a:off x="5852499" y="4848151"/>
            <a:ext cx="609777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700" dirty="0">
                <a:latin typeface="Arial Narrow" panose="020B0606020202030204" pitchFamily="34" charset="0"/>
              </a:rPr>
              <a:t>Assim, o coeficiente representa a informação preditiva adicional capturada por sua versão tratada após os demais fatores do comportamento financeiro do cliente.</a:t>
            </a:r>
          </a:p>
        </p:txBody>
      </p:sp>
    </p:spTree>
    <p:extLst>
      <p:ext uri="{BB962C8B-B14F-4D97-AF65-F5344CB8AC3E}">
        <p14:creationId xmlns:p14="http://schemas.microsoft.com/office/powerpoint/2010/main" val="6367249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A77D99-580A-4079-8ED4-0E52FDE223CB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50F4AD-2350-4C71-B143-760B6EC2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" y="933253"/>
            <a:ext cx="5620534" cy="603016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D48BD8-E686-4EC0-ACB2-E90ECD121475}"/>
              </a:ext>
            </a:extLst>
          </p:cNvPr>
          <p:cNvSpPr txBox="1"/>
          <p:nvPr/>
        </p:nvSpPr>
        <p:spPr>
          <a:xfrm>
            <a:off x="5852500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6D8700-F7C7-476D-820F-2465B4C4BB21}"/>
              </a:ext>
            </a:extLst>
          </p:cNvPr>
          <p:cNvSpPr txBox="1"/>
          <p:nvPr/>
        </p:nvSpPr>
        <p:spPr>
          <a:xfrm>
            <a:off x="5852500" y="1513950"/>
            <a:ext cx="5356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VOL_PROP_PAGAMENTO_B3 (</a:t>
            </a:r>
            <a:r>
              <a:rPr lang="el-GR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β = 0,107 | |β| = 0,107)</a:t>
            </a:r>
            <a:endParaRPr lang="pt-BR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209295-DFBB-4695-9C12-1D06C75AC131}"/>
              </a:ext>
            </a:extLst>
          </p:cNvPr>
          <p:cNvSpPr txBox="1"/>
          <p:nvPr/>
        </p:nvSpPr>
        <p:spPr>
          <a:xfrm>
            <a:off x="5852500" y="1932517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volatilidade da proporção de pagamento ao longo do histórico recente.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2C3B20-ED88-427D-B7A2-7049890E9521}"/>
              </a:ext>
            </a:extLst>
          </p:cNvPr>
          <p:cNvSpPr txBox="1"/>
          <p:nvPr/>
        </p:nvSpPr>
        <p:spPr>
          <a:xfrm>
            <a:off x="5852500" y="2628083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coeficiente positivo indica que maior variação no comportamento de pagamento esteve associada ao aumento do score de risco.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B90A4F-40E4-4E2B-8D45-E354B39E94E1}"/>
              </a:ext>
            </a:extLst>
          </p:cNvPr>
          <p:cNvSpPr txBox="1"/>
          <p:nvPr/>
        </p:nvSpPr>
        <p:spPr>
          <a:xfrm>
            <a:off x="5852500" y="412517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Clientes com comportamento de pagamento mais instável apresentam maior incerteza sobre sua capacidade financeira.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8E9CE1F-C123-400A-9CE2-75283B881AEE}"/>
              </a:ext>
            </a:extLst>
          </p:cNvPr>
          <p:cNvSpPr txBox="1"/>
          <p:nvPr/>
        </p:nvSpPr>
        <p:spPr>
          <a:xfrm>
            <a:off x="5852500" y="321831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A magnitude posiciona essa variável entre os principais indicadores comportamentais do modelo, mostrando que a estabilidade do padrão de pagamento possui informação relevante.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BF028B5-4604-4894-BD9C-1F6172221A27}"/>
              </a:ext>
            </a:extLst>
          </p:cNvPr>
          <p:cNvSpPr txBox="1"/>
          <p:nvPr/>
        </p:nvSpPr>
        <p:spPr>
          <a:xfrm>
            <a:off x="5852500" y="483352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modelo captura essa irregularidade como um sinal adicional de risco.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22970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A77D99-580A-4079-8ED4-0E52FDE223CB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50F4AD-2350-4C71-B143-760B6EC2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" y="933253"/>
            <a:ext cx="5620534" cy="603016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9781CA7-0B19-4D04-ADC8-E4BB370404B4}"/>
              </a:ext>
            </a:extLst>
          </p:cNvPr>
          <p:cNvSpPr txBox="1"/>
          <p:nvPr/>
        </p:nvSpPr>
        <p:spPr>
          <a:xfrm>
            <a:off x="5852500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D6759EE-5A77-4E94-B2F5-EB7393D688B8}"/>
              </a:ext>
            </a:extLst>
          </p:cNvPr>
          <p:cNvSpPr txBox="1"/>
          <p:nvPr/>
        </p:nvSpPr>
        <p:spPr>
          <a:xfrm>
            <a:off x="5852500" y="156318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PROP_NEGATIVA_FLAG_B3 (β = 0,106 | |β| = 0,106)</a:t>
            </a:r>
            <a:endParaRPr lang="pt-BR" dirty="0"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E24B612-C7BF-4C2D-9838-A81754CC04D6}"/>
              </a:ext>
            </a:extLst>
          </p:cNvPr>
          <p:cNvSpPr txBox="1"/>
          <p:nvPr/>
        </p:nvSpPr>
        <p:spPr>
          <a:xfrm>
            <a:off x="5852500" y="1932517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Indicador binário que identifica ocorrências, ao longo da janela histórica B3, em que a proporção de pagamento assumiu valores negativos após o cálculo da razão entre pagamento realizado e saldo da fatura.</a:t>
            </a:r>
            <a:r>
              <a:rPr lang="pt-BR" b="1" dirty="0">
                <a:latin typeface="Arial Narrow" panose="020B0606020202030204" pitchFamily="34" charset="0"/>
              </a:rPr>
              <a:t>       </a:t>
            </a:r>
            <a:r>
              <a:rPr lang="pt-BR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FECF871-E190-484D-9A0E-3CFB8A4D1B21}"/>
              </a:ext>
            </a:extLst>
          </p:cNvPr>
          <p:cNvSpPr txBox="1"/>
          <p:nvPr/>
        </p:nvSpPr>
        <p:spPr>
          <a:xfrm>
            <a:off x="5658947" y="3209672"/>
            <a:ext cx="63792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Embora pagamentos superiores ao saldo possam, em alguns casos, refletir liquidação antecipada, valores negativos na proporção de pagamento frequentemente decorrem de situações operacionais específicas, como ajustes, créditos ou saldos negativos. 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58AD2B5-BF89-4496-8F6F-92E709F8E0B1}"/>
              </a:ext>
            </a:extLst>
          </p:cNvPr>
          <p:cNvSpPr txBox="1"/>
          <p:nvPr/>
        </p:nvSpPr>
        <p:spPr>
          <a:xfrm>
            <a:off x="5764958" y="4496352"/>
            <a:ext cx="62728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O modelo identificou que a recorrência desse padrão, quando analisada em conjunto com as demais variáveis, esteve associada a clientes de maior risco.</a:t>
            </a:r>
          </a:p>
        </p:txBody>
      </p:sp>
    </p:spTree>
    <p:extLst>
      <p:ext uri="{BB962C8B-B14F-4D97-AF65-F5344CB8AC3E}">
        <p14:creationId xmlns:p14="http://schemas.microsoft.com/office/powerpoint/2010/main" val="30398837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A77D99-580A-4079-8ED4-0E52FDE223CB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50F4AD-2350-4C71-B143-760B6EC2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" y="933253"/>
            <a:ext cx="5620534" cy="603016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9781CA7-0B19-4D04-ADC8-E4BB370404B4}"/>
              </a:ext>
            </a:extLst>
          </p:cNvPr>
          <p:cNvSpPr txBox="1"/>
          <p:nvPr/>
        </p:nvSpPr>
        <p:spPr>
          <a:xfrm>
            <a:off x="5852500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F25977C-F0A8-4ACB-BA1F-96C09482CCED}"/>
              </a:ext>
            </a:extLst>
          </p:cNvPr>
          <p:cNvSpPr txBox="1"/>
          <p:nvPr/>
        </p:nvSpPr>
        <p:spPr>
          <a:xfrm>
            <a:off x="6075151" y="155031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rial Narrow" panose="020B0606020202030204" pitchFamily="34" charset="0"/>
              </a:rPr>
              <a:t>Dinâmica da utilização do crédito e endividamento 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8B8210-C64B-4FA2-B0A0-87A48CFAD60E}"/>
              </a:ext>
            </a:extLst>
          </p:cNvPr>
          <p:cNvSpPr txBox="1"/>
          <p:nvPr/>
        </p:nvSpPr>
        <p:spPr>
          <a:xfrm>
            <a:off x="5845594" y="1915461"/>
            <a:ext cx="60977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algn="just">
              <a:buFont typeface="Arial" panose="020B0604020202020204" pitchFamily="34" charset="0"/>
              <a:buChar char="•"/>
              <a:defRPr sz="1600" b="1">
                <a:latin typeface="Arial Narrow" panose="020B0606020202030204" pitchFamily="34" charset="0"/>
              </a:defRPr>
            </a:lvl1pPr>
          </a:lstStyle>
          <a:p>
            <a:r>
              <a:rPr lang="pt-BR" dirty="0"/>
              <a:t>ENDIVIDAMENTO_6 (</a:t>
            </a:r>
            <a:r>
              <a:rPr lang="el-GR" dirty="0"/>
              <a:t>β = 0,053),</a:t>
            </a:r>
            <a:endParaRPr lang="pt-BR" dirty="0"/>
          </a:p>
          <a:p>
            <a:r>
              <a:rPr lang="pt-BR" dirty="0"/>
              <a:t>UTILIZACAO_6 (</a:t>
            </a:r>
            <a:r>
              <a:rPr lang="el-GR" dirty="0"/>
              <a:t>β = 0,053)</a:t>
            </a:r>
            <a:endParaRPr lang="pt-BR" dirty="0"/>
          </a:p>
          <a:p>
            <a:r>
              <a:rPr lang="pt-BR" dirty="0"/>
              <a:t>UTIL_B3 (</a:t>
            </a:r>
            <a:r>
              <a:rPr lang="el-GR" dirty="0"/>
              <a:t>β = 0,050) </a:t>
            </a:r>
            <a:endParaRPr lang="pt-BR" dirty="0"/>
          </a:p>
          <a:p>
            <a:r>
              <a:rPr lang="pt-BR" dirty="0"/>
              <a:t>MEDIA_ENDIVIDAMENTO_B3 (</a:t>
            </a:r>
            <a:r>
              <a:rPr lang="el-GR" dirty="0"/>
              <a:t>β = 0,050):</a:t>
            </a:r>
            <a:endParaRPr lang="pt-BR" sz="1800" b="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FF1857-3C50-417F-89A2-2829AA7B24C6}"/>
              </a:ext>
            </a:extLst>
          </p:cNvPr>
          <p:cNvSpPr txBox="1"/>
          <p:nvPr/>
        </p:nvSpPr>
        <p:spPr>
          <a:xfrm>
            <a:off x="5803898" y="3615485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algn="just">
              <a:buFont typeface="Arial" panose="020B0604020202020204" pitchFamily="34" charset="0"/>
              <a:buChar char="•"/>
              <a:defRPr sz="1600" b="1">
                <a:latin typeface="Arial Narrow" panose="020B0606020202030204" pitchFamily="34" charset="0"/>
              </a:defRPr>
            </a:lvl1pPr>
          </a:lstStyle>
          <a:p>
            <a:r>
              <a:rPr lang="pt-BR" dirty="0"/>
              <a:t>ENDIVIDAMENTO_5 (β = 0,045) e UTILIZACAO_5 (β = 0,045):</a:t>
            </a:r>
            <a:endParaRPr lang="pt-BR" sz="1800" b="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121B0D8-AD03-43A6-9846-96B218FB7ECD}"/>
              </a:ext>
            </a:extLst>
          </p:cNvPr>
          <p:cNvSpPr txBox="1"/>
          <p:nvPr/>
        </p:nvSpPr>
        <p:spPr>
          <a:xfrm>
            <a:off x="5824746" y="4610211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750" dirty="0">
                <a:latin typeface="Arial Narrow" panose="020B0606020202030204" pitchFamily="34" charset="0"/>
              </a:rPr>
              <a:t>Carteiras com maior comprometimento do limite apresentam menor margem financeira para absorver choques, aumentando o risco projetado.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7DB0820-E324-43FC-9400-696A2C2349AF}"/>
              </a:ext>
            </a:extLst>
          </p:cNvPr>
          <p:cNvSpPr txBox="1"/>
          <p:nvPr/>
        </p:nvSpPr>
        <p:spPr>
          <a:xfrm>
            <a:off x="5852500" y="2960821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750" dirty="0">
                <a:latin typeface="Arial Narrow" panose="020B0606020202030204" pitchFamily="34" charset="0"/>
              </a:rPr>
              <a:t>Maiores níveis de comprometimento do limite disponível estiveram associados ao aumento do risco estimado.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1E5BBE9-E083-48CB-B352-1EA8B1EA6AA8}"/>
              </a:ext>
            </a:extLst>
          </p:cNvPr>
          <p:cNvSpPr txBox="1"/>
          <p:nvPr/>
        </p:nvSpPr>
        <p:spPr>
          <a:xfrm>
            <a:off x="5824746" y="3955547"/>
            <a:ext cx="6342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50" dirty="0">
                <a:latin typeface="Arial Narrow" panose="020B0606020202030204" pitchFamily="34" charset="0"/>
              </a:rPr>
              <a:t>Reforçam o papel do nível de exposição financeira recente na construção do score.</a:t>
            </a:r>
          </a:p>
        </p:txBody>
      </p:sp>
    </p:spTree>
    <p:extLst>
      <p:ext uri="{BB962C8B-B14F-4D97-AF65-F5344CB8AC3E}">
        <p14:creationId xmlns:p14="http://schemas.microsoft.com/office/powerpoint/2010/main" val="20633849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A77D99-580A-4079-8ED4-0E52FDE223CB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50F4AD-2350-4C71-B143-760B6EC28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" y="933253"/>
            <a:ext cx="5620534" cy="603016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9781CA7-0B19-4D04-ADC8-E4BB370404B4}"/>
              </a:ext>
            </a:extLst>
          </p:cNvPr>
          <p:cNvSpPr txBox="1"/>
          <p:nvPr/>
        </p:nvSpPr>
        <p:spPr>
          <a:xfrm>
            <a:off x="5852500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ECB8BE-E87C-4BEA-B6A4-FC4A47C0C6F2}"/>
              </a:ext>
            </a:extLst>
          </p:cNvPr>
          <p:cNvSpPr txBox="1"/>
          <p:nvPr/>
        </p:nvSpPr>
        <p:spPr>
          <a:xfrm>
            <a:off x="6075151" y="155031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rial Narrow" panose="020B0606020202030204" pitchFamily="34" charset="0"/>
              </a:rPr>
              <a:t>Dinâmica temporal do comportamento financeiro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D96D4C8-E059-4EF6-B5B1-BDBD4EE78A6D}"/>
              </a:ext>
            </a:extLst>
          </p:cNvPr>
          <p:cNvSpPr txBox="1"/>
          <p:nvPr/>
        </p:nvSpPr>
        <p:spPr>
          <a:xfrm>
            <a:off x="5767439" y="1907825"/>
            <a:ext cx="609777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PROP_PAGAMENTO_VOLATIL_B3 (β = 0,044): </a:t>
            </a:r>
            <a:r>
              <a:rPr lang="pt-BR" sz="1750" dirty="0">
                <a:latin typeface="Arial Narrow" panose="020B0606020202030204" pitchFamily="34" charset="0"/>
              </a:rPr>
              <a:t>maior instabilidade na proporção paga esteve associada ao aumento do risco.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725D60F-92FB-47D3-AF8F-0DB042E96A5D}"/>
              </a:ext>
            </a:extLst>
          </p:cNvPr>
          <p:cNvSpPr txBox="1"/>
          <p:nvPr/>
        </p:nvSpPr>
        <p:spPr>
          <a:xfrm>
            <a:off x="5767439" y="4490952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latin typeface="Arial Narrow" panose="020B0606020202030204" pitchFamily="34" charset="0"/>
              </a:rPr>
              <a:t>Além do nível atual de risco, o modelo incorpora a trajetória do cliente, identificando sinais de deterioração ou instabilidade financeira ao longo do </a:t>
            </a:r>
            <a:r>
              <a:rPr lang="pt-BR" sz="1600" dirty="0">
                <a:latin typeface="Arial Narrow" panose="020B0606020202030204" pitchFamily="34" charset="0"/>
              </a:rPr>
              <a:t>tempo</a:t>
            </a:r>
            <a:r>
              <a:rPr lang="pt-BR" sz="1800" dirty="0">
                <a:latin typeface="Arial Narrow" panose="020B0606020202030204" pitchFamily="34" charset="0"/>
              </a:rPr>
              <a:t>.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229C01A-F2D5-4AD5-A5DD-7ED00E3DF5F3}"/>
              </a:ext>
            </a:extLst>
          </p:cNvPr>
          <p:cNvSpPr txBox="1"/>
          <p:nvPr/>
        </p:nvSpPr>
        <p:spPr>
          <a:xfrm>
            <a:off x="5852500" y="2548727"/>
            <a:ext cx="609777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TENDENCIA_UTIL_B3 (β = 0,018)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TEND_ENDIVIDAMENTO_B3 (β = 0,018)</a:t>
            </a:r>
          </a:p>
          <a:p>
            <a:r>
              <a:rPr lang="pt-BR" sz="800" b="1" dirty="0">
                <a:latin typeface="Arial Narrow" panose="020B0606020202030204" pitchFamily="34" charset="0"/>
              </a:rPr>
              <a:t>    </a:t>
            </a:r>
          </a:p>
          <a:p>
            <a:r>
              <a:rPr lang="pt-BR" sz="1600" b="1" dirty="0">
                <a:latin typeface="Arial Narrow" panose="020B0606020202030204" pitchFamily="34" charset="0"/>
              </a:rPr>
              <a:t>C</a:t>
            </a:r>
            <a:r>
              <a:rPr lang="pt-BR" sz="1800" dirty="0">
                <a:latin typeface="Arial Narrow" panose="020B0606020202030204" pitchFamily="34" charset="0"/>
              </a:rPr>
              <a:t>apturam movimentos crescentes de utilização e endividamento ao longo do histórico.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BA72D59-4B5D-4DF0-A414-A6A76EB9C307}"/>
              </a:ext>
            </a:extLst>
          </p:cNvPr>
          <p:cNvSpPr txBox="1"/>
          <p:nvPr/>
        </p:nvSpPr>
        <p:spPr>
          <a:xfrm>
            <a:off x="5767439" y="3868356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 Narrow" panose="020B0606020202030204" pitchFamily="34" charset="0"/>
              </a:rPr>
              <a:t>ATRASO_VOLATIL_B3 (β = 0,011): </a:t>
            </a:r>
            <a:r>
              <a:rPr lang="pt-BR" sz="1750" dirty="0">
                <a:latin typeface="Arial Narrow" panose="020B0606020202030204" pitchFamily="34" charset="0"/>
              </a:rPr>
              <a:t>adiciona informação sobre instabilidade nos atrasos. </a:t>
            </a:r>
          </a:p>
        </p:txBody>
      </p:sp>
    </p:spTree>
    <p:extLst>
      <p:ext uri="{BB962C8B-B14F-4D97-AF65-F5344CB8AC3E}">
        <p14:creationId xmlns:p14="http://schemas.microsoft.com/office/powerpoint/2010/main" val="1724782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19141CA-04C4-4292-B664-3DD5C04AD8B0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D92A2-0741-4FE8-A97F-6D98E5B626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9E08DE-7736-49BB-83AA-EDA5BAEF6DDC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Interpretação dos Coeficientes da Regressão Logística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A77D99-580A-4079-8ED4-0E52FDE223CB}"/>
              </a:ext>
            </a:extLst>
          </p:cNvPr>
          <p:cNvSpPr txBox="1"/>
          <p:nvPr/>
        </p:nvSpPr>
        <p:spPr>
          <a:xfrm>
            <a:off x="7278421" y="1079828"/>
            <a:ext cx="384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Principais Evidências do Modelo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50F4AD-2350-4C71-B143-760B6EC2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" y="933253"/>
            <a:ext cx="5620534" cy="603016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9781CA7-0B19-4D04-ADC8-E4BB370404B4}"/>
              </a:ext>
            </a:extLst>
          </p:cNvPr>
          <p:cNvSpPr txBox="1"/>
          <p:nvPr/>
        </p:nvSpPr>
        <p:spPr>
          <a:xfrm>
            <a:off x="5852500" y="554187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i="1" dirty="0" err="1">
                <a:latin typeface="Arial Narrow" panose="020B0606020202030204" pitchFamily="34" charset="0"/>
              </a:rPr>
              <a:t>Obs</a:t>
            </a:r>
            <a:r>
              <a:rPr lang="pt-BR" sz="1400" b="1" i="1" dirty="0">
                <a:latin typeface="Arial Narrow" panose="020B0606020202030204" pitchFamily="34" charset="0"/>
              </a:rPr>
              <a:t>: </a:t>
            </a:r>
            <a:r>
              <a:rPr lang="pt-BR" sz="1400" i="1" dirty="0">
                <a:latin typeface="Arial Narrow" panose="020B0606020202030204" pitchFamily="34" charset="0"/>
              </a:rPr>
              <a:t>Cada coeficiente representa o efeito marginal de uma variável sobre o log-</a:t>
            </a:r>
            <a:r>
              <a:rPr lang="pt-BR" sz="1400" i="1" dirty="0" err="1">
                <a:latin typeface="Arial Narrow" panose="020B0606020202030204" pitchFamily="34" charset="0"/>
              </a:rPr>
              <a:t>odds</a:t>
            </a:r>
            <a:r>
              <a:rPr lang="pt-BR" sz="1400" i="1" dirty="0">
                <a:latin typeface="Arial Narrow" panose="020B0606020202030204" pitchFamily="34" charset="0"/>
              </a:rPr>
              <a:t> (e, consequentemente, sobre a probabilidade estimada) refletindo sua contribuição incremental na construção do score de risco sob a hipótese de </a:t>
            </a:r>
            <a:r>
              <a:rPr lang="pt-BR" sz="1400" i="1" dirty="0" err="1">
                <a:latin typeface="Arial Narrow" panose="020B0606020202030204" pitchFamily="34" charset="0"/>
              </a:rPr>
              <a:t>ceteris</a:t>
            </a:r>
            <a:r>
              <a:rPr lang="pt-BR" sz="1400" i="1" dirty="0">
                <a:latin typeface="Arial Narrow" panose="020B0606020202030204" pitchFamily="34" charset="0"/>
              </a:rPr>
              <a:t> </a:t>
            </a:r>
            <a:r>
              <a:rPr lang="pt-BR" sz="1400" i="1" dirty="0" err="1">
                <a:latin typeface="Arial Narrow" panose="020B0606020202030204" pitchFamily="34" charset="0"/>
              </a:rPr>
              <a:t>paribus</a:t>
            </a:r>
            <a:r>
              <a:rPr lang="pt-BR" sz="1400" i="1" dirty="0">
                <a:latin typeface="Arial Narrow" panose="020B0606020202030204" pitchFamily="34" charset="0"/>
              </a:rPr>
              <a:t>, isto é, mantendo constantes todas as demais variáveis do modelo. E não uma relação causal isolada.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230167B-F553-499B-A196-C87C7DBBD4EE}"/>
              </a:ext>
            </a:extLst>
          </p:cNvPr>
          <p:cNvSpPr txBox="1"/>
          <p:nvPr/>
        </p:nvSpPr>
        <p:spPr>
          <a:xfrm>
            <a:off x="6075151" y="155031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rial Narrow" panose="020B0606020202030204" pitchFamily="34" charset="0"/>
              </a:rPr>
              <a:t>Indicadores de comportamento positivo com menor impacto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B186BA-3881-4D4A-9518-5A8F8151FF18}"/>
              </a:ext>
            </a:extLst>
          </p:cNvPr>
          <p:cNvSpPr txBox="1"/>
          <p:nvPr/>
        </p:nvSpPr>
        <p:spPr>
          <a:xfrm>
            <a:off x="5987519" y="2067469"/>
            <a:ext cx="609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algn="just">
              <a:buFont typeface="Arial" panose="020B0604020202020204" pitchFamily="34" charset="0"/>
              <a:buChar char="•"/>
              <a:defRPr sz="1600" b="1">
                <a:latin typeface="Arial Narrow" panose="020B0606020202030204" pitchFamily="34" charset="0"/>
              </a:defRPr>
            </a:lvl1pPr>
          </a:lstStyle>
          <a:p>
            <a:r>
              <a:rPr lang="pt-BR" dirty="0"/>
              <a:t>PROP_SUPERIOR_FLAG_6 (</a:t>
            </a:r>
            <a:r>
              <a:rPr lang="el-GR" dirty="0"/>
              <a:t>β = 0,019),</a:t>
            </a:r>
            <a:endParaRPr lang="pt-BR" dirty="0"/>
          </a:p>
          <a:p>
            <a:r>
              <a:rPr lang="pt-BR" dirty="0"/>
              <a:t>PROP_SUPERIOR_FLAG_5 (</a:t>
            </a:r>
            <a:r>
              <a:rPr lang="el-GR" dirty="0"/>
              <a:t>β = 0,006) </a:t>
            </a:r>
            <a:endParaRPr lang="pt-BR" dirty="0"/>
          </a:p>
          <a:p>
            <a:r>
              <a:rPr lang="pt-BR" dirty="0"/>
              <a:t>UTIL_VOLATIL_B3 (</a:t>
            </a:r>
            <a:r>
              <a:rPr lang="el-GR" dirty="0"/>
              <a:t>β = 0,003):</a:t>
            </a:r>
            <a:endParaRPr lang="pt-BR" sz="1800" b="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898E22D-EC98-43EE-B2FA-C9970B768174}"/>
              </a:ext>
            </a:extLst>
          </p:cNvPr>
          <p:cNvSpPr txBox="1"/>
          <p:nvPr/>
        </p:nvSpPr>
        <p:spPr>
          <a:xfrm>
            <a:off x="5852500" y="3745741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 Narrow" panose="020B0606020202030204" pitchFamily="34" charset="0"/>
              </a:rPr>
              <a:t>Embora estatisticamente presentes no modelo, possuem baixo impacto individual quando comparadas aos principais drivers de risco, funcionando como ajustes complementares na diferenciação dos clientes.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AA0855C-5908-4600-B632-D3F01E9EB6BA}"/>
              </a:ext>
            </a:extLst>
          </p:cNvPr>
          <p:cNvSpPr txBox="1"/>
          <p:nvPr/>
        </p:nvSpPr>
        <p:spPr>
          <a:xfrm>
            <a:off x="5852500" y="311887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Apresentaram contribuição marginal para o aumento do score. </a:t>
            </a:r>
          </a:p>
        </p:txBody>
      </p:sp>
    </p:spTree>
    <p:extLst>
      <p:ext uri="{BB962C8B-B14F-4D97-AF65-F5344CB8AC3E}">
        <p14:creationId xmlns:p14="http://schemas.microsoft.com/office/powerpoint/2010/main" val="31390030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2D0D63-2307-4E8A-873D-0A9E7F042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610" y="933253"/>
            <a:ext cx="4572334" cy="589093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0632607-9565-4653-95CE-5C3B3DC63D05}"/>
              </a:ext>
            </a:extLst>
          </p:cNvPr>
          <p:cNvSpPr/>
          <p:nvPr/>
        </p:nvSpPr>
        <p:spPr>
          <a:xfrm>
            <a:off x="-4086" y="0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D8A4C7-61A8-4E88-83B0-0FC765FB28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886355A-CA5B-49A1-87D0-64223FC76A4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1607622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37150</TotalTime>
  <Words>11949</Words>
  <Application>Microsoft Office PowerPoint</Application>
  <PresentationFormat>Widescreen</PresentationFormat>
  <Paragraphs>1538</Paragraphs>
  <Slides>62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62</vt:i4>
      </vt:variant>
    </vt:vector>
  </HeadingPairs>
  <TitlesOfParts>
    <vt:vector size="72" baseType="lpstr">
      <vt:lpstr>Arial</vt:lpstr>
      <vt:lpstr>Arial Narrow</vt:lpstr>
      <vt:lpstr>Calibri</vt:lpstr>
      <vt:lpstr>Calibri Light</vt:lpstr>
      <vt:lpstr>Cambria Math</vt:lpstr>
      <vt:lpstr>Franklin Gothic Medium Cond</vt:lpstr>
      <vt:lpstr>Segoe UI</vt:lpstr>
      <vt:lpstr>ui-sans-serif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Agnes Chantal Souza Dias</dc:creator>
  <cp:lastModifiedBy>Agnes Chantal Souza Dias</cp:lastModifiedBy>
  <cp:revision>605</cp:revision>
  <dcterms:created xsi:type="dcterms:W3CDTF">2026-04-24T01:26:04Z</dcterms:created>
  <dcterms:modified xsi:type="dcterms:W3CDTF">2026-07-14T04:56:10Z</dcterms:modified>
</cp:coreProperties>
</file>